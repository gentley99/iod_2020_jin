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2" r:id="rId25"/>
    <p:sldId id="281" r:id="rId26"/>
    <p:sldId id="284" r:id="rId27"/>
    <p:sldId id="285" r:id="rId28"/>
    <p:sldId id="286" r:id="rId29"/>
    <p:sldId id="287" r:id="rId30"/>
    <p:sldId id="288" r:id="rId31"/>
    <p:sldId id="294" r:id="rId32"/>
    <p:sldId id="295" r:id="rId33"/>
    <p:sldId id="296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15" r:id="rId42"/>
    <p:sldId id="317" r:id="rId43"/>
    <p:sldId id="318" r:id="rId44"/>
    <p:sldId id="324" r:id="rId45"/>
    <p:sldId id="319" r:id="rId46"/>
    <p:sldId id="320" r:id="rId47"/>
    <p:sldId id="321" r:id="rId48"/>
    <p:sldId id="322" r:id="rId49"/>
    <p:sldId id="283" r:id="rId50"/>
    <p:sldId id="325" r:id="rId51"/>
    <p:sldId id="280" r:id="rId52"/>
    <p:sldId id="323" r:id="rId53"/>
  </p:sldIdLst>
  <p:sldSz cx="12192000" cy="6858000"/>
  <p:notesSz cx="6858000" cy="9144000"/>
  <p:embeddedFontLst>
    <p:embeddedFont>
      <p:font typeface="Arial Narrow" panose="020B0604020202020204" pitchFamily="34" charset="0"/>
      <p:regular r:id="rId55"/>
      <p:bold r:id="rId56"/>
      <p:italic r:id="rId57"/>
      <p:boldItalic r:id="rId58"/>
    </p:embeddedFon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Cambria" panose="02040503050406030204" pitchFamily="18" charset="0"/>
      <p:regular r:id="rId63"/>
      <p:bold r:id="rId64"/>
      <p:italic r:id="rId65"/>
      <p:boldItalic r:id="rId66"/>
    </p:embeddedFont>
    <p:embeddedFont>
      <p:font typeface="Helvetica Neue" panose="02000503000000020004" pitchFamily="2" charset="0"/>
      <p:regular r:id="rId67"/>
      <p:bold r:id="rId68"/>
      <p:italic r:id="rId69"/>
      <p:boldItalic r:id="rId70"/>
    </p:embeddedFont>
    <p:embeddedFont>
      <p:font typeface="Proxima Nova" panose="02000506030000020004" pitchFamily="2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3" roundtripDataSignature="AMtx7mhcLhXElJ/BvNa6tBdU/0rbjixR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DF0A7F-B584-4DF7-BCE7-CE5F738F4906}">
  <a:tblStyle styleId="{42DF0A7F-B584-4DF7-BCE7-CE5F738F4906}" styleName="Table_0"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08" autoAdjust="0"/>
    <p:restoredTop sz="90321" autoAdjust="0"/>
  </p:normalViewPr>
  <p:slideViewPr>
    <p:cSldViewPr snapToGrid="0">
      <p:cViewPr varScale="1">
        <p:scale>
          <a:sx n="166" d="100"/>
          <a:sy n="166" d="100"/>
        </p:scale>
        <p:origin x="20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74" Type="http://schemas.openxmlformats.org/officeDocument/2006/relationships/font" Target="fonts/font20.fntdata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8.fntdata"/><Relationship Id="rId93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font" Target="fonts/font16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font" Target="fonts/font19.fntdata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1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" name="Google Shape;35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" name="Google Shape;40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8" name="Google Shape;48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5" name="Google Shape;49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1" name="Google Shape;54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3" name="Google Shape;55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9" name="Google Shape;55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697097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5" name="Google Shape;56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5" name="Google Shape;57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5" name="Google Shape;58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6" name="Google Shape;59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506592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981889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3" name="Google Shape;603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70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 </a:t>
            </a:r>
            <a:r>
              <a:rPr lang="en-US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 dirty="0"/>
          </a:p>
        </p:txBody>
      </p:sp>
      <p:sp>
        <p:nvSpPr>
          <p:cNvPr id="14" name="Google Shape;14;p70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black 1-column">
  <p:cSld name="Title and Content black 1-column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1"/>
          <p:cNvSpPr txBox="1">
            <a:spLocks noGrp="1"/>
          </p:cNvSpPr>
          <p:nvPr>
            <p:ph type="body" idx="1"/>
          </p:nvPr>
        </p:nvSpPr>
        <p:spPr>
          <a:xfrm>
            <a:off x="1267250" y="1523225"/>
            <a:ext cx="10709700" cy="47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utline white 1-column">
  <p:cSld name="Outline white 1-colum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2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2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21" name="Google Shape;21;p72"/>
          <p:cNvCxnSpPr/>
          <p:nvPr/>
        </p:nvCxnSpPr>
        <p:spPr>
          <a:xfrm flipH="1">
            <a:off x="2842477" y="276933"/>
            <a:ext cx="3" cy="629630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72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 </a:t>
            </a:r>
            <a:r>
              <a:rPr lang="en-US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 dirty="0"/>
          </a:p>
        </p:txBody>
      </p:sp>
      <p:pic>
        <p:nvPicPr>
          <p:cNvPr id="23" name="Google Shape;23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9483" y="275093"/>
            <a:ext cx="3158747" cy="145788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72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-column">
  <p:cSld name="Title and Content 1-colum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3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3"/>
          <p:cNvSpPr txBox="1">
            <a:spLocks noGrp="1"/>
          </p:cNvSpPr>
          <p:nvPr>
            <p:ph type="body" idx="1"/>
          </p:nvPr>
        </p:nvSpPr>
        <p:spPr>
          <a:xfrm>
            <a:off x="1267261" y="1524000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4"/>
          <p:cNvSpPr txBox="1">
            <a:spLocks noGrp="1"/>
          </p:cNvSpPr>
          <p:nvPr>
            <p:ph type="title"/>
          </p:nvPr>
        </p:nvSpPr>
        <p:spPr>
          <a:xfrm>
            <a:off x="1270000" y="377825"/>
            <a:ext cx="105156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4"/>
          <p:cNvSpPr txBox="1">
            <a:spLocks noGrp="1"/>
          </p:cNvSpPr>
          <p:nvPr>
            <p:ph type="body" idx="1"/>
          </p:nvPr>
        </p:nvSpPr>
        <p:spPr>
          <a:xfrm>
            <a:off x="1270000" y="152400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4"/>
          <p:cNvSpPr txBox="1">
            <a:spLocks noGrp="1"/>
          </p:cNvSpPr>
          <p:nvPr>
            <p:ph type="body" idx="2"/>
          </p:nvPr>
        </p:nvSpPr>
        <p:spPr>
          <a:xfrm>
            <a:off x="6172200" y="152400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atermark black 1-column">
  <p:cSld name="Title and Content watermark black 1-colum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5"/>
          <p:cNvSpPr txBox="1">
            <a:spLocks noGrp="1"/>
          </p:cNvSpPr>
          <p:nvPr>
            <p:ph type="title"/>
          </p:nvPr>
        </p:nvSpPr>
        <p:spPr>
          <a:xfrm>
            <a:off x="1270000" y="381000"/>
            <a:ext cx="10709835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5"/>
          <p:cNvSpPr txBox="1">
            <a:spLocks noGrp="1"/>
          </p:cNvSpPr>
          <p:nvPr>
            <p:ph type="body" idx="1"/>
          </p:nvPr>
        </p:nvSpPr>
        <p:spPr>
          <a:xfrm>
            <a:off x="1270000" y="1524000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6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6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utline black 1-column">
  <p:cSld name="Outline black 1-colum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7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None/>
              <a:defRPr>
                <a:solidFill>
                  <a:srgbClr val="0000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7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41" name="Google Shape;41;p77"/>
          <p:cNvCxnSpPr/>
          <p:nvPr/>
        </p:nvCxnSpPr>
        <p:spPr>
          <a:xfrm flipH="1">
            <a:off x="2842477" y="276933"/>
            <a:ext cx="3" cy="629630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2" name="Google Shape;42;p77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 </a:t>
            </a:r>
            <a:r>
              <a:rPr lang="en-US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 dirty="0"/>
          </a:p>
        </p:txBody>
      </p:sp>
      <p:pic>
        <p:nvPicPr>
          <p:cNvPr id="43" name="Google Shape;43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9483" y="275093"/>
            <a:ext cx="3158747" cy="14578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7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8"/>
          <p:cNvSpPr txBox="1"/>
          <p:nvPr/>
        </p:nvSpPr>
        <p:spPr>
          <a:xfrm>
            <a:off x="3735454" y="6356350"/>
            <a:ext cx="4721093" cy="30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Data Science Institute of Australia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8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8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8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9"/>
          <p:cNvSpPr txBox="1"/>
          <p:nvPr/>
        </p:nvSpPr>
        <p:spPr>
          <a:xfrm>
            <a:off x="3735454" y="6356350"/>
            <a:ext cx="4721093" cy="30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</a:t>
            </a:r>
            <a:r>
              <a:rPr lang="en-US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</a:t>
            </a:r>
            <a:r>
              <a:rPr lang="en-US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9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_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0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0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0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</a:t>
            </a:r>
            <a:r>
              <a:rPr lang="en-US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</a:t>
            </a:r>
            <a:r>
              <a:rPr lang="en-US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_OBJECTS_WITH_TEXT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1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1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1"/>
          <p:cNvSpPr txBox="1">
            <a:spLocks noGrp="1"/>
          </p:cNvSpPr>
          <p:nvPr>
            <p:ph type="body" idx="2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66" name="Google Shape;66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79" cy="85767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1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1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_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2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  <p:sp>
        <p:nvSpPr>
          <p:cNvPr id="72" name="Google Shape;72;p82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_WITH_CAPTION_TEXT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3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83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3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  <p:sp>
        <p:nvSpPr>
          <p:cNvPr id="78" name="Google Shape;78;p83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_WITH_CAPTION_TEXT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4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4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84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4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  <p:sp>
        <p:nvSpPr>
          <p:cNvPr id="84" name="Google Shape;84;p84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_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85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40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5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  <p:sp>
        <p:nvSpPr>
          <p:cNvPr id="89" name="Google Shape;89;p85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_TITLE_AND_VERTICAL_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6"/>
          <p:cNvSpPr txBox="1">
            <a:spLocks noGrp="1"/>
          </p:cNvSpPr>
          <p:nvPr>
            <p:ph type="title"/>
          </p:nvPr>
        </p:nvSpPr>
        <p:spPr>
          <a:xfrm rot="5400000">
            <a:off x="7133431" y="1956592"/>
            <a:ext cx="5811841" cy="262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8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86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  <p:sp>
        <p:nvSpPr>
          <p:cNvPr id="94" name="Google Shape;94;p86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ck Title black">
  <p:cSld name="Slide Deck Title black">
    <p:bg>
      <p:bgPr>
        <a:solidFill>
          <a:srgbClr val="00000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7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68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  <a:defRPr sz="72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87"/>
          <p:cNvSpPr txBox="1">
            <a:spLocks noGrp="1"/>
          </p:cNvSpPr>
          <p:nvPr>
            <p:ph type="body" idx="1"/>
          </p:nvPr>
        </p:nvSpPr>
        <p:spPr>
          <a:xfrm>
            <a:off x="924361" y="2743200"/>
            <a:ext cx="10709835" cy="383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libri"/>
              <a:buChar char="•"/>
              <a:defRPr>
                <a:solidFill>
                  <a:schemeClr val="accent3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87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  <p:sp>
        <p:nvSpPr>
          <p:cNvPr id="99" name="Google Shape;99;p87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white 1-column">
  <p:cSld name="Section Title white 1-colum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8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8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103" name="Google Shape;103;p88"/>
          <p:cNvCxnSpPr/>
          <p:nvPr/>
        </p:nvCxnSpPr>
        <p:spPr>
          <a:xfrm flipH="1">
            <a:off x="2842477" y="276933"/>
            <a:ext cx="3" cy="629630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4" name="Google Shape;104;p88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8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black 1-column">
  <p:cSld name="Section Title black 1-column">
    <p:bg>
      <p:bgPr>
        <a:solidFill>
          <a:srgbClr val="000000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9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sz="4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9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109" name="Google Shape;109;p89"/>
          <p:cNvCxnSpPr/>
          <p:nvPr/>
        </p:nvCxnSpPr>
        <p:spPr>
          <a:xfrm flipH="1">
            <a:off x="2842477" y="276933"/>
            <a:ext cx="3" cy="6296302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0" name="Google Shape;110;p89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9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white 2-column">
  <p:cSld name="Section Title white 2-colum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0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0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115" name="Google Shape;115;p90"/>
          <p:cNvCxnSpPr/>
          <p:nvPr/>
        </p:nvCxnSpPr>
        <p:spPr>
          <a:xfrm flipH="1">
            <a:off x="2842477" y="276933"/>
            <a:ext cx="3" cy="629630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6" name="Google Shape;116;p90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0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black 2-column">
  <p:cSld name="Section Title black 2-column">
    <p:bg>
      <p:bgPr>
        <a:solidFill>
          <a:srgbClr val="000000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1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sz="4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91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cxnSp>
        <p:nvCxnSpPr>
          <p:cNvPr id="121" name="Google Shape;121;p91"/>
          <p:cNvCxnSpPr/>
          <p:nvPr/>
        </p:nvCxnSpPr>
        <p:spPr>
          <a:xfrm flipH="1">
            <a:off x="2842477" y="276933"/>
            <a:ext cx="3" cy="6296302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2" name="Google Shape;122;p91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1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1-column">
  <p:cSld name="Title and Content white 1-colum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2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2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92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2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2-column">
  <p:cSld name="Title and Content white 2-colum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3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93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93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3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white 3-column">
  <p:cSld name="Title and Content white 3-colum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4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>
                <a:solidFill>
                  <a:srgbClr val="000000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94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94"/>
          <p:cNvSpPr txBox="1">
            <a:spLocks noGrp="1"/>
          </p:cNvSpPr>
          <p:nvPr>
            <p:ph type="sldNum" idx="12"/>
          </p:nvPr>
        </p:nvSpPr>
        <p:spPr>
          <a:xfrm>
            <a:off x="39841" y="6457966"/>
            <a:ext cx="386624" cy="37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4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2019 </a:t>
            </a:r>
            <a:r>
              <a:rPr lang="en-US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9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1EBAD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69"/>
          <p:cNvSpPr txBox="1">
            <a:spLocks noGrp="1"/>
          </p:cNvSpPr>
          <p:nvPr>
            <p:ph type="body" idx="1"/>
          </p:nvPr>
        </p:nvSpPr>
        <p:spPr>
          <a:xfrm>
            <a:off x="1267250" y="1523225"/>
            <a:ext cx="10709700" cy="47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9"/>
          <p:cNvSpPr txBox="1">
            <a:spLocks noGrp="1"/>
          </p:cNvSpPr>
          <p:nvPr>
            <p:ph type="sldNum" idx="12"/>
          </p:nvPr>
        </p:nvSpPr>
        <p:spPr>
          <a:xfrm>
            <a:off x="167083" y="6334463"/>
            <a:ext cx="425940" cy="48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69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0" y="156528"/>
            <a:ext cx="857679" cy="85767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69"/>
          <p:cNvSpPr txBox="1"/>
          <p:nvPr/>
        </p:nvSpPr>
        <p:spPr>
          <a:xfrm>
            <a:off x="159709" y="6244421"/>
            <a:ext cx="514200" cy="477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69"/>
          <p:cNvSpPr txBox="1"/>
          <p:nvPr/>
        </p:nvSpPr>
        <p:spPr>
          <a:xfrm>
            <a:off x="3735454" y="6356350"/>
            <a:ext cx="4721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2021 </a:t>
            </a:r>
            <a:r>
              <a:rPr lang="en-US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Institute of Data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modeanalytics.com/sql/tutorial/introduction-to-sql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wnload-center#community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neo4j.com/download-center/#releases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download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modeanalytics.com/sql/tutorial/introduction-to-sql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3752267" y="4705060"/>
            <a:ext cx="4721093" cy="101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000"/>
              <a:buFont typeface="Calibri"/>
              <a:buNone/>
            </a:pPr>
            <a:r>
              <a:rPr lang="en-US" sz="6000" b="0" i="0" u="none" strike="noStrike" cap="none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"/>
          <p:cNvCxnSpPr/>
          <p:nvPr/>
        </p:nvCxnSpPr>
        <p:spPr>
          <a:xfrm>
            <a:off x="4044088" y="4565536"/>
            <a:ext cx="4149912" cy="1367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45" name="Google Shape;14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1514960"/>
            <a:ext cx="5918414" cy="2731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>
            <a:spLocks noGrp="1"/>
          </p:cNvSpPr>
          <p:nvPr>
            <p:ph type="title"/>
          </p:nvPr>
        </p:nvSpPr>
        <p:spPr>
          <a:xfrm>
            <a:off x="991596" y="275498"/>
            <a:ext cx="10709835" cy="175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7200"/>
              <a:buFont typeface="Cambria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Data Science and AI</a:t>
            </a:r>
            <a:endParaRPr/>
          </a:p>
        </p:txBody>
      </p:sp>
      <p:sp>
        <p:nvSpPr>
          <p:cNvPr id="151" name="Google Shape;151;p2"/>
          <p:cNvSpPr txBox="1">
            <a:spLocks noGrp="1"/>
          </p:cNvSpPr>
          <p:nvPr>
            <p:ph type="body" idx="1"/>
          </p:nvPr>
        </p:nvSpPr>
        <p:spPr>
          <a:xfrm>
            <a:off x="1040108" y="2324268"/>
            <a:ext cx="10709835" cy="38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>
                <a:latin typeface="Cambria"/>
                <a:ea typeface="Cambria"/>
                <a:cs typeface="Cambria"/>
                <a:sym typeface="Cambria"/>
              </a:rPr>
              <a:t>Module 2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>
                <a:latin typeface="Cambria"/>
                <a:ea typeface="Cambria"/>
                <a:cs typeface="Cambria"/>
                <a:sym typeface="Cambria"/>
              </a:rPr>
              <a:t>Part 1: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endParaRPr sz="4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en-US" sz="44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SQL and Databases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52" name="Google Shape;152;p2"/>
          <p:cNvCxnSpPr/>
          <p:nvPr/>
        </p:nvCxnSpPr>
        <p:spPr>
          <a:xfrm>
            <a:off x="1145400" y="5215478"/>
            <a:ext cx="6156356" cy="2028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3" name="Google Shape;153;p2"/>
          <p:cNvCxnSpPr/>
          <p:nvPr/>
        </p:nvCxnSpPr>
        <p:spPr>
          <a:xfrm>
            <a:off x="1145400" y="4162125"/>
            <a:ext cx="6156300" cy="20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1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Agenda: Module 2 Part 1</a:t>
            </a:r>
            <a:endParaRPr/>
          </a:p>
        </p:txBody>
      </p:sp>
      <p:sp>
        <p:nvSpPr>
          <p:cNvPr id="159" name="Google Shape;159;p3"/>
          <p:cNvSpPr txBox="1">
            <a:spLocks noGrp="1"/>
          </p:cNvSpPr>
          <p:nvPr>
            <p:ph type="body" idx="1"/>
          </p:nvPr>
        </p:nvSpPr>
        <p:spPr>
          <a:xfrm>
            <a:off x="3142051" y="1745523"/>
            <a:ext cx="8440351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3F3F3F"/>
                </a:solidFill>
              </a:rPr>
              <a:t>Introduction to Databases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3F3F3F"/>
                </a:solidFill>
              </a:rPr>
              <a:t>The relational database paradigm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3F3F3F"/>
                </a:solidFill>
              </a:rPr>
              <a:t>Basic SQL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3F3F3F"/>
                </a:solidFill>
              </a:rPr>
              <a:t>RDBMS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3F3F3F"/>
                </a:solidFill>
              </a:rPr>
              <a:t>Advanced SQL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3F3F3F"/>
                </a:solidFill>
              </a:rPr>
              <a:t>SQL in Python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3F3F3F"/>
                </a:solidFill>
              </a:rPr>
              <a:t>NoSQL Database (example)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1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 dirty="0"/>
              <a:t>Introduction to Databases</a:t>
            </a:r>
            <a:endParaRPr dirty="0"/>
          </a:p>
        </p:txBody>
      </p:sp>
      <p:sp>
        <p:nvSpPr>
          <p:cNvPr id="165" name="Google Shape;165;p4"/>
          <p:cNvSpPr txBox="1">
            <a:spLocks noGrp="1"/>
          </p:cNvSpPr>
          <p:nvPr>
            <p:ph type="body" idx="1"/>
          </p:nvPr>
        </p:nvSpPr>
        <p:spPr>
          <a:xfrm>
            <a:off x="3142051" y="1745523"/>
            <a:ext cx="8440351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667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000000"/>
                </a:solidFill>
              </a:rPr>
              <a:t>Databases: definition, usage, features, applications</a:t>
            </a:r>
            <a:endParaRPr dirty="0"/>
          </a:p>
          <a:p>
            <a:pPr marL="2667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000000"/>
                </a:solidFill>
              </a:rPr>
              <a:t>Database Elements</a:t>
            </a:r>
            <a:endParaRPr dirty="0"/>
          </a:p>
          <a:p>
            <a:pPr marL="2667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000000"/>
                </a:solidFill>
              </a:rPr>
              <a:t>Database Principles</a:t>
            </a:r>
            <a:endParaRPr dirty="0"/>
          </a:p>
          <a:p>
            <a:pPr marL="2667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000000"/>
                </a:solidFill>
              </a:rPr>
              <a:t>The relational database paradigm</a:t>
            </a:r>
            <a:endParaRPr dirty="0"/>
          </a:p>
          <a:p>
            <a:pPr marL="2667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000000"/>
                </a:solidFill>
              </a:rPr>
              <a:t>SQL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Introduction to Databases</a:t>
            </a:r>
            <a:endParaRPr/>
          </a:p>
        </p:txBody>
      </p:sp>
      <p:sp>
        <p:nvSpPr>
          <p:cNvPr id="171" name="Google Shape;171;p5"/>
          <p:cNvSpPr txBox="1">
            <a:spLocks noGrp="1"/>
          </p:cNvSpPr>
          <p:nvPr>
            <p:ph type="body" idx="1"/>
          </p:nvPr>
        </p:nvSpPr>
        <p:spPr>
          <a:xfrm>
            <a:off x="1270000" y="12375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4026" lvl="0" indent="-22402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300"/>
              <a:buChar char="•"/>
            </a:pPr>
            <a:r>
              <a:rPr lang="en-US" sz="2300">
                <a:solidFill>
                  <a:srgbClr val="3F3F3F"/>
                </a:solidFill>
              </a:rPr>
              <a:t>What is a database? </a:t>
            </a:r>
            <a:endParaRPr/>
          </a:p>
          <a:p>
            <a:pPr marL="672083" lvl="1" indent="-22402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100"/>
              <a:buChar char="•"/>
            </a:pPr>
            <a:r>
              <a:rPr lang="en-US" sz="2100">
                <a:solidFill>
                  <a:srgbClr val="3F3F3F"/>
                </a:solidFill>
              </a:rPr>
              <a:t>a computer system that manages </a:t>
            </a:r>
            <a:r>
              <a:rPr lang="en-US" b="1">
                <a:solidFill>
                  <a:srgbClr val="0000FF"/>
                </a:solidFill>
              </a:rPr>
              <a:t>storage</a:t>
            </a:r>
            <a:r>
              <a:rPr lang="en-US" sz="2100">
                <a:solidFill>
                  <a:srgbClr val="3F3F3F"/>
                </a:solidFill>
              </a:rPr>
              <a:t> and </a:t>
            </a:r>
            <a:r>
              <a:rPr lang="en-US" b="1">
                <a:solidFill>
                  <a:srgbClr val="0000FF"/>
                </a:solidFill>
              </a:rPr>
              <a:t>querying</a:t>
            </a:r>
            <a:r>
              <a:rPr lang="en-US" sz="2100">
                <a:solidFill>
                  <a:srgbClr val="3F3F3F"/>
                </a:solidFill>
              </a:rPr>
              <a:t> of data</a:t>
            </a:r>
            <a:br>
              <a:rPr lang="en-US" sz="2100">
                <a:solidFill>
                  <a:srgbClr val="3F3F3F"/>
                </a:solidFill>
              </a:rPr>
            </a:br>
            <a:endParaRPr/>
          </a:p>
          <a:p>
            <a:pPr marL="224026" lvl="0" indent="-224026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300"/>
              <a:buChar char="•"/>
            </a:pPr>
            <a:r>
              <a:rPr lang="en-US" sz="2300">
                <a:solidFill>
                  <a:srgbClr val="3F3F3F"/>
                </a:solidFill>
              </a:rPr>
              <a:t>How is a database used? </a:t>
            </a:r>
            <a:endParaRPr/>
          </a:p>
          <a:p>
            <a:pPr marL="672083" lvl="1" indent="-22402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200"/>
              <a:buChar char="•"/>
            </a:pPr>
            <a:r>
              <a:rPr lang="en-US" sz="2200">
                <a:solidFill>
                  <a:srgbClr val="3F3F3F"/>
                </a:solidFill>
              </a:rPr>
              <a:t>data </a:t>
            </a:r>
            <a:r>
              <a:rPr lang="en-US" b="1">
                <a:solidFill>
                  <a:srgbClr val="0000FF"/>
                </a:solidFill>
              </a:rPr>
              <a:t>insertion</a:t>
            </a:r>
            <a:r>
              <a:rPr lang="en-US" sz="2200">
                <a:solidFill>
                  <a:srgbClr val="3F3F3F"/>
                </a:solidFill>
              </a:rPr>
              <a:t> &amp; </a:t>
            </a:r>
            <a:r>
              <a:rPr lang="en-US" b="1">
                <a:solidFill>
                  <a:srgbClr val="0000FF"/>
                </a:solidFill>
              </a:rPr>
              <a:t>retrieval</a:t>
            </a:r>
            <a:r>
              <a:rPr lang="en-US" sz="2200">
                <a:solidFill>
                  <a:srgbClr val="0000FF"/>
                </a:solidFill>
              </a:rPr>
              <a:t> </a:t>
            </a:r>
            <a:r>
              <a:rPr lang="en-US" sz="2200">
                <a:solidFill>
                  <a:srgbClr val="3F3F3F"/>
                </a:solidFill>
              </a:rPr>
              <a:t>are (typically) performed using a </a:t>
            </a:r>
            <a:r>
              <a:rPr lang="en-US" b="1">
                <a:solidFill>
                  <a:srgbClr val="0000FF"/>
                </a:solidFill>
              </a:rPr>
              <a:t>query language</a:t>
            </a:r>
            <a:endParaRPr>
              <a:solidFill>
                <a:srgbClr val="0000FF"/>
              </a:solidFill>
            </a:endParaRPr>
          </a:p>
          <a:p>
            <a:pPr marL="1120139" lvl="2" indent="-22402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900"/>
              <a:buChar char="•"/>
            </a:pPr>
            <a:r>
              <a:rPr lang="en-US" sz="1900">
                <a:solidFill>
                  <a:srgbClr val="3F3F3F"/>
                </a:solidFill>
              </a:rPr>
              <a:t>a compact programming syntax</a:t>
            </a:r>
            <a:endParaRPr/>
          </a:p>
          <a:p>
            <a:pPr marL="1120139" lvl="2" indent="-22402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900"/>
              <a:buChar char="•"/>
            </a:pPr>
            <a:r>
              <a:rPr lang="en-US" sz="1900">
                <a:solidFill>
                  <a:srgbClr val="3F3F3F"/>
                </a:solidFill>
              </a:rPr>
              <a:t>basic operators for data transformation</a:t>
            </a:r>
            <a:br>
              <a:rPr lang="en-US" sz="1900">
                <a:solidFill>
                  <a:srgbClr val="3F3F3F"/>
                </a:solidFill>
              </a:rPr>
            </a:br>
            <a:endParaRPr/>
          </a:p>
          <a:p>
            <a:pPr marL="224026" lvl="0" indent="-224026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2300"/>
              <a:buChar char="•"/>
            </a:pPr>
            <a:r>
              <a:rPr lang="en-US" sz="2300">
                <a:solidFill>
                  <a:srgbClr val="3F3F3F"/>
                </a:solidFill>
              </a:rPr>
              <a:t>What are the essential features of a database?</a:t>
            </a:r>
            <a:endParaRPr/>
          </a:p>
          <a:p>
            <a:pPr marL="672083" lvl="1" indent="-22402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100"/>
              <a:buChar char="•"/>
            </a:pPr>
            <a:r>
              <a:rPr lang="en-US" sz="2100">
                <a:solidFill>
                  <a:srgbClr val="3F3F3F"/>
                </a:solidFill>
              </a:rPr>
              <a:t>practical design for organising data </a:t>
            </a:r>
            <a:endParaRPr/>
          </a:p>
          <a:p>
            <a:pPr marL="672083" lvl="1" indent="-22402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100"/>
              <a:buChar char="•"/>
            </a:pPr>
            <a:r>
              <a:rPr lang="en-US">
                <a:solidFill>
                  <a:srgbClr val="0000FF"/>
                </a:solidFill>
              </a:rPr>
              <a:t>efficient</a:t>
            </a:r>
            <a:r>
              <a:rPr lang="en-US" b="0"/>
              <a:t> methods to retrieve specific information</a:t>
            </a:r>
            <a:endParaRPr/>
          </a:p>
          <a:p>
            <a:pPr marL="672083" lvl="1" indent="-22402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100"/>
              <a:buChar char="•"/>
            </a:pPr>
            <a:r>
              <a:rPr lang="en-US" sz="2100">
                <a:solidFill>
                  <a:srgbClr val="3F3F3F"/>
                </a:solidFill>
              </a:rPr>
              <a:t>indexing, </a:t>
            </a:r>
            <a:r>
              <a:rPr lang="en-US" b="1">
                <a:solidFill>
                  <a:srgbClr val="0000FF"/>
                </a:solidFill>
              </a:rPr>
              <a:t>performance optimisation</a:t>
            </a:r>
            <a:endParaRPr b="1">
              <a:solidFill>
                <a:srgbClr val="0000FF"/>
              </a:solidFill>
            </a:endParaRPr>
          </a:p>
          <a:p>
            <a:pPr marL="672083" lvl="1" indent="-22402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100"/>
              <a:buChar char="•"/>
            </a:pPr>
            <a:r>
              <a:rPr lang="en-US">
                <a:solidFill>
                  <a:srgbClr val="0000FF"/>
                </a:solidFill>
              </a:rPr>
              <a:t>reliability, security, backup &amp; replication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Why Use a Database?</a:t>
            </a:r>
            <a:endParaRPr/>
          </a:p>
        </p:txBody>
      </p:sp>
      <p:sp>
        <p:nvSpPr>
          <p:cNvPr id="177" name="Google Shape;177;p6"/>
          <p:cNvSpPr txBox="1">
            <a:spLocks noGrp="1"/>
          </p:cNvSpPr>
          <p:nvPr>
            <p:ph type="body" idx="1"/>
          </p:nvPr>
        </p:nvSpPr>
        <p:spPr>
          <a:xfrm>
            <a:off x="1267261" y="1523999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the </a:t>
            </a:r>
            <a:r>
              <a:rPr lang="en-US" b="1">
                <a:solidFill>
                  <a:srgbClr val="0000FF"/>
                </a:solidFill>
              </a:rPr>
              <a:t>standard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3F3F3F"/>
                </a:solidFill>
              </a:rPr>
              <a:t>solution for data storage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much more </a:t>
            </a:r>
            <a:r>
              <a:rPr lang="en-US" b="1">
                <a:solidFill>
                  <a:srgbClr val="0000FF"/>
                </a:solidFill>
              </a:rPr>
              <a:t>robust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3F3F3F"/>
                </a:solidFill>
              </a:rPr>
              <a:t>than text, CSV or JSON files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most analyses involve pulling data to and from a resource;</a:t>
            </a:r>
            <a:br>
              <a:rPr lang="en-US">
                <a:solidFill>
                  <a:srgbClr val="3F3F3F"/>
                </a:solidFill>
              </a:rPr>
            </a:br>
            <a:r>
              <a:rPr lang="en-US">
                <a:solidFill>
                  <a:srgbClr val="3F3F3F"/>
                </a:solidFill>
              </a:rPr>
              <a:t>in most settings, this means using a </a:t>
            </a:r>
            <a:r>
              <a:rPr lang="en-US" b="1">
                <a:solidFill>
                  <a:srgbClr val="0000FF"/>
                </a:solidFill>
              </a:rPr>
              <a:t>database</a:t>
            </a:r>
            <a:endParaRPr b="1"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many types and variants</a:t>
            </a:r>
            <a:r>
              <a:rPr lang="en-US" b="1"/>
              <a:t> </a:t>
            </a:r>
            <a:r>
              <a:rPr lang="en-US" b="0"/>
              <a:t>to serve different use cases</a:t>
            </a:r>
            <a:endParaRPr b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rules on structure make writing and retrieving data more </a:t>
            </a:r>
            <a:r>
              <a:rPr lang="en-US" b="1">
                <a:solidFill>
                  <a:srgbClr val="0000FF"/>
                </a:solidFill>
              </a:rPr>
              <a:t>reliable and efficient</a:t>
            </a:r>
            <a:endParaRPr b="1"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provide a </a:t>
            </a:r>
            <a:r>
              <a:rPr lang="en-US" b="1">
                <a:solidFill>
                  <a:srgbClr val="0000FF"/>
                </a:solidFill>
              </a:rPr>
              <a:t>central source of “truth”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Database Application Areas - Examples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6604000" y="15462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suppliers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1270000" y="1546224"/>
            <a:ext cx="5181600" cy="495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transaction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capture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inventory management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Database Elements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6924902" y="1457325"/>
            <a:ext cx="470107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reusable data structures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triggers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procedures that run automatically when a specific </a:t>
            </a:r>
            <a:r>
              <a:rPr lang="en-US" sz="2000" b="1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r>
              <a:rPr lang="en-US" sz="2000" b="0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occurs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batches of procedures that run on a </a:t>
            </a:r>
            <a:r>
              <a:rPr lang="en-US" sz="2000" b="1" dirty="0">
                <a:solidFill>
                  <a:srgbClr val="0000FF"/>
                </a:solidFill>
                <a:latin typeface="Calibri"/>
                <a:cs typeface="Calibri"/>
                <a:sym typeface="Calibri"/>
              </a:rPr>
              <a:t>schedule</a:t>
            </a:r>
            <a:endParaRPr sz="2000" b="1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1364376" y="1457325"/>
            <a:ext cx="491879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storage by </a:t>
            </a: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(attributes) and </a:t>
            </a: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(records) 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matching </a:t>
            </a: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indexed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attributes across tables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queries, views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retrieving, subsetting, aggregating, joining data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functions, procedures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reusable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code units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Database Principles: Transactional </a:t>
            </a:r>
            <a:r>
              <a:rPr lang="en-US" b="1"/>
              <a:t>Integrity</a:t>
            </a:r>
            <a:endParaRPr/>
          </a:p>
        </p:txBody>
      </p:sp>
      <p:pic>
        <p:nvPicPr>
          <p:cNvPr id="197" name="Google Shape;197;p9" descr="Google Shape;370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2302" y="3031700"/>
            <a:ext cx="6012001" cy="246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1270000" y="1253331"/>
            <a:ext cx="665048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800"/>
              <a:buFont typeface="Calibri"/>
              <a:buNone/>
            </a:pPr>
            <a:r>
              <a:rPr lang="en-US" sz="2800" b="0" i="1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def: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Transaction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unit of work performed against a database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term generally represents any change in database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involves </a:t>
            </a:r>
            <a:r>
              <a:rPr lang="en-US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multiple steps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Database Principles: ACID</a:t>
            </a: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body" idx="1"/>
          </p:nvPr>
        </p:nvSpPr>
        <p:spPr>
          <a:xfrm>
            <a:off x="1269999" y="1257299"/>
            <a:ext cx="861577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 fontScale="92500" lnSpcReduction="10000"/>
          </a:bodyPr>
          <a:lstStyle/>
          <a:p>
            <a:pPr marL="0" lvl="0" indent="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i="1">
                <a:solidFill>
                  <a:srgbClr val="757070"/>
                </a:solidFill>
              </a:rPr>
              <a:t>def:  </a:t>
            </a:r>
            <a:r>
              <a:rPr lang="en-US" i="0">
                <a:solidFill>
                  <a:srgbClr val="3F3F3F"/>
                </a:solidFill>
              </a:rPr>
              <a:t>ACID is a set of properties that guarantee that </a:t>
            </a:r>
            <a:br>
              <a:rPr lang="en-US" i="0">
                <a:solidFill>
                  <a:srgbClr val="3F3F3F"/>
                </a:solidFill>
              </a:rPr>
            </a:br>
            <a:r>
              <a:rPr lang="en-US" i="0">
                <a:solidFill>
                  <a:srgbClr val="3F3F3F"/>
                </a:solidFill>
              </a:rPr>
              <a:t>database transactions are processed reliably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000"/>
              <a:buChar char="●"/>
            </a:pPr>
            <a:r>
              <a:rPr lang="en-US">
                <a:solidFill>
                  <a:srgbClr val="0000FF"/>
                </a:solidFill>
              </a:rPr>
              <a:t>Atomicity</a:t>
            </a:r>
            <a:r>
              <a:rPr lang="en-US" sz="2000" b="1">
                <a:solidFill>
                  <a:srgbClr val="000000"/>
                </a:solidFill>
              </a:rPr>
              <a:t>:</a:t>
            </a:r>
            <a:r>
              <a:rPr lang="en-US" b="0"/>
              <a:t>  if one part of the transaction fails, the entire transaction fails; </a:t>
            </a:r>
            <a:br>
              <a:rPr lang="en-US" b="0"/>
            </a:br>
            <a:r>
              <a:rPr lang="en-US" b="0"/>
              <a:t>the database state is left unchanged </a:t>
            </a:r>
            <a:r>
              <a:rPr lang="en-US">
                <a:solidFill>
                  <a:srgbClr val="0000FF"/>
                </a:solidFill>
              </a:rPr>
              <a:t>(‘all or nothing’)</a:t>
            </a:r>
            <a:endParaRPr>
              <a:solidFill>
                <a:srgbClr val="0000FF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000"/>
              <a:buChar char="●"/>
            </a:pPr>
            <a:r>
              <a:rPr lang="en-US">
                <a:solidFill>
                  <a:srgbClr val="0000FF"/>
                </a:solidFill>
              </a:rPr>
              <a:t>Consistency</a:t>
            </a:r>
            <a:r>
              <a:rPr lang="en-US" sz="2000" b="1">
                <a:solidFill>
                  <a:srgbClr val="000000"/>
                </a:solidFill>
              </a:rPr>
              <a:t>:</a:t>
            </a:r>
            <a:r>
              <a:rPr lang="en-US" b="0"/>
              <a:t>  ensures that any transaction will bring the database from one </a:t>
            </a:r>
            <a:r>
              <a:rPr lang="en-US">
                <a:solidFill>
                  <a:srgbClr val="0000FF"/>
                </a:solidFill>
              </a:rPr>
              <a:t>valid state</a:t>
            </a:r>
            <a:r>
              <a:rPr lang="en-US" sz="2000" b="1">
                <a:solidFill>
                  <a:srgbClr val="000000"/>
                </a:solidFill>
              </a:rPr>
              <a:t> </a:t>
            </a:r>
            <a:r>
              <a:rPr lang="en-US" b="0"/>
              <a:t>to another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000"/>
              <a:buChar char="●"/>
            </a:pPr>
            <a:r>
              <a:rPr lang="en-US">
                <a:solidFill>
                  <a:srgbClr val="0000FF"/>
                </a:solidFill>
              </a:rPr>
              <a:t>Isolation</a:t>
            </a:r>
            <a:r>
              <a:rPr lang="en-US" sz="2000" b="1">
                <a:solidFill>
                  <a:srgbClr val="000000"/>
                </a:solidFill>
              </a:rPr>
              <a:t>:</a:t>
            </a:r>
            <a:r>
              <a:rPr lang="en-US" b="0"/>
              <a:t>  ensures that the </a:t>
            </a:r>
            <a:r>
              <a:rPr lang="en-US">
                <a:solidFill>
                  <a:srgbClr val="0000FF"/>
                </a:solidFill>
              </a:rPr>
              <a:t>concurrent</a:t>
            </a:r>
            <a:r>
              <a:rPr lang="en-US" b="0"/>
              <a:t> execution of transactions results in a system state that would be obtained if transactions were executed serially (one after the other)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000"/>
              <a:buChar char="●"/>
            </a:pPr>
            <a:r>
              <a:rPr lang="en-US">
                <a:solidFill>
                  <a:srgbClr val="0000FF"/>
                </a:solidFill>
              </a:rPr>
              <a:t>Durability</a:t>
            </a:r>
            <a:r>
              <a:rPr lang="en-US" sz="2000" b="1">
                <a:solidFill>
                  <a:srgbClr val="000000"/>
                </a:solidFill>
              </a:rPr>
              <a:t>:</a:t>
            </a:r>
            <a:r>
              <a:rPr lang="en-US" b="0"/>
              <a:t>  ensures that once a transaction has been committed it will be unaffected by</a:t>
            </a:r>
            <a:r>
              <a:rPr lang="en-US">
                <a:solidFill>
                  <a:srgbClr val="0000FF"/>
                </a:solidFill>
              </a:rPr>
              <a:t> power loss, system crashes, or errors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205" name="Google Shape;205;p10" descr="Google Shape;377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8760" y="794136"/>
            <a:ext cx="3129000" cy="1154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The relational Database Paradigm</a:t>
            </a:r>
            <a:endParaRPr/>
          </a:p>
        </p:txBody>
      </p:sp>
      <p:pic>
        <p:nvPicPr>
          <p:cNvPr id="211" name="Google Shape;211;p11" descr="Google Shape;386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3694" y="2415461"/>
            <a:ext cx="7777062" cy="3793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 txBox="1"/>
          <p:nvPr/>
        </p:nvSpPr>
        <p:spPr>
          <a:xfrm>
            <a:off x="1471903" y="4253727"/>
            <a:ext cx="2920484" cy="176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customer info in ‘Customer’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contacts info in ‘Contact’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  type lookup in ‘ContactType’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1267261" y="1519677"/>
            <a:ext cx="10709835" cy="1156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table in a database is devoted to one </a:t>
            </a:r>
            <a:r>
              <a:rPr lang="en-US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keys are used to </a:t>
            </a:r>
            <a:r>
              <a:rPr lang="en-US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tables in a logical manner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Relational Databases</a:t>
            </a:r>
            <a:endParaRPr/>
          </a:p>
        </p:txBody>
      </p:sp>
      <p:sp>
        <p:nvSpPr>
          <p:cNvPr id="219" name="Google Shape;219;p12"/>
          <p:cNvSpPr txBox="1">
            <a:spLocks noGrp="1"/>
          </p:cNvSpPr>
          <p:nvPr>
            <p:ph type="body" idx="1"/>
          </p:nvPr>
        </p:nvSpPr>
        <p:spPr>
          <a:xfrm>
            <a:off x="1269998" y="1524000"/>
            <a:ext cx="10524305" cy="1053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queries can pull together information from multiple tables by matching </a:t>
            </a:r>
            <a:r>
              <a:rPr lang="en-US" b="1">
                <a:solidFill>
                  <a:srgbClr val="0000FF"/>
                </a:solidFill>
              </a:rPr>
              <a:t>foreign keys</a:t>
            </a:r>
            <a:r>
              <a:rPr lang="en-US">
                <a:solidFill>
                  <a:srgbClr val="3F3F3F"/>
                </a:solidFill>
              </a:rPr>
              <a:t> to primary keys</a:t>
            </a:r>
            <a:endParaRPr/>
          </a:p>
        </p:txBody>
      </p:sp>
      <p:pic>
        <p:nvPicPr>
          <p:cNvPr id="220" name="Google Shape;220;p12" descr="Google Shape;396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4300" y="2606961"/>
            <a:ext cx="5951505" cy="294348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 txBox="1"/>
          <p:nvPr/>
        </p:nvSpPr>
        <p:spPr>
          <a:xfrm>
            <a:off x="7404099" y="2606961"/>
            <a:ext cx="4077480" cy="3246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‘ArtistID’ is: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foreign key in the ‘Recordings’ table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primary key in the ‘Artists’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‘GenreID’ is: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foreign key in the ‘Recordings’ table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primary key in the ‘Genre’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RDBMS</a:t>
            </a:r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body" idx="1"/>
          </p:nvPr>
        </p:nvSpPr>
        <p:spPr>
          <a:xfrm>
            <a:off x="1270000" y="1523997"/>
            <a:ext cx="4797736" cy="4683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RDB = 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relational database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RDBMS = 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relational database management system</a:t>
            </a:r>
            <a:endParaRPr/>
          </a:p>
        </p:txBody>
      </p:sp>
      <p:pic>
        <p:nvPicPr>
          <p:cNvPr id="228" name="Google Shape;228;p13" descr="Google Shape;44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5763" y="1320418"/>
            <a:ext cx="4451036" cy="355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3" descr="Picture 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6395" y="4697698"/>
            <a:ext cx="2019301" cy="100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3" descr="Picture 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64355" y="4710398"/>
            <a:ext cx="2070101" cy="97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Database Schema</a:t>
            </a:r>
            <a:endParaRPr/>
          </a:p>
        </p:txBody>
      </p:sp>
      <p:sp>
        <p:nvSpPr>
          <p:cNvPr id="236" name="Google Shape;236;p14"/>
          <p:cNvSpPr txBox="1"/>
          <p:nvPr/>
        </p:nvSpPr>
        <p:spPr>
          <a:xfrm>
            <a:off x="5910977" y="1524000"/>
            <a:ext cx="518160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rationale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3838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removes tight coupling of database objects and owners 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3838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improves security administration of database objects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1270000" y="152400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table-level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columns and primary key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database-level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overall design 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43000" marR="0" lvl="2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model (tables)</a:t>
            </a:r>
            <a:endParaRPr sz="2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43000" marR="0" lvl="2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keys (PK, FK)</a:t>
            </a:r>
            <a:endParaRPr sz="2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integrity constraints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SQL (Structured Query Language)</a:t>
            </a:r>
            <a:endParaRPr/>
          </a:p>
        </p:txBody>
      </p:sp>
      <p:sp>
        <p:nvSpPr>
          <p:cNvPr id="243" name="Google Shape;243;p15"/>
          <p:cNvSpPr txBox="1">
            <a:spLocks noGrp="1"/>
          </p:cNvSpPr>
          <p:nvPr>
            <p:ph type="body" idx="1"/>
          </p:nvPr>
        </p:nvSpPr>
        <p:spPr>
          <a:xfrm>
            <a:off x="1270000" y="1523999"/>
            <a:ext cx="10709834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essentially a </a:t>
            </a:r>
            <a:r>
              <a:rPr lang="en-US" b="1">
                <a:solidFill>
                  <a:srgbClr val="0000FF"/>
                </a:solidFill>
              </a:rPr>
              <a:t>declarative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3F3F3F"/>
                </a:solidFill>
              </a:rPr>
              <a:t>language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data are typically retrieved as </a:t>
            </a:r>
            <a:r>
              <a:rPr lang="en-US" b="1">
                <a:solidFill>
                  <a:srgbClr val="0000FF"/>
                </a:solidFill>
              </a:rPr>
              <a:t>subsets</a:t>
            </a:r>
            <a:r>
              <a:rPr lang="en-US" sz="2000">
                <a:solidFill>
                  <a:srgbClr val="0000FF"/>
                </a:solidFill>
              </a:rPr>
              <a:t> </a:t>
            </a:r>
            <a:r>
              <a:rPr lang="en-US" sz="2000"/>
              <a:t>of the rows and columns in one or more tables: ‘rowsets’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the user encodes the kind of rowset to be returned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the database engine produces a </a:t>
            </a:r>
            <a:r>
              <a:rPr lang="en-US" b="1">
                <a:solidFill>
                  <a:srgbClr val="0000FF"/>
                </a:solidFill>
              </a:rPr>
              <a:t>plan</a:t>
            </a:r>
            <a:r>
              <a:rPr lang="en-US" sz="2000">
                <a:solidFill>
                  <a:srgbClr val="0000FF"/>
                </a:solidFill>
              </a:rPr>
              <a:t> </a:t>
            </a:r>
            <a:r>
              <a:rPr lang="en-US" sz="2000"/>
              <a:t>for how to execute it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solidFill>
                  <a:srgbClr val="0000FF"/>
                </a:solidFill>
              </a:rPr>
              <a:t>optimised</a:t>
            </a:r>
            <a:r>
              <a:rPr lang="en-US" b="0">
                <a:solidFill>
                  <a:srgbClr val="0000FF"/>
                </a:solidFill>
              </a:rPr>
              <a:t> </a:t>
            </a:r>
            <a:r>
              <a:rPr lang="en-US" b="0"/>
              <a:t>if possible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may accept </a:t>
            </a:r>
            <a:r>
              <a:rPr lang="en-US" b="1">
                <a:solidFill>
                  <a:srgbClr val="0000FF"/>
                </a:solidFill>
              </a:rPr>
              <a:t>hints</a:t>
            </a:r>
            <a:r>
              <a:rPr lang="en-US" sz="2000">
                <a:solidFill>
                  <a:srgbClr val="0000FF"/>
                </a:solidFill>
              </a:rPr>
              <a:t> </a:t>
            </a:r>
            <a:r>
              <a:rPr lang="en-US" sz="2000"/>
              <a:t>from user (e.g. indexes to use)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3 functional divisions: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data definition language (</a:t>
            </a:r>
            <a:r>
              <a:rPr lang="en-US" b="1">
                <a:solidFill>
                  <a:srgbClr val="0000FF"/>
                </a:solidFill>
              </a:rPr>
              <a:t>DDL</a:t>
            </a:r>
            <a:r>
              <a:rPr lang="en-US" sz="2000"/>
              <a:t>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schema creation and modification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data manipulation language (</a:t>
            </a:r>
            <a:r>
              <a:rPr lang="en-US" b="1">
                <a:solidFill>
                  <a:srgbClr val="0000FF"/>
                </a:solidFill>
              </a:rPr>
              <a:t>DML</a:t>
            </a:r>
            <a:r>
              <a:rPr lang="en-US" sz="2000"/>
              <a:t>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insert, update, delete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data control language (</a:t>
            </a:r>
            <a:r>
              <a:rPr lang="en-US" b="1">
                <a:solidFill>
                  <a:srgbClr val="0000FF"/>
                </a:solidFill>
              </a:rPr>
              <a:t>DCL</a:t>
            </a:r>
            <a:r>
              <a:rPr lang="en-US" sz="2000"/>
              <a:t>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access, security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>
            <a:spLocks noGrp="1"/>
          </p:cNvSpPr>
          <p:nvPr>
            <p:ph type="title"/>
          </p:nvPr>
        </p:nvSpPr>
        <p:spPr>
          <a:xfrm>
            <a:off x="1270000" y="381000"/>
            <a:ext cx="10608235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latin typeface="Calibri"/>
                <a:ea typeface="Calibri"/>
                <a:cs typeface="Calibri"/>
                <a:sym typeface="Calibri"/>
              </a:rPr>
              <a:t>SQL – cont’d</a:t>
            </a:r>
            <a:endParaRPr/>
          </a:p>
        </p:txBody>
      </p:sp>
      <p:sp>
        <p:nvSpPr>
          <p:cNvPr id="249" name="Google Shape;249;p16"/>
          <p:cNvSpPr txBox="1"/>
          <p:nvPr/>
        </p:nvSpPr>
        <p:spPr>
          <a:xfrm>
            <a:off x="1270000" y="1524000"/>
            <a:ext cx="10709835" cy="471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simple rowset retrieval: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br>
              <a:rPr lang="en-US" sz="2400" b="0" i="1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rowset retrieval:</a:t>
            </a:r>
            <a:endParaRPr sz="1400" b="0" i="0" u="none" strike="noStrike" cap="none">
              <a:solidFill>
                <a:srgbClr val="3F3F3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</a:t>
            </a:r>
            <a:r>
              <a:rPr lang="en-US" sz="24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FROM </a:t>
            </a:r>
            <a:r>
              <a:rPr lang="en-US" sz="24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r>
              <a:rPr lang="en-US" sz="2400" b="0" i="1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example (conditional rowset with ordering):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TOP 10 amount FROM sales WHERE amount &gt; 99.99 </a:t>
            </a:r>
            <a:r>
              <a:rPr lang="en-US" sz="20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BY amount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latin typeface="Calibri"/>
                <a:ea typeface="Calibri"/>
                <a:cs typeface="Calibri"/>
                <a:sym typeface="Calibri"/>
              </a:rPr>
              <a:t>SQL – cont’d</a:t>
            </a:r>
            <a:endParaRPr/>
          </a:p>
        </p:txBody>
      </p:sp>
      <p:sp>
        <p:nvSpPr>
          <p:cNvPr id="255" name="Google Shape;255;p17"/>
          <p:cNvSpPr txBox="1">
            <a:spLocks noGrp="1"/>
          </p:cNvSpPr>
          <p:nvPr>
            <p:ph type="body" idx="1"/>
          </p:nvPr>
        </p:nvSpPr>
        <p:spPr>
          <a:xfrm>
            <a:off x="1267261" y="1529624"/>
            <a:ext cx="10709835" cy="471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Syntax</a:t>
            </a:r>
            <a:endParaRPr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identifiers with embedded</a:t>
            </a:r>
            <a:r>
              <a:rPr lang="en-US" b="1">
                <a:solidFill>
                  <a:srgbClr val="57B7D9"/>
                </a:solidFill>
              </a:rPr>
              <a:t> </a:t>
            </a:r>
            <a:r>
              <a:rPr lang="en-US" b="1">
                <a:solidFill>
                  <a:srgbClr val="0000FF"/>
                </a:solidFill>
              </a:rPr>
              <a:t>spaces or punctuation</a:t>
            </a:r>
            <a:r>
              <a:rPr lang="en-US" b="1"/>
              <a:t> </a:t>
            </a:r>
            <a:r>
              <a:rPr lang="en-US">
                <a:solidFill>
                  <a:srgbClr val="3F3F3F"/>
                </a:solidFill>
              </a:rPr>
              <a:t>require implementation-specific delimiters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e.g. SQL Server allows “my table” or [my table]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3F3F3F"/>
                </a:solidFill>
              </a:rPr>
              <a:t>   (delimiters are optional, otherwise)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namespace hierarchies</a:t>
            </a:r>
            <a:r>
              <a:rPr lang="en-US" b="1"/>
              <a:t> </a:t>
            </a:r>
            <a:r>
              <a:rPr lang="en-US" b="0"/>
              <a:t>are usually delimited with periods (full stops)</a:t>
            </a:r>
            <a:endParaRPr b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e.g. (SQL Server): </a:t>
            </a:r>
            <a:r>
              <a:rPr lang="en-US">
                <a:solidFill>
                  <a:srgbClr val="7F7F7F"/>
                </a:solidFill>
              </a:rPr>
              <a:t>myschema.mytable.mycolumn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latin typeface="Calibri"/>
                <a:ea typeface="Calibri"/>
                <a:cs typeface="Calibri"/>
                <a:sym typeface="Calibri"/>
              </a:rPr>
              <a:t>SQL – cont’d</a:t>
            </a:r>
            <a:endParaRPr/>
          </a:p>
        </p:txBody>
      </p:sp>
      <p:sp>
        <p:nvSpPr>
          <p:cNvPr id="261" name="Google Shape;261;p18"/>
          <p:cNvSpPr txBox="1">
            <a:spLocks noGrp="1"/>
          </p:cNvSpPr>
          <p:nvPr>
            <p:ph type="body" idx="1"/>
          </p:nvPr>
        </p:nvSpPr>
        <p:spPr>
          <a:xfrm>
            <a:off x="1267261" y="1529624"/>
            <a:ext cx="10709835" cy="471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Syntax</a:t>
            </a:r>
            <a:endParaRPr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SQL is </a:t>
            </a:r>
            <a:r>
              <a:rPr lang="en-US" b="1">
                <a:solidFill>
                  <a:srgbClr val="0000FF"/>
                </a:solidFill>
              </a:rPr>
              <a:t>case-insensitive</a:t>
            </a:r>
            <a:endParaRPr b="1">
              <a:solidFill>
                <a:srgbClr val="0000FF"/>
              </a:solidFill>
            </a:endParaRPr>
          </a:p>
          <a:p>
            <a:pPr marL="68580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best to adopt a style, for readability</a:t>
            </a:r>
            <a:br>
              <a:rPr lang="en-US" sz="2000"/>
            </a:br>
            <a:r>
              <a:rPr lang="en-US" sz="2000"/>
              <a:t>(e.g. uppercase for SQL keywords, lowercase for identifiers)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Microsoft and others extend the ANSI standard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extensions add </a:t>
            </a:r>
            <a:r>
              <a:rPr lang="en-US" b="1">
                <a:solidFill>
                  <a:srgbClr val="0000FF"/>
                </a:solidFill>
              </a:rPr>
              <a:t>power and convenience</a:t>
            </a:r>
            <a:r>
              <a:rPr lang="en-US" b="1"/>
              <a:t> </a:t>
            </a:r>
            <a:r>
              <a:rPr lang="en-US" sz="2000"/>
              <a:t>to programming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many extensions do not readily </a:t>
            </a:r>
            <a:r>
              <a:rPr lang="en-US" b="1">
                <a:solidFill>
                  <a:srgbClr val="0000FF"/>
                </a:solidFill>
              </a:rPr>
              <a:t>port</a:t>
            </a:r>
            <a:r>
              <a:rPr lang="en-US" sz="2000">
                <a:solidFill>
                  <a:srgbClr val="0000FF"/>
                </a:solidFill>
              </a:rPr>
              <a:t> </a:t>
            </a:r>
            <a:r>
              <a:rPr lang="en-US" sz="2000"/>
              <a:t>between versions of SQL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 txBox="1"/>
          <p:nvPr/>
        </p:nvSpPr>
        <p:spPr>
          <a:xfrm>
            <a:off x="1270000" y="1523999"/>
            <a:ext cx="10709834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r>
              <a:rPr lang="en-US" sz="2400" b="1" i="1" u="none" strike="noStrike" cap="none">
                <a:solidFill>
                  <a:srgbClr val="57B7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uniquely refers to each row in a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can have only one per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usually an integer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r>
              <a:rPr lang="en-US" sz="2400" b="1" i="1" u="none" strike="noStrike" cap="none">
                <a:solidFill>
                  <a:srgbClr val="57B7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refers to a row in a different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primary key in the other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can have any number per 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Nb. the use of foreign keys reduces storage and makes database maintenance much easier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Primary and Foreign Keys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Joins</a:t>
            </a:r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body" idx="1"/>
          </p:nvPr>
        </p:nvSpPr>
        <p:spPr>
          <a:xfrm>
            <a:off x="1267261" y="15296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used (in queries) for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combining columns</a:t>
            </a:r>
            <a:r>
              <a:rPr lang="en-US" b="1"/>
              <a:t> </a:t>
            </a:r>
            <a:r>
              <a:rPr lang="en-US" b="0"/>
              <a:t>from different tables</a:t>
            </a:r>
            <a:endParaRPr b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filtering columns</a:t>
            </a:r>
            <a:r>
              <a:rPr lang="en-US">
                <a:solidFill>
                  <a:srgbClr val="57B7D9"/>
                </a:solidFill>
              </a:rPr>
              <a:t> </a:t>
            </a:r>
            <a:r>
              <a:rPr lang="en-US" b="0"/>
              <a:t>from one table using criteria in a different table</a:t>
            </a:r>
            <a:endParaRPr b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joins match a foreign key in one table to a primary key in another table</a:t>
            </a:r>
            <a:endParaRPr/>
          </a:p>
          <a:p>
            <a:pPr marL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3F3F3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Nb. simple joins are generally quite fast, but</a:t>
            </a:r>
            <a:r>
              <a:rPr lang="en-US" b="1">
                <a:solidFill>
                  <a:srgbClr val="57B7D9"/>
                </a:solidFill>
              </a:rPr>
              <a:t> </a:t>
            </a:r>
            <a:r>
              <a:rPr lang="en-US" b="1">
                <a:solidFill>
                  <a:srgbClr val="0000FF"/>
                </a:solidFill>
              </a:rPr>
              <a:t>compound joins</a:t>
            </a:r>
            <a:r>
              <a:rPr lang="en-US" b="1">
                <a:solidFill>
                  <a:srgbClr val="57B7D9"/>
                </a:solidFill>
              </a:rPr>
              <a:t> </a:t>
            </a:r>
            <a:r>
              <a:rPr lang="en-US">
                <a:solidFill>
                  <a:srgbClr val="3F3F3F"/>
                </a:solidFill>
              </a:rPr>
              <a:t>(involving many tables) can be very slow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 database join is analogous to a set operation in mathematics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latin typeface="Calibri"/>
                <a:ea typeface="Calibri"/>
                <a:cs typeface="Calibri"/>
                <a:sym typeface="Calibri"/>
              </a:rPr>
              <a:t>Joins – cont’d</a:t>
            </a:r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body" idx="1"/>
          </p:nvPr>
        </p:nvSpPr>
        <p:spPr>
          <a:xfrm>
            <a:off x="1267261" y="1557181"/>
            <a:ext cx="10709835" cy="68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195942" marR="0" lvl="0" indent="-19594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Compound inner join example </a:t>
            </a:r>
            <a:endParaRPr/>
          </a:p>
        </p:txBody>
      </p:sp>
      <p:pic>
        <p:nvPicPr>
          <p:cNvPr id="286" name="Google Shape;286;p22" descr="Google Shape;516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7261" y="2340254"/>
            <a:ext cx="5951505" cy="294348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7835379" y="2237615"/>
            <a:ext cx="4040158" cy="316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Return artist name and album cover for every album of the ‘rock’ genre: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Artists.ArtistName, Recordings.AlbumCover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 Artists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INNER JOIN Recordings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ON Artists.ArtistID = Recordings.ArtistID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INNER JOIN Genre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ON Recordings.GenreID = Genre.GenreID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WHERE Genre.Genre = ‘rock’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1279961" y="376467"/>
            <a:ext cx="10709835" cy="976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latin typeface="Calibri"/>
                <a:ea typeface="Calibri"/>
                <a:cs typeface="Calibri"/>
                <a:sym typeface="Calibri"/>
              </a:rPr>
              <a:t>Joins – cont’d</a:t>
            </a:r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1267261" y="1529623"/>
            <a:ext cx="8227729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Left Join</a:t>
            </a:r>
            <a:endParaRPr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all rows from 1</a:t>
            </a:r>
            <a:r>
              <a:rPr lang="en-US" baseline="30000"/>
              <a:t>st</a:t>
            </a:r>
            <a:r>
              <a:rPr lang="en-US">
                <a:solidFill>
                  <a:srgbClr val="000000"/>
                </a:solidFill>
              </a:rPr>
              <a:t> table, plus matching rows from 2</a:t>
            </a:r>
            <a:r>
              <a:rPr lang="en-US" baseline="30000"/>
              <a:t>nd</a:t>
            </a:r>
            <a:r>
              <a:rPr lang="en-US">
                <a:solidFill>
                  <a:srgbClr val="000000"/>
                </a:solidFill>
              </a:rPr>
              <a:t> table:</a:t>
            </a:r>
            <a:endParaRPr/>
          </a:p>
          <a:p>
            <a:pPr marL="0" lvl="1" indent="125571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</a:rPr>
              <a:t>SELECT cars.car, trucks.truck FROM cars </a:t>
            </a:r>
            <a:br>
              <a:rPr lang="en-US" sz="2000">
                <a:solidFill>
                  <a:srgbClr val="3F3F3F"/>
                </a:solidFill>
              </a:rPr>
            </a:br>
            <a:r>
              <a:rPr lang="en-US" sz="2000">
                <a:solidFill>
                  <a:srgbClr val="3F3F3F"/>
                </a:solidFill>
              </a:rPr>
              <a:t>LEFT JOIN trucks ON cars.maker = trucks.maker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unmatched rows will have NULL in place of truck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Right Join</a:t>
            </a:r>
            <a:endParaRPr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all rows from 2</a:t>
            </a:r>
            <a:r>
              <a:rPr lang="en-US" baseline="30000"/>
              <a:t>nd</a:t>
            </a:r>
            <a:r>
              <a:rPr lang="en-US">
                <a:solidFill>
                  <a:srgbClr val="000000"/>
                </a:solidFill>
              </a:rPr>
              <a:t> table, plus matching rows from 1</a:t>
            </a:r>
            <a:r>
              <a:rPr lang="en-US" baseline="30000"/>
              <a:t>st</a:t>
            </a:r>
            <a:r>
              <a:rPr lang="en-US">
                <a:solidFill>
                  <a:srgbClr val="000000"/>
                </a:solidFill>
              </a:rPr>
              <a:t> table:</a:t>
            </a:r>
            <a:endParaRPr/>
          </a:p>
          <a:p>
            <a:pPr marL="0" lvl="1" indent="125571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</a:rPr>
              <a:t>SELECT cars.car, trucks.truck FROM cars </a:t>
            </a:r>
            <a:br>
              <a:rPr lang="en-US" sz="2000">
                <a:solidFill>
                  <a:srgbClr val="3F3F3F"/>
                </a:solidFill>
              </a:rPr>
            </a:br>
            <a:r>
              <a:rPr lang="en-US" sz="2000">
                <a:solidFill>
                  <a:srgbClr val="3F3F3F"/>
                </a:solidFill>
              </a:rPr>
              <a:t>RIGHT JOIN trucks ON cars.maker = trucks.maker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unmatched rows will have NULL in place of car</a:t>
            </a:r>
            <a:endParaRPr/>
          </a:p>
        </p:txBody>
      </p:sp>
      <p:graphicFrame>
        <p:nvGraphicFramePr>
          <p:cNvPr id="294" name="Google Shape;294;p23"/>
          <p:cNvGraphicFramePr/>
          <p:nvPr/>
        </p:nvGraphicFramePr>
        <p:xfrm>
          <a:off x="9624011" y="1895712"/>
          <a:ext cx="635000" cy="1280125"/>
        </p:xfrm>
        <a:graphic>
          <a:graphicData uri="http://schemas.openxmlformats.org/drawingml/2006/table">
            <a:tbl>
              <a:tblPr>
                <a:noFill/>
                <a:tableStyleId>{42DF0A7F-B584-4DF7-BCE7-CE5F738F4906}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Table 1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aaa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bbb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ccc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ddd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eee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fff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5" name="Google Shape;295;p23"/>
          <p:cNvGraphicFramePr/>
          <p:nvPr/>
        </p:nvGraphicFramePr>
        <p:xfrm>
          <a:off x="10489347" y="1895712"/>
          <a:ext cx="635000" cy="1280125"/>
        </p:xfrm>
        <a:graphic>
          <a:graphicData uri="http://schemas.openxmlformats.org/drawingml/2006/table">
            <a:tbl>
              <a:tblPr>
                <a:noFill/>
                <a:tableStyleId>{42DF0A7F-B584-4DF7-BCE7-CE5F738F4906}</a:tableStyleId>
              </a:tblPr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Table 2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aaa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xxx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ccc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yyy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eee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fff</a:t>
                      </a:r>
                      <a:endParaRPr sz="1400" u="none" strike="noStrike" cap="none"/>
                    </a:p>
                  </a:txBody>
                  <a:tcPr marL="3800" marR="3800" marT="3800" marB="380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96" name="Google Shape;296;p23" descr="Google Shape;52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4814" y="3343402"/>
            <a:ext cx="2057403" cy="120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 descr="Google Shape;529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44814" y="4791090"/>
            <a:ext cx="2095503" cy="120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 txBox="1">
            <a:spLocks noGrp="1"/>
          </p:cNvSpPr>
          <p:nvPr>
            <p:ph type="title"/>
          </p:nvPr>
        </p:nvSpPr>
        <p:spPr>
          <a:xfrm>
            <a:off x="1270000" y="377825"/>
            <a:ext cx="105156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latin typeface="Calibri"/>
                <a:ea typeface="Calibri"/>
                <a:cs typeface="Calibri"/>
                <a:sym typeface="Calibri"/>
              </a:rPr>
              <a:t>Joins – cont’d</a:t>
            </a:r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body" idx="1"/>
          </p:nvPr>
        </p:nvSpPr>
        <p:spPr>
          <a:xfrm>
            <a:off x="1270000" y="1517817"/>
            <a:ext cx="10709834" cy="435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Outer Join </a:t>
            </a:r>
            <a:endParaRPr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all rows from 1</a:t>
            </a:r>
            <a:r>
              <a:rPr lang="en-US" baseline="30000"/>
              <a:t>st</a:t>
            </a:r>
            <a:r>
              <a:rPr lang="en-US">
                <a:solidFill>
                  <a:srgbClr val="000000"/>
                </a:solidFill>
              </a:rPr>
              <a:t> table, matched with all rows from 2</a:t>
            </a:r>
            <a:r>
              <a:rPr lang="en-US" baseline="30000"/>
              <a:t>nd</a:t>
            </a:r>
            <a:r>
              <a:rPr lang="en-US">
                <a:solidFill>
                  <a:srgbClr val="000000"/>
                </a:solidFill>
              </a:rPr>
              <a:t> table:</a:t>
            </a:r>
            <a:endParaRPr/>
          </a:p>
          <a:p>
            <a:pPr marL="0" lvl="1" indent="125571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</a:rPr>
              <a:t>SELECT cars.car, trucks.truck FROM cars </a:t>
            </a:r>
            <a:br>
              <a:rPr lang="en-US" sz="2000">
                <a:solidFill>
                  <a:srgbClr val="3F3F3F"/>
                </a:solidFill>
              </a:rPr>
            </a:br>
            <a:r>
              <a:rPr lang="en-US" sz="2000">
                <a:solidFill>
                  <a:srgbClr val="3F3F3F"/>
                </a:solidFill>
              </a:rPr>
              <a:t>OUTER JOIN trucks ON cars.maker = trucks.maker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every possible pairing of 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car</a:t>
            </a:r>
            <a:r>
              <a:rPr lang="en-US" sz="2000"/>
              <a:t> and 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truck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uses: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creating contingency tables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creating dummy data for testing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other?</a:t>
            </a:r>
            <a:endParaRPr/>
          </a:p>
        </p:txBody>
      </p:sp>
      <p:pic>
        <p:nvPicPr>
          <p:cNvPr id="304" name="Google Shape;304;p24" descr="Google Shape;538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7233" y="2440875"/>
            <a:ext cx="2019303" cy="1190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Database Administration</a:t>
            </a:r>
            <a:endParaRPr/>
          </a:p>
        </p:txBody>
      </p:sp>
      <p:sp>
        <p:nvSpPr>
          <p:cNvPr id="323" name="Google Shape;323;p27"/>
          <p:cNvSpPr txBox="1">
            <a:spLocks noGrp="1"/>
          </p:cNvSpPr>
          <p:nvPr>
            <p:ph type="body" idx="1"/>
          </p:nvPr>
        </p:nvSpPr>
        <p:spPr>
          <a:xfrm>
            <a:off x="1269999" y="1523998"/>
            <a:ext cx="9591242" cy="44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granting </a:t>
            </a:r>
            <a:r>
              <a:rPr lang="en-US" b="1">
                <a:solidFill>
                  <a:srgbClr val="0000FF"/>
                </a:solidFill>
              </a:rPr>
              <a:t>permissions</a:t>
            </a:r>
            <a:endParaRPr b="1">
              <a:solidFill>
                <a:srgbClr val="0000FF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users, roles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tables, views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performing </a:t>
            </a:r>
            <a:r>
              <a:rPr lang="en-US" b="1">
                <a:solidFill>
                  <a:srgbClr val="0000FF"/>
                </a:solidFill>
              </a:rPr>
              <a:t>backups &amp; recoveries</a:t>
            </a:r>
            <a:endParaRPr b="1"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creating &amp; scheduling </a:t>
            </a:r>
            <a:r>
              <a:rPr lang="en-US" b="1">
                <a:solidFill>
                  <a:srgbClr val="0000FF"/>
                </a:solidFill>
              </a:rPr>
              <a:t>jobs</a:t>
            </a:r>
            <a:endParaRPr b="1">
              <a:solidFill>
                <a:srgbClr val="0000FF"/>
              </a:solidFill>
            </a:endParaRPr>
          </a:p>
          <a:p>
            <a:pPr marL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Nb. It is not uncommon for a query to join tables from different databases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in SQL Server, the query must be created by the </a:t>
            </a:r>
            <a:r>
              <a:rPr lang="en-US" i="1"/>
              <a:t>single</a:t>
            </a:r>
            <a:r>
              <a:rPr lang="en-US" sz="2000"/>
              <a:t> owner of </a:t>
            </a:r>
            <a:r>
              <a:rPr lang="en-US" i="1"/>
              <a:t>both</a:t>
            </a:r>
            <a:r>
              <a:rPr lang="en-US" sz="2000"/>
              <a:t> databases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a database owner should be a virtual user -- not a particular person’s login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Database Scripting</a:t>
            </a:r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body" idx="1"/>
          </p:nvPr>
        </p:nvSpPr>
        <p:spPr>
          <a:xfrm>
            <a:off x="1267261" y="15296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 dirty="0">
                <a:solidFill>
                  <a:srgbClr val="3F3F3F"/>
                </a:solidFill>
              </a:rPr>
              <a:t>shell scripts / commands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 dirty="0"/>
              <a:t>for quick / convenient execution of routine tasks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dirty="0">
                <a:solidFill>
                  <a:srgbClr val="0000FF"/>
                </a:solidFill>
              </a:rPr>
              <a:t>populating / updating a database</a:t>
            </a:r>
            <a:r>
              <a:rPr lang="en-US" dirty="0">
                <a:solidFill>
                  <a:srgbClr val="57B7D9"/>
                </a:solidFill>
              </a:rPr>
              <a:t> </a:t>
            </a:r>
            <a:r>
              <a:rPr lang="en-US" b="0" dirty="0"/>
              <a:t>from a file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dirty="0">
                <a:solidFill>
                  <a:srgbClr val="0000FF"/>
                </a:solidFill>
              </a:rPr>
              <a:t>backing up or restoring</a:t>
            </a:r>
            <a:r>
              <a:rPr lang="en-US" dirty="0">
                <a:solidFill>
                  <a:srgbClr val="57B7D9"/>
                </a:solidFill>
              </a:rPr>
              <a:t> </a:t>
            </a:r>
            <a:r>
              <a:rPr lang="en-US" b="0" dirty="0"/>
              <a:t>a database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dirty="0">
                <a:solidFill>
                  <a:srgbClr val="0000FF"/>
                </a:solidFill>
              </a:rPr>
              <a:t>dumping</a:t>
            </a:r>
            <a:r>
              <a:rPr lang="en-US" dirty="0">
                <a:solidFill>
                  <a:srgbClr val="57B7D9"/>
                </a:solidFill>
              </a:rPr>
              <a:t> </a:t>
            </a:r>
            <a:r>
              <a:rPr lang="en-US" b="0" dirty="0"/>
              <a:t>a database object to a file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dirty="0">
                <a:solidFill>
                  <a:srgbClr val="0000FF"/>
                </a:solidFill>
              </a:rPr>
              <a:t>executing queries</a:t>
            </a:r>
            <a:r>
              <a:rPr lang="en-US" dirty="0">
                <a:solidFill>
                  <a:srgbClr val="57B7D9"/>
                </a:solidFill>
              </a:rPr>
              <a:t> </a:t>
            </a:r>
            <a:r>
              <a:rPr lang="en-US" b="0" dirty="0"/>
              <a:t>to deliver </a:t>
            </a:r>
            <a:r>
              <a:rPr lang="en-US" b="0" dirty="0" err="1"/>
              <a:t>rowsets</a:t>
            </a:r>
            <a:r>
              <a:rPr lang="en-US" b="0" dirty="0"/>
              <a:t> for subsequent analysis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dirty="0">
                <a:solidFill>
                  <a:srgbClr val="0000FF"/>
                </a:solidFill>
              </a:rPr>
              <a:t>moving data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b="0" dirty="0"/>
              <a:t>between databases, data lakes, etc.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 dirty="0"/>
              <a:t>examples</a:t>
            </a:r>
            <a:endParaRPr dirty="0"/>
          </a:p>
          <a:p>
            <a:pPr marL="0" lvl="1" indent="4572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2000"/>
              <a:buNone/>
            </a:pPr>
            <a:r>
              <a:rPr lang="en-US" sz="2000" dirty="0" err="1">
                <a:solidFill>
                  <a:srgbClr val="7F7F7F"/>
                </a:solidFill>
              </a:rPr>
              <a:t>psql</a:t>
            </a:r>
            <a:r>
              <a:rPr lang="en-US" sz="2000" dirty="0">
                <a:solidFill>
                  <a:srgbClr val="7F7F7F"/>
                </a:solidFill>
              </a:rPr>
              <a:t> -U </a:t>
            </a:r>
            <a:r>
              <a:rPr lang="en-US" sz="2000" dirty="0" err="1">
                <a:solidFill>
                  <a:srgbClr val="7F7F7F"/>
                </a:solidFill>
              </a:rPr>
              <a:t>postgres</a:t>
            </a:r>
            <a:r>
              <a:rPr lang="en-US" sz="2000" dirty="0">
                <a:solidFill>
                  <a:srgbClr val="7F7F7F"/>
                </a:solidFill>
              </a:rPr>
              <a:t> -d </a:t>
            </a:r>
            <a:r>
              <a:rPr lang="en-US" sz="2000" dirty="0" err="1">
                <a:solidFill>
                  <a:srgbClr val="7F7F7F"/>
                </a:solidFill>
              </a:rPr>
              <a:t>database_name</a:t>
            </a:r>
            <a:r>
              <a:rPr lang="en-US" sz="2000" dirty="0">
                <a:solidFill>
                  <a:srgbClr val="7F7F7F"/>
                </a:solidFill>
              </a:rPr>
              <a:t> -c "SELECT </a:t>
            </a:r>
            <a:r>
              <a:rPr lang="en-US" sz="2000" dirty="0" err="1">
                <a:solidFill>
                  <a:srgbClr val="7F7F7F"/>
                </a:solidFill>
              </a:rPr>
              <a:t>c_defaults</a:t>
            </a:r>
            <a:r>
              <a:rPr lang="en-US" sz="2000" dirty="0">
                <a:solidFill>
                  <a:srgbClr val="7F7F7F"/>
                </a:solidFill>
              </a:rPr>
              <a:t> FROM </a:t>
            </a:r>
            <a:r>
              <a:rPr lang="en-US" sz="2000" dirty="0" err="1">
                <a:solidFill>
                  <a:srgbClr val="7F7F7F"/>
                </a:solidFill>
              </a:rPr>
              <a:t>user_info</a:t>
            </a:r>
            <a:r>
              <a:rPr lang="en-US" sz="2000" dirty="0">
                <a:solidFill>
                  <a:srgbClr val="7F7F7F"/>
                </a:solidFill>
              </a:rPr>
              <a:t> </a:t>
            </a:r>
            <a:br>
              <a:rPr lang="en-US" sz="2000" dirty="0">
                <a:solidFill>
                  <a:srgbClr val="7F7F7F"/>
                </a:solidFill>
              </a:rPr>
            </a:br>
            <a:r>
              <a:rPr lang="en-US" sz="2000" dirty="0">
                <a:solidFill>
                  <a:srgbClr val="7F7F7F"/>
                </a:solidFill>
              </a:rPr>
              <a:t>WHERE </a:t>
            </a:r>
            <a:r>
              <a:rPr lang="en-US" sz="2000" dirty="0" err="1">
                <a:solidFill>
                  <a:srgbClr val="7F7F7F"/>
                </a:solidFill>
              </a:rPr>
              <a:t>c_uid</a:t>
            </a:r>
            <a:r>
              <a:rPr lang="en-US" sz="2000" dirty="0">
                <a:solidFill>
                  <a:srgbClr val="7F7F7F"/>
                </a:solidFill>
              </a:rPr>
              <a:t> = '</a:t>
            </a:r>
            <a:r>
              <a:rPr lang="en-US" sz="2000" dirty="0" err="1">
                <a:solidFill>
                  <a:srgbClr val="7F7F7F"/>
                </a:solidFill>
              </a:rPr>
              <a:t>testuser</a:t>
            </a:r>
            <a:r>
              <a:rPr lang="en-US" sz="2000" dirty="0">
                <a:solidFill>
                  <a:srgbClr val="7F7F7F"/>
                </a:solidFill>
              </a:rPr>
              <a:t>’”</a:t>
            </a:r>
            <a:endParaRPr dirty="0"/>
          </a:p>
          <a:p>
            <a:pPr marL="0" lvl="1" indent="4572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ts val="2000"/>
              <a:buNone/>
            </a:pPr>
            <a:r>
              <a:rPr lang="en-US" sz="2000" dirty="0" err="1">
                <a:solidFill>
                  <a:srgbClr val="7F7F7F"/>
                </a:solidFill>
              </a:rPr>
              <a:t>mysql</a:t>
            </a:r>
            <a:r>
              <a:rPr lang="en-US" sz="2000" dirty="0">
                <a:solidFill>
                  <a:srgbClr val="7F7F7F"/>
                </a:solidFill>
              </a:rPr>
              <a:t> -h "server-name" -u "root" "-</a:t>
            </a:r>
            <a:r>
              <a:rPr lang="en-US" sz="2000" dirty="0" err="1">
                <a:solidFill>
                  <a:srgbClr val="7F7F7F"/>
                </a:solidFill>
              </a:rPr>
              <a:t>pXXXXXXXX</a:t>
            </a:r>
            <a:r>
              <a:rPr lang="en-US" sz="2000" dirty="0">
                <a:solidFill>
                  <a:srgbClr val="7F7F7F"/>
                </a:solidFill>
              </a:rPr>
              <a:t>" "database-name" &lt; "</a:t>
            </a:r>
            <a:r>
              <a:rPr lang="en-US" sz="2000" dirty="0" err="1">
                <a:solidFill>
                  <a:srgbClr val="7F7F7F"/>
                </a:solidFill>
              </a:rPr>
              <a:t>filename.sql</a:t>
            </a:r>
            <a:r>
              <a:rPr lang="en-US" sz="2000" dirty="0">
                <a:solidFill>
                  <a:srgbClr val="7F7F7F"/>
                </a:solidFill>
              </a:rPr>
              <a:t>"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1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Advanced SQL</a:t>
            </a:r>
            <a:endParaRPr/>
          </a:p>
        </p:txBody>
      </p:sp>
      <p:sp>
        <p:nvSpPr>
          <p:cNvPr id="335" name="Google Shape;335;p29"/>
          <p:cNvSpPr txBox="1">
            <a:spLocks noGrp="1"/>
          </p:cNvSpPr>
          <p:nvPr>
            <p:ph type="body" idx="1"/>
          </p:nvPr>
        </p:nvSpPr>
        <p:spPr>
          <a:xfrm>
            <a:off x="3142051" y="1745523"/>
            <a:ext cx="8440351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Aggregation functions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Grouping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Window functions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SQL Aggregation functions</a:t>
            </a:r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body" idx="1"/>
          </p:nvPr>
        </p:nvSpPr>
        <p:spPr>
          <a:xfrm>
            <a:off x="1267250" y="1523225"/>
            <a:ext cx="10709700" cy="47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aggregate many rows into a single resultant row</a:t>
            </a:r>
            <a:br>
              <a:rPr lang="en-US">
                <a:solidFill>
                  <a:srgbClr val="000000"/>
                </a:solidFill>
              </a:rPr>
            </a:br>
            <a:endParaRPr sz="70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common aggregation functions: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0000"/>
                </a:solidFill>
              </a:rPr>
              <a:t>COUNT	counts all rows meeting criterion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0000"/>
                </a:solidFill>
              </a:rPr>
              <a:t>SUM	sums selected field(s) in all rows meeting criterion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0000"/>
                </a:solidFill>
              </a:rPr>
              <a:t>AVG	averages …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0000"/>
                </a:solidFill>
              </a:rPr>
              <a:t>MIN, MAX	computes minimum/maximum of …</a:t>
            </a:r>
            <a:br>
              <a:rPr lang="en-US" sz="2000">
                <a:solidFill>
                  <a:srgbClr val="000000"/>
                </a:solidFill>
              </a:rPr>
            </a:b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SQL engine may support user-defined aggregation functions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example:</a:t>
            </a:r>
            <a:endParaRPr/>
          </a:p>
          <a:p>
            <a:pPr marL="0" lvl="0" indent="7191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7F7F7F"/>
                </a:solidFill>
              </a:rPr>
              <a:t>SELECT MIN(sale_date) AS firstdt, MAX(sale_date) AS lastdt, </a:t>
            </a:r>
            <a:br>
              <a:rPr lang="en-US" sz="2000">
                <a:solidFill>
                  <a:srgbClr val="7F7F7F"/>
                </a:solidFill>
              </a:rPr>
            </a:br>
            <a:r>
              <a:rPr lang="en-US" sz="2000">
                <a:solidFill>
                  <a:srgbClr val="7F7F7F"/>
                </a:solidFill>
              </a:rPr>
              <a:t>SUM(sales) AS netsales FROM sales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Aggregating by Groups in SQL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1270000" y="1523998"/>
            <a:ext cx="9539538" cy="262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grouping allows aggregation functions to be applied to subsets based on row-level criteria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adds GROUP BY clause to select statement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719137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agent_name, SUM(sales) AS netsales FROM sales</a:t>
            </a:r>
            <a:b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GROUP BY agent_name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SQL Window Functions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1270000" y="1523999"/>
            <a:ext cx="9946434" cy="3752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operates on a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rows and return a value for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like aggregation, but performed in relation to current row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running total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1439862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SELECT duration, SUM(duration)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143986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OVER (ORDER BY start_time) AS running_total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1439862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 bikeshare</a:t>
            </a:r>
            <a:endParaRPr sz="1400" b="0" i="0" u="none" strike="noStrike" cap="non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 clause designates window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ORDER BY sets sequence of rowset (oldest to newest values of start_time)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row shows current </a:t>
            </a:r>
            <a:r>
              <a:rPr lang="en-US" sz="2000" b="0" i="0" u="none" strike="noStrike" cap="none">
                <a:solidFill>
                  <a:srgbClr val="848484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sum of all previous values of </a:t>
            </a: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>
            <a:spLocks noGrp="1"/>
          </p:cNvSpPr>
          <p:nvPr>
            <p:ph type="title"/>
          </p:nvPr>
        </p:nvSpPr>
        <p:spPr>
          <a:xfrm>
            <a:off x="1270000" y="381000"/>
            <a:ext cx="10709835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Lab 2.1.2: Advanced SQL</a:t>
            </a:r>
            <a:endParaRPr/>
          </a:p>
        </p:txBody>
      </p:sp>
      <p:sp>
        <p:nvSpPr>
          <p:cNvPr id="359" name="Google Shape;359;p33"/>
          <p:cNvSpPr txBox="1">
            <a:spLocks noGrp="1"/>
          </p:cNvSpPr>
          <p:nvPr>
            <p:ph type="body" idx="1"/>
          </p:nvPr>
        </p:nvSpPr>
        <p:spPr>
          <a:xfrm>
            <a:off x="1269998" y="1529623"/>
            <a:ext cx="5475851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Purpose: </a:t>
            </a:r>
            <a:endParaRPr>
              <a:solidFill>
                <a:srgbClr val="0000FF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>
                <a:solidFill>
                  <a:srgbClr val="000000"/>
                </a:solidFill>
              </a:rPr>
              <a:t>To discover the more powerful features of SQL </a:t>
            </a:r>
            <a:br>
              <a:rPr lang="en-US" sz="2200">
                <a:solidFill>
                  <a:srgbClr val="000000"/>
                </a:solidFill>
              </a:rPr>
            </a:b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Tools and Resources:</a:t>
            </a:r>
            <a:endParaRPr>
              <a:solidFill>
                <a:srgbClr val="0000FF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>
                <a:solidFill>
                  <a:srgbClr val="000000"/>
                </a:solidFill>
              </a:rPr>
              <a:t>Mode Analytics (account required)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>
                <a:solidFill>
                  <a:srgbClr val="000000"/>
                </a:solidFill>
              </a:rPr>
              <a:t>Mode Analytics interactive SQL tutorial</a:t>
            </a:r>
            <a:endParaRPr/>
          </a:p>
          <a:p>
            <a:pPr marL="0" lvl="2" indent="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https://community.modeanalytics.com/sql/tutorial/introduction-to-sql/</a:t>
            </a:r>
            <a:r>
              <a:rPr lang="en-US">
                <a:solidFill>
                  <a:srgbClr val="57B7D9"/>
                </a:solidFill>
              </a:rPr>
              <a:t> </a:t>
            </a:r>
            <a:endParaRPr/>
          </a:p>
        </p:txBody>
      </p:sp>
      <p:pic>
        <p:nvPicPr>
          <p:cNvPr id="360" name="Google Shape;360;p33" descr="Google Shape;646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2773" y="2330861"/>
            <a:ext cx="4400158" cy="2475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9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7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HOMEWORK</a:t>
            </a:r>
            <a:endParaRPr/>
          </a:p>
        </p:txBody>
      </p:sp>
      <p:sp>
        <p:nvSpPr>
          <p:cNvPr id="396" name="Google Shape;396;p39"/>
          <p:cNvSpPr txBox="1">
            <a:spLocks noGrp="1"/>
          </p:cNvSpPr>
          <p:nvPr>
            <p:ph type="body" idx="1"/>
          </p:nvPr>
        </p:nvSpPr>
        <p:spPr>
          <a:xfrm>
            <a:off x="1270000" y="1524000"/>
            <a:ext cx="10709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00FF"/>
                </a:solidFill>
              </a:rPr>
              <a:t>Install </a:t>
            </a:r>
            <a:endParaRPr>
              <a:solidFill>
                <a:srgbClr val="0000FF"/>
              </a:solidFill>
            </a:endParaRPr>
          </a:p>
          <a:p>
            <a:pPr marL="712536" lvl="1" indent="-28073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MongoDB Community Server    </a:t>
            </a:r>
            <a:r>
              <a:rPr lang="en-US" u="sng">
                <a:solidFill>
                  <a:srgbClr val="0000FF"/>
                </a:solidFill>
                <a:hlinkClick r:id="rId3"/>
              </a:rPr>
              <a:t>https://www.mongodb.com/download-center#community</a:t>
            </a:r>
            <a:r>
              <a:rPr lang="en-US" sz="2000">
                <a:solidFill>
                  <a:srgbClr val="0000FF"/>
                </a:solidFill>
              </a:rPr>
              <a:t> </a:t>
            </a:r>
            <a:endParaRPr>
              <a:solidFill>
                <a:srgbClr val="0000FF"/>
              </a:solidFill>
            </a:endParaRPr>
          </a:p>
          <a:p>
            <a:pPr marL="723900" lvl="1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200"/>
              <a:buChar char="•"/>
            </a:pPr>
            <a:r>
              <a:rPr lang="en-US" sz="2200">
                <a:solidFill>
                  <a:srgbClr val="000000"/>
                </a:solidFill>
              </a:rPr>
              <a:t>Neo4j Community Server      </a:t>
            </a:r>
            <a:r>
              <a:rPr lang="en-US" sz="2000" u="sng">
                <a:solidFill>
                  <a:srgbClr val="0000FF"/>
                </a:solidFill>
                <a:hlinkClick r:id="rId4"/>
              </a:rPr>
              <a:t>https://neo4j.com/download-center/#releases</a:t>
            </a:r>
            <a:r>
              <a:rPr lang="en-US" sz="2200">
                <a:solidFill>
                  <a:srgbClr val="0000FF"/>
                </a:solidFill>
              </a:rPr>
              <a:t> </a:t>
            </a:r>
            <a:endParaRPr>
              <a:solidFill>
                <a:srgbClr val="0000FF"/>
              </a:solidFill>
            </a:endParaRPr>
          </a:p>
          <a:p>
            <a:pPr marL="0" lvl="1" indent="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endParaRPr sz="2200">
              <a:solidFill>
                <a:srgbClr val="00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00FF"/>
                </a:solidFill>
              </a:rPr>
              <a:t>Install Python packages:</a:t>
            </a:r>
            <a:endParaRPr>
              <a:solidFill>
                <a:srgbClr val="0000FF"/>
              </a:solidFill>
            </a:endParaRPr>
          </a:p>
          <a:p>
            <a:pPr marL="685800" lvl="1" indent="-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pymongo (conda)</a:t>
            </a:r>
            <a:endParaRPr/>
          </a:p>
          <a:p>
            <a:pPr marL="685800" lvl="1" indent="-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neo4j-driver (pip)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/>
          <p:nvPr/>
        </p:nvSpPr>
        <p:spPr>
          <a:xfrm>
            <a:off x="1267261" y="1523999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Purpose: 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investigate SQL implementation in Python 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Tools and Resources: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Sqlit: Install on your labtop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4572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57B7D9"/>
              </a:buClr>
              <a:buSzPts val="2000"/>
              <a:buFont typeface="Calibri"/>
              <a:buNone/>
            </a:pPr>
            <a:r>
              <a:rPr lang="en-US" sz="2000" b="0" i="0" u="sng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https://www.sqlite.org/download.html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Jupyter Notebooks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66750" marR="0" lvl="1" indent="-20955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 package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sqlite3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400" b="0" i="0" u="none" strike="noStrike" cap="non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228600" marR="0" lvl="0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Arial"/>
              <a:buChar char="•"/>
            </a:pPr>
            <a:r>
              <a:rPr lang="en-US" sz="2200" b="0" i="0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Materials:</a:t>
            </a:r>
            <a:endParaRPr sz="1400" b="0" i="0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‘Lab 2.1.3 – Databases.ipynb’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Data: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‘housing-data.csv’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40" descr="Google Shape;71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3674" y="2748801"/>
            <a:ext cx="3023428" cy="237810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Lab 2.1.3: SQL in Python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Scalable SQL</a:t>
            </a:r>
            <a:endParaRPr/>
          </a:p>
        </p:txBody>
      </p:sp>
      <p:pic>
        <p:nvPicPr>
          <p:cNvPr id="409" name="Google Shape;409;p41" descr="Google Shape;723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3540" y="2659009"/>
            <a:ext cx="2169303" cy="92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1" descr="Google Shape;724;p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3066" y="3906060"/>
            <a:ext cx="2169301" cy="567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1" descr="Google Shape;725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8994" y="2688838"/>
            <a:ext cx="1833302" cy="92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 descr="Google Shape;726;p9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0604" y="3952497"/>
            <a:ext cx="1971603" cy="98550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1"/>
          <p:cNvSpPr txBox="1"/>
          <p:nvPr/>
        </p:nvSpPr>
        <p:spPr>
          <a:xfrm>
            <a:off x="1267261" y="15296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massively parallel processing relational database systems (</a:t>
            </a:r>
            <a:r>
              <a:rPr lang="en-US" sz="24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MPP</a:t>
            </a: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RDBMS)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(expensive) architecture supports scalability and high performance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NoSQL databases </a:t>
            </a:r>
            <a:r>
              <a:rPr lang="en-US" sz="2400" b="0" i="1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SQL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7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1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 dirty="0"/>
              <a:t>NoSQL Databases (example)</a:t>
            </a:r>
            <a:endParaRPr dirty="0"/>
          </a:p>
        </p:txBody>
      </p:sp>
      <p:sp>
        <p:nvSpPr>
          <p:cNvPr id="456" name="Google Shape;456;p47"/>
          <p:cNvSpPr txBox="1"/>
          <p:nvPr/>
        </p:nvSpPr>
        <p:spPr>
          <a:xfrm>
            <a:off x="3142051" y="1745523"/>
            <a:ext cx="8440351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 databases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8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Document Databases</a:t>
            </a:r>
            <a:endParaRPr/>
          </a:p>
        </p:txBody>
      </p:sp>
      <p:sp>
        <p:nvSpPr>
          <p:cNvPr id="462" name="Google Shape;462;p48"/>
          <p:cNvSpPr txBox="1">
            <a:spLocks noGrp="1"/>
          </p:cNvSpPr>
          <p:nvPr>
            <p:ph type="body" idx="1"/>
          </p:nvPr>
        </p:nvSpPr>
        <p:spPr>
          <a:xfrm>
            <a:off x="1277066" y="2614428"/>
            <a:ext cx="5157788" cy="963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XML</a:t>
            </a:r>
            <a:r>
              <a:rPr lang="en-US" b="1">
                <a:solidFill>
                  <a:srgbClr val="0000FF"/>
                </a:solidFill>
              </a:rPr>
              <a:t>: 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000000"/>
                </a:solidFill>
              </a:rPr>
              <a:t>a record is a block of XML tags and values</a:t>
            </a:r>
            <a:endParaRPr/>
          </a:p>
        </p:txBody>
      </p:sp>
      <p:sp>
        <p:nvSpPr>
          <p:cNvPr id="463" name="Google Shape;463;p48"/>
          <p:cNvSpPr txBox="1"/>
          <p:nvPr/>
        </p:nvSpPr>
        <p:spPr>
          <a:xfrm>
            <a:off x="1277066" y="3851562"/>
            <a:ext cx="5157788" cy="20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&lt;contact&gt;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 &lt;firstname&gt;Bob&lt;/firstname&gt;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 &lt;address&gt;5 Oak St.&lt;/lastname&gt;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 &lt;hobby&gt;saling&lt;/hobby&gt;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&lt;/contact&gt;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8"/>
          <p:cNvSpPr txBox="1"/>
          <p:nvPr/>
        </p:nvSpPr>
        <p:spPr>
          <a:xfrm>
            <a:off x="6609477" y="2614428"/>
            <a:ext cx="5183100" cy="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7D9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JSON: 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record is a list of key:value pairs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8"/>
          <p:cNvSpPr txBox="1"/>
          <p:nvPr/>
        </p:nvSpPr>
        <p:spPr>
          <a:xfrm>
            <a:off x="6609477" y="3851562"/>
            <a:ext cx="5183190" cy="20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400" b="0" i="0" u="none" strike="noStrike" cap="none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  "FirstName": "Bob", </a:t>
            </a:r>
            <a:endParaRPr sz="1400" b="0" i="0" u="none" strike="noStrike" cap="none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  "Address": "5 Oak St.", </a:t>
            </a:r>
            <a:endParaRPr sz="1400" b="0" i="0" u="none" strike="noStrike" cap="none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  "Hobby": "sailing"</a:t>
            </a:r>
            <a:endParaRPr sz="1400" b="0" i="0" u="none" strike="noStrike" cap="none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8"/>
          <p:cNvSpPr txBox="1"/>
          <p:nvPr/>
        </p:nvSpPr>
        <p:spPr>
          <a:xfrm>
            <a:off x="1273889" y="1523999"/>
            <a:ext cx="10518779" cy="82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semi-structured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do not all need to have the same fields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9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MongoDB</a:t>
            </a:r>
            <a:endParaRPr/>
          </a:p>
        </p:txBody>
      </p:sp>
      <p:sp>
        <p:nvSpPr>
          <p:cNvPr id="472" name="Google Shape;472;p49"/>
          <p:cNvSpPr txBox="1">
            <a:spLocks noGrp="1"/>
          </p:cNvSpPr>
          <p:nvPr>
            <p:ph type="body" idx="1"/>
          </p:nvPr>
        </p:nvSpPr>
        <p:spPr>
          <a:xfrm>
            <a:off x="1269968" y="15296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an </a:t>
            </a:r>
            <a:r>
              <a:rPr lang="en-US" b="1">
                <a:solidFill>
                  <a:srgbClr val="0000FF"/>
                </a:solidFill>
              </a:rPr>
              <a:t>open-source</a:t>
            </a:r>
            <a:r>
              <a:rPr lang="en-US">
                <a:solidFill>
                  <a:srgbClr val="3F3F3F"/>
                </a:solidFill>
              </a:rPr>
              <a:t> document database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no charge for </a:t>
            </a:r>
            <a:r>
              <a:rPr lang="en-US" i="1"/>
              <a:t>Community Server </a:t>
            </a:r>
            <a:r>
              <a:rPr lang="en-US" sz="2000"/>
              <a:t>version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high performance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>
                <a:solidFill>
                  <a:srgbClr val="0000FF"/>
                </a:solidFill>
              </a:rPr>
              <a:t>embedded data models</a:t>
            </a:r>
            <a:r>
              <a:rPr lang="en-US" sz="2000" b="1">
                <a:solidFill>
                  <a:srgbClr val="0000FF"/>
                </a:solidFill>
              </a:rPr>
              <a:t> </a:t>
            </a:r>
            <a:r>
              <a:rPr lang="en-US" b="0"/>
              <a:t>reduce I/O activity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indexes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 include keys from embedded documents, arrays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high availability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replication facility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automatic fail-over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data redundancy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automatic scalability (horizontal)</a:t>
            </a:r>
            <a:endParaRPr/>
          </a:p>
        </p:txBody>
      </p:sp>
      <p:pic>
        <p:nvPicPr>
          <p:cNvPr id="473" name="Google Shape;473;p49" descr="Google Shape;798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4815" y="4534434"/>
            <a:ext cx="4412976" cy="1198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MongoDB</a:t>
            </a:r>
            <a:endParaRPr/>
          </a:p>
        </p:txBody>
      </p:sp>
      <p:sp>
        <p:nvSpPr>
          <p:cNvPr id="479" name="Google Shape;479;p50"/>
          <p:cNvSpPr txBox="1">
            <a:spLocks noGrp="1"/>
          </p:cNvSpPr>
          <p:nvPr>
            <p:ph type="body" idx="1"/>
          </p:nvPr>
        </p:nvSpPr>
        <p:spPr>
          <a:xfrm>
            <a:off x="1267261" y="15296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CRUD </a:t>
            </a:r>
            <a:r>
              <a:rPr lang="en-US" b="1" i="1">
                <a:solidFill>
                  <a:srgbClr val="FF0000"/>
                </a:solidFill>
              </a:rPr>
              <a:t>√</a:t>
            </a:r>
            <a:endParaRPr b="1" i="1">
              <a:solidFill>
                <a:srgbClr val="FF000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create, read, update, delete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ACID </a:t>
            </a:r>
            <a:r>
              <a:rPr lang="en-US">
                <a:solidFill>
                  <a:srgbClr val="FF0000"/>
                </a:solidFill>
              </a:rPr>
              <a:t>?</a:t>
            </a:r>
            <a:endParaRPr>
              <a:solidFill>
                <a:srgbClr val="FF000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traditionally: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document databases are only ACID-compliant only at document level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no </a:t>
            </a:r>
            <a:r>
              <a:rPr lang="en-US" i="1"/>
              <a:t>transactions</a:t>
            </a:r>
            <a:r>
              <a:rPr lang="en-US">
                <a:solidFill>
                  <a:srgbClr val="3F3F3F"/>
                </a:solidFill>
              </a:rPr>
              <a:t> for containing multiple I/O operations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application code is obliged to emulate transactions, if required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latency results in an </a:t>
            </a:r>
            <a:r>
              <a:rPr lang="en-US" b="1">
                <a:solidFill>
                  <a:srgbClr val="FF0000"/>
                </a:solidFill>
              </a:rPr>
              <a:t>eventual consistency</a:t>
            </a:r>
            <a:r>
              <a:rPr lang="en-US">
                <a:solidFill>
                  <a:srgbClr val="3F3F3F"/>
                </a:solidFill>
              </a:rPr>
              <a:t> model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MongoDB 4.0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introduced transactions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1"/>
          <p:cNvSpPr txBox="1">
            <a:spLocks noGrp="1"/>
          </p:cNvSpPr>
          <p:nvPr>
            <p:ph type="title"/>
          </p:nvPr>
        </p:nvSpPr>
        <p:spPr>
          <a:xfrm>
            <a:off x="1270000" y="381000"/>
            <a:ext cx="10709835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MongoDB: High-Level Objects</a:t>
            </a:r>
            <a:endParaRPr/>
          </a:p>
        </p:txBody>
      </p:sp>
      <p:sp>
        <p:nvSpPr>
          <p:cNvPr id="485" name="Google Shape;485;p51"/>
          <p:cNvSpPr txBox="1">
            <a:spLocks noGrp="1"/>
          </p:cNvSpPr>
          <p:nvPr>
            <p:ph type="body" idx="1"/>
          </p:nvPr>
        </p:nvSpPr>
        <p:spPr>
          <a:xfrm>
            <a:off x="1270000" y="15296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Document</a:t>
            </a:r>
            <a:r>
              <a:rPr lang="en-US" b="1" i="1">
                <a:solidFill>
                  <a:srgbClr val="3F3F3F"/>
                </a:solidFill>
              </a:rPr>
              <a:t>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 set of field:value pairs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values can be hierarchical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analogous to RDB row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3F3F3F"/>
                </a:solidFill>
              </a:rPr>
              <a:t>examples: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3F3F3F"/>
                </a:solidFill>
              </a:rPr>
              <a:t>	</a:t>
            </a:r>
            <a:r>
              <a:rPr lang="en-US" sz="2000">
                <a:solidFill>
                  <a:srgbClr val="7F7F7F"/>
                </a:solidFill>
              </a:rPr>
              <a:t>{ name: “sue”, age: 26, status: “A”, groups: [ “news”, “sports” ] }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7F7F7F"/>
                </a:solidFill>
              </a:rPr>
              <a:t>	{ name: “fred”, status: “A”, groups: [ “sports”, “hobbies”, “cars” ] }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7F7F7F"/>
                </a:solidFill>
              </a:rPr>
              <a:t>	{ name: {  first: “fred”, last: “bloggs” }, status: “A”, groups: [ “sports”, “hobbies”, “cars” ] }</a:t>
            </a:r>
            <a:br>
              <a:rPr lang="en-US" sz="2000">
                <a:solidFill>
                  <a:srgbClr val="7F7F7F"/>
                </a:solidFill>
              </a:rPr>
            </a:br>
            <a:endParaRPr sz="700"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Collection</a:t>
            </a:r>
            <a:r>
              <a:rPr lang="en-US" b="1" i="1">
                <a:solidFill>
                  <a:srgbClr val="3F3F3F"/>
                </a:solidFill>
              </a:rPr>
              <a:t>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 logical group of documents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en-US">
                <a:solidFill>
                  <a:srgbClr val="3F3F3F"/>
                </a:solidFill>
              </a:rPr>
              <a:t>analogous to RDB table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2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MongoDB with Python</a:t>
            </a:r>
            <a:endParaRPr/>
          </a:p>
        </p:txBody>
      </p:sp>
      <p:sp>
        <p:nvSpPr>
          <p:cNvPr id="491" name="Google Shape;491;p52"/>
          <p:cNvSpPr txBox="1">
            <a:spLocks noGrp="1"/>
          </p:cNvSpPr>
          <p:nvPr>
            <p:ph type="body" idx="1"/>
          </p:nvPr>
        </p:nvSpPr>
        <p:spPr>
          <a:xfrm>
            <a:off x="1269999" y="1520825"/>
            <a:ext cx="559992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000000"/>
                </a:solidFill>
              </a:rPr>
              <a:t>example:</a:t>
            </a:r>
            <a:endParaRPr/>
          </a:p>
          <a:p>
            <a:pPr marL="0" lvl="1" indent="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7F7F7F"/>
                </a:solidFill>
              </a:rPr>
              <a:t>import pymongo</a:t>
            </a:r>
            <a:br>
              <a:rPr lang="en-US" sz="1800">
                <a:solidFill>
                  <a:srgbClr val="7F7F7F"/>
                </a:solidFill>
              </a:rPr>
            </a:br>
            <a:r>
              <a:rPr lang="en-US" sz="1800">
                <a:solidFill>
                  <a:srgbClr val="7F7F7F"/>
                </a:solidFill>
              </a:rPr>
              <a:t>connection = pymongo.MongoClient("mongodb://localhost")</a:t>
            </a:r>
            <a:br>
              <a:rPr lang="en-US" sz="1800">
                <a:solidFill>
                  <a:srgbClr val="7F7F7F"/>
                </a:solidFill>
              </a:rPr>
            </a:br>
            <a:r>
              <a:rPr lang="en-US" sz="1800">
                <a:solidFill>
                  <a:srgbClr val="7F7F7F"/>
                </a:solidFill>
              </a:rPr>
              <a:t>db = connection.school</a:t>
            </a:r>
            <a:br>
              <a:rPr lang="en-US" sz="1800">
                <a:solidFill>
                  <a:srgbClr val="7F7F7F"/>
                </a:solidFill>
              </a:rPr>
            </a:br>
            <a:r>
              <a:rPr lang="en-US" sz="1800">
                <a:solidFill>
                  <a:srgbClr val="7F7F7F"/>
                </a:solidFill>
              </a:rPr>
              <a:t>students = db.students</a:t>
            </a:r>
            <a:br>
              <a:rPr lang="en-US" sz="1800">
                <a:solidFill>
                  <a:srgbClr val="7F7F7F"/>
                </a:solidFill>
              </a:rPr>
            </a:br>
            <a:r>
              <a:rPr lang="en-US" sz="1800">
                <a:solidFill>
                  <a:srgbClr val="7F7F7F"/>
                </a:solidFill>
              </a:rPr>
              <a:t>cursor = students.find()</a:t>
            </a:r>
            <a:endParaRPr>
              <a:solidFill>
                <a:srgbClr val="00B050"/>
              </a:solidFill>
            </a:endParaRPr>
          </a:p>
          <a:p>
            <a:pPr marL="0" lvl="1" indent="4572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B050"/>
                </a:solidFill>
              </a:rPr>
              <a:t># find minimum homework score...</a:t>
            </a:r>
            <a:br>
              <a:rPr lang="en-US" sz="1800">
                <a:solidFill>
                  <a:srgbClr val="00B050"/>
                </a:solidFill>
              </a:rPr>
            </a:br>
            <a:r>
              <a:rPr lang="en-US">
                <a:solidFill>
                  <a:srgbClr val="7F7F7F"/>
                </a:solidFill>
              </a:rPr>
              <a:t>for doc in cursor:</a:t>
            </a:r>
            <a:br>
              <a:rPr lang="en-US">
                <a:solidFill>
                  <a:srgbClr val="7F7F7F"/>
                </a:solidFill>
              </a:rPr>
            </a:br>
            <a:r>
              <a:rPr lang="en-US">
                <a:solidFill>
                  <a:srgbClr val="7F7F7F"/>
                </a:solidFill>
              </a:rPr>
              <a:t>    scores = doc["scores"]</a:t>
            </a:r>
            <a:br>
              <a:rPr lang="en-US">
                <a:solidFill>
                  <a:srgbClr val="7F7F7F"/>
                </a:solidFill>
              </a:rPr>
            </a:br>
            <a:r>
              <a:rPr lang="en-US">
                <a:solidFill>
                  <a:srgbClr val="7F7F7F"/>
                </a:solidFill>
              </a:rPr>
              <a:t>    minhs = 101</a:t>
            </a:r>
            <a:br>
              <a:rPr lang="en-US">
                <a:solidFill>
                  <a:srgbClr val="7F7F7F"/>
                </a:solidFill>
              </a:rPr>
            </a:br>
            <a:r>
              <a:rPr lang="en-US">
                <a:solidFill>
                  <a:srgbClr val="7F7F7F"/>
                </a:solidFill>
              </a:rPr>
              <a:t>    for entry in scores:</a:t>
            </a:r>
            <a:br>
              <a:rPr lang="en-US">
                <a:solidFill>
                  <a:srgbClr val="7F7F7F"/>
                </a:solidFill>
              </a:rPr>
            </a:br>
            <a:r>
              <a:rPr lang="en-US">
                <a:solidFill>
                  <a:srgbClr val="7F7F7F"/>
                </a:solidFill>
              </a:rPr>
              <a:t>        if entry["type"] == "homework":</a:t>
            </a:r>
            <a:br>
              <a:rPr lang="en-US">
                <a:solidFill>
                  <a:srgbClr val="7F7F7F"/>
                </a:solidFill>
              </a:rPr>
            </a:br>
            <a:r>
              <a:rPr lang="en-US">
                <a:solidFill>
                  <a:srgbClr val="7F7F7F"/>
                </a:solidFill>
              </a:rPr>
              <a:t>            if entry["score"] &lt; minhs:</a:t>
            </a:r>
            <a:br>
              <a:rPr lang="en-US">
                <a:solidFill>
                  <a:srgbClr val="7F7F7F"/>
                </a:solidFill>
              </a:rPr>
            </a:br>
            <a:r>
              <a:rPr lang="en-US">
                <a:solidFill>
                  <a:srgbClr val="7F7F7F"/>
                </a:solidFill>
              </a:rPr>
              <a:t>                minhs = entry["score"]</a:t>
            </a:r>
            <a:endParaRPr/>
          </a:p>
        </p:txBody>
      </p:sp>
      <p:sp>
        <p:nvSpPr>
          <p:cNvPr id="492" name="Google Shape;492;p52"/>
          <p:cNvSpPr txBox="1"/>
          <p:nvPr/>
        </p:nvSpPr>
        <p:spPr>
          <a:xfrm>
            <a:off x="7065864" y="1654629"/>
            <a:ext cx="4719738" cy="4217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mongod client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 to database ‘school’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alias for table ‘students’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fetch all rows into cursor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975" marR="0" lvl="0" indent="-95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through docs in cursor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value (doc) associated with key ‘scores’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initialise min to impossibly large value (&gt; 100%)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loop through ‘scores’ docs, looking for ‘homework’ keys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each corresponding score to find new minimum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743"/>
              <a:buFont typeface="Calibri"/>
              <a:buNone/>
            </a:pPr>
            <a:r>
              <a:rPr lang="en-US" sz="3743"/>
              <a:t>Lab 2.1.4: Python with MongoDB (Optional homework)</a:t>
            </a:r>
            <a:endParaRPr/>
          </a:p>
        </p:txBody>
      </p:sp>
      <p:sp>
        <p:nvSpPr>
          <p:cNvPr id="498" name="Google Shape;498;p53"/>
          <p:cNvSpPr txBox="1">
            <a:spLocks noGrp="1"/>
          </p:cNvSpPr>
          <p:nvPr>
            <p:ph type="body" idx="1"/>
          </p:nvPr>
        </p:nvSpPr>
        <p:spPr>
          <a:xfrm>
            <a:off x="1267261" y="15296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Purpose</a:t>
            </a:r>
            <a:r>
              <a:rPr lang="en-US">
                <a:solidFill>
                  <a:srgbClr val="000000"/>
                </a:solidFill>
              </a:rPr>
              <a:t>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To develop skills in NoSQL database programming with MongoDB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FF"/>
                </a:solidFill>
              </a:rPr>
              <a:t>Materials:</a:t>
            </a:r>
            <a:endParaRPr>
              <a:solidFill>
                <a:srgbClr val="0000FF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‘Lab 2.1.4.ipynb’</a:t>
            </a:r>
            <a:endParaRPr/>
          </a:p>
        </p:txBody>
      </p:sp>
      <p:pic>
        <p:nvPicPr>
          <p:cNvPr id="499" name="Google Shape;499;p53" descr="Google Shape;843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1384" y="3316235"/>
            <a:ext cx="3833096" cy="25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Discussion: SQL vs NoSQL</a:t>
            </a:r>
            <a:endParaRPr/>
          </a:p>
        </p:txBody>
      </p:sp>
      <p:graphicFrame>
        <p:nvGraphicFramePr>
          <p:cNvPr id="544" name="Google Shape;544;p60"/>
          <p:cNvGraphicFramePr/>
          <p:nvPr/>
        </p:nvGraphicFramePr>
        <p:xfrm>
          <a:off x="1314106" y="1518978"/>
          <a:ext cx="7794425" cy="4162480"/>
        </p:xfrm>
        <a:graphic>
          <a:graphicData uri="http://schemas.openxmlformats.org/drawingml/2006/table">
            <a:tbl>
              <a:tblPr>
                <a:noFill/>
                <a:tableStyleId>{42DF0A7F-B584-4DF7-BCE7-CE5F738F4906}</a:tableStyleId>
              </a:tblPr>
              <a:tblGrid>
                <a:gridCol w="355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Proxima Nova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SQL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Proxima Nova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NoSQL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Traditional rows and columns</a:t>
                      </a:r>
                      <a:endParaRPr sz="1400" u="none" strike="noStrike" cap="none"/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governed data model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 predefined data structure</a:t>
                      </a:r>
                      <a:endParaRPr sz="1400" u="none" strike="noStrike" cap="none"/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database at mercy of developers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Strict structure (incl. primary keys)</a:t>
                      </a:r>
                      <a:endParaRPr sz="1400" u="none" strike="noStrike" cap="none"/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schema changes difficult, risky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Ideal for unstructured data</a:t>
                      </a:r>
                      <a:endParaRPr sz="1400" u="none" strike="noStrike" cap="none"/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schema can change with application requirements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Entire column for each feature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Cheaper hardware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Industry standard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Supports design flexibility &amp; growth</a:t>
                      </a:r>
                      <a:endParaRPr sz="1400" u="none" strike="noStrike" cap="none"/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Char char="➢"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popular among startups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ACID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roxima Nova"/>
                        <a:buNone/>
                      </a:pPr>
                      <a:r>
                        <a:rPr lang="en-US" sz="1800" u="none" strike="noStrike" cap="none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Application code must manage transactions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"/>
          <p:cNvSpPr txBox="1">
            <a:spLocks noGrp="1"/>
          </p:cNvSpPr>
          <p:nvPr>
            <p:ph type="title"/>
          </p:nvPr>
        </p:nvSpPr>
        <p:spPr>
          <a:xfrm>
            <a:off x="1524000" y="1340729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6000"/>
              <a:buFont typeface="Calibri"/>
              <a:buNone/>
            </a:pPr>
            <a:r>
              <a:rPr lang="en-US" sz="6000"/>
              <a:t>Questions?</a:t>
            </a:r>
            <a:endParaRPr/>
          </a:p>
        </p:txBody>
      </p:sp>
      <p:sp>
        <p:nvSpPr>
          <p:cNvPr id="556" name="Google Shape;556;p62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406400" marR="0" lvl="0" indent="-355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3"/>
          <p:cNvSpPr txBox="1">
            <a:spLocks noGrp="1"/>
          </p:cNvSpPr>
          <p:nvPr>
            <p:ph type="title"/>
          </p:nvPr>
        </p:nvSpPr>
        <p:spPr>
          <a:xfrm>
            <a:off x="1524000" y="149085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6000"/>
              <a:buFont typeface="Calibri"/>
              <a:buNone/>
            </a:pPr>
            <a:r>
              <a:rPr lang="en-US" sz="6000"/>
              <a:t>Appendices</a:t>
            </a:r>
            <a:endParaRPr/>
          </a:p>
        </p:txBody>
      </p:sp>
      <p:sp>
        <p:nvSpPr>
          <p:cNvPr id="562" name="Google Shape;562;p63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406400" marR="0" lvl="0" indent="-355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lvl="0">
              <a:buSzPts val="4400"/>
            </a:pPr>
            <a:r>
              <a:rPr lang="en-US" sz="4400" dirty="0"/>
              <a:t>1. Relational Databases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27643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4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Relational Databases – </a:t>
            </a:r>
            <a:r>
              <a:rPr lang="en-US" sz="3600" b="0" i="0" u="none" strike="noStrike" cap="none" dirty="0" err="1">
                <a:latin typeface="Calibri"/>
                <a:ea typeface="Calibri"/>
                <a:cs typeface="Calibri"/>
                <a:sym typeface="Calibri"/>
              </a:rPr>
              <a:t>Normalisation</a:t>
            </a:r>
            <a:endParaRPr dirty="0"/>
          </a:p>
        </p:txBody>
      </p:sp>
      <p:sp>
        <p:nvSpPr>
          <p:cNvPr id="568" name="Google Shape;568;p64"/>
          <p:cNvSpPr txBox="1">
            <a:spLocks noGrp="1"/>
          </p:cNvSpPr>
          <p:nvPr>
            <p:ph type="body" idx="1"/>
          </p:nvPr>
        </p:nvSpPr>
        <p:spPr>
          <a:xfrm>
            <a:off x="1267261" y="1682024"/>
            <a:ext cx="10709835" cy="165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Codd’s 1st-normal form</a:t>
            </a:r>
            <a:endParaRPr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the domain of each attribute contains only atomic (indivisible) values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the value of each attribute contains only a single value from that domain</a:t>
            </a:r>
            <a:endParaRPr/>
          </a:p>
        </p:txBody>
      </p:sp>
      <p:pic>
        <p:nvPicPr>
          <p:cNvPr id="569" name="Google Shape;569;p64" descr="Google Shape;406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4620" y="3486475"/>
            <a:ext cx="4823930" cy="152763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4"/>
          <p:cNvSpPr/>
          <p:nvPr/>
        </p:nvSpPr>
        <p:spPr>
          <a:xfrm>
            <a:off x="3471733" y="5241154"/>
            <a:ext cx="680734" cy="78225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3860"/>
                </a:moveTo>
                <a:lnTo>
                  <a:pt x="5679" y="0"/>
                </a:lnTo>
                <a:lnTo>
                  <a:pt x="10800" y="5706"/>
                </a:lnTo>
                <a:lnTo>
                  <a:pt x="15921" y="0"/>
                </a:lnTo>
                <a:lnTo>
                  <a:pt x="21600" y="3860"/>
                </a:lnTo>
                <a:lnTo>
                  <a:pt x="15372" y="10800"/>
                </a:lnTo>
                <a:lnTo>
                  <a:pt x="21600" y="17740"/>
                </a:lnTo>
                <a:lnTo>
                  <a:pt x="15921" y="21600"/>
                </a:lnTo>
                <a:lnTo>
                  <a:pt x="10800" y="15894"/>
                </a:lnTo>
                <a:lnTo>
                  <a:pt x="5679" y="21600"/>
                </a:lnTo>
                <a:lnTo>
                  <a:pt x="0" y="17740"/>
                </a:lnTo>
                <a:lnTo>
                  <a:pt x="6228" y="10800"/>
                </a:ln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4"/>
          <p:cNvSpPr/>
          <p:nvPr/>
        </p:nvSpPr>
        <p:spPr>
          <a:xfrm>
            <a:off x="6204141" y="4057065"/>
            <a:ext cx="734474" cy="5582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57070"/>
          </a:solidFill>
          <a:ln w="2857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2" name="Google Shape;572;p64" descr="Google Shape;410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4206" y="3428620"/>
            <a:ext cx="4404052" cy="1815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5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latin typeface="Calibri"/>
                <a:ea typeface="Calibri"/>
                <a:cs typeface="Calibri"/>
                <a:sym typeface="Calibri"/>
              </a:rPr>
              <a:t>Relational Databases – – Normalisation - cont’d</a:t>
            </a:r>
            <a:endParaRPr/>
          </a:p>
        </p:txBody>
      </p:sp>
      <p:sp>
        <p:nvSpPr>
          <p:cNvPr id="578" name="Google Shape;578;p65"/>
          <p:cNvSpPr txBox="1"/>
          <p:nvPr/>
        </p:nvSpPr>
        <p:spPr>
          <a:xfrm>
            <a:off x="1269998" y="1426682"/>
            <a:ext cx="9973658" cy="1779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7D9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Codd’s 2nd-normal form</a:t>
            </a:r>
            <a:endParaRPr sz="1400" b="0" i="0" u="none" strike="noStrike" cap="none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1st-normal 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non-prime attribute is dependent on any proper subset of any candidate key of the relation</a:t>
            </a:r>
            <a:br>
              <a:rPr lang="en-US"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(an attribute that is not a part of any candidate key of the relation)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65"/>
          <p:cNvSpPr/>
          <p:nvPr/>
        </p:nvSpPr>
        <p:spPr>
          <a:xfrm>
            <a:off x="3233914" y="5526840"/>
            <a:ext cx="680734" cy="78225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3860"/>
                </a:moveTo>
                <a:lnTo>
                  <a:pt x="5679" y="0"/>
                </a:lnTo>
                <a:lnTo>
                  <a:pt x="10800" y="5706"/>
                </a:lnTo>
                <a:lnTo>
                  <a:pt x="15921" y="0"/>
                </a:lnTo>
                <a:lnTo>
                  <a:pt x="21600" y="3860"/>
                </a:lnTo>
                <a:lnTo>
                  <a:pt x="15372" y="10800"/>
                </a:lnTo>
                <a:lnTo>
                  <a:pt x="21600" y="17740"/>
                </a:lnTo>
                <a:lnTo>
                  <a:pt x="15921" y="21600"/>
                </a:lnTo>
                <a:lnTo>
                  <a:pt x="10800" y="15894"/>
                </a:lnTo>
                <a:lnTo>
                  <a:pt x="5679" y="21600"/>
                </a:lnTo>
                <a:lnTo>
                  <a:pt x="0" y="17740"/>
                </a:lnTo>
                <a:lnTo>
                  <a:pt x="6228" y="10800"/>
                </a:ln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5"/>
          <p:cNvSpPr/>
          <p:nvPr/>
        </p:nvSpPr>
        <p:spPr>
          <a:xfrm>
            <a:off x="6462148" y="4279801"/>
            <a:ext cx="734474" cy="5582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57070"/>
          </a:solidFill>
          <a:ln w="2857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p65" descr="Google Shape;422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2213" y="3433664"/>
            <a:ext cx="4431411" cy="201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65" descr="Google Shape;423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145" y="3239535"/>
            <a:ext cx="3340362" cy="3233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6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latin typeface="Calibri"/>
                <a:ea typeface="Calibri"/>
                <a:cs typeface="Calibri"/>
                <a:sym typeface="Calibri"/>
              </a:rPr>
              <a:t>Relational Databases – – Normalisation - cont’d</a:t>
            </a:r>
            <a:endParaRPr/>
          </a:p>
        </p:txBody>
      </p:sp>
      <p:sp>
        <p:nvSpPr>
          <p:cNvPr id="588" name="Google Shape;588;p66"/>
          <p:cNvSpPr txBox="1">
            <a:spLocks noGrp="1"/>
          </p:cNvSpPr>
          <p:nvPr>
            <p:ph type="body" idx="1"/>
          </p:nvPr>
        </p:nvSpPr>
        <p:spPr>
          <a:xfrm>
            <a:off x="1267261" y="1377223"/>
            <a:ext cx="10709835" cy="1380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0000FF"/>
                </a:solidFill>
              </a:rPr>
              <a:t>Codd’s 3rd-normal form</a:t>
            </a:r>
            <a:endParaRPr>
              <a:solidFill>
                <a:srgbClr val="0000FF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in 2nd-normal form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-US" sz="2000"/>
              <a:t>every non-prime attribute (of a table) is non-transitively dependent on every key (of a table) </a:t>
            </a:r>
            <a:endParaRPr/>
          </a:p>
        </p:txBody>
      </p:sp>
      <p:sp>
        <p:nvSpPr>
          <p:cNvPr id="589" name="Google Shape;589;p66"/>
          <p:cNvSpPr/>
          <p:nvPr/>
        </p:nvSpPr>
        <p:spPr>
          <a:xfrm>
            <a:off x="2976259" y="5069640"/>
            <a:ext cx="680734" cy="78225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3860"/>
                </a:moveTo>
                <a:lnTo>
                  <a:pt x="5679" y="0"/>
                </a:lnTo>
                <a:lnTo>
                  <a:pt x="10800" y="5706"/>
                </a:lnTo>
                <a:lnTo>
                  <a:pt x="15921" y="0"/>
                </a:lnTo>
                <a:lnTo>
                  <a:pt x="21600" y="3860"/>
                </a:lnTo>
                <a:lnTo>
                  <a:pt x="15372" y="10800"/>
                </a:lnTo>
                <a:lnTo>
                  <a:pt x="21600" y="17740"/>
                </a:lnTo>
                <a:lnTo>
                  <a:pt x="15921" y="21600"/>
                </a:lnTo>
                <a:lnTo>
                  <a:pt x="10800" y="15894"/>
                </a:lnTo>
                <a:lnTo>
                  <a:pt x="5679" y="21600"/>
                </a:lnTo>
                <a:lnTo>
                  <a:pt x="0" y="17740"/>
                </a:lnTo>
                <a:lnTo>
                  <a:pt x="6228" y="10800"/>
                </a:ln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66"/>
          <p:cNvSpPr/>
          <p:nvPr/>
        </p:nvSpPr>
        <p:spPr>
          <a:xfrm>
            <a:off x="5507994" y="3670201"/>
            <a:ext cx="734474" cy="5582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57070"/>
          </a:solidFill>
          <a:ln w="2857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66"/>
          <p:cNvSpPr txBox="1"/>
          <p:nvPr/>
        </p:nvSpPr>
        <p:spPr>
          <a:xfrm>
            <a:off x="7626739" y="3290315"/>
            <a:ext cx="1418256" cy="13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Google Shape;592;p66" descr="Google Shape;435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940" y="2971798"/>
            <a:ext cx="4292147" cy="1870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66" descr="Google Shape;436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9751" y="2915858"/>
            <a:ext cx="5648155" cy="1917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7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Which RDBMS Object to Use When</a:t>
            </a:r>
            <a:endParaRPr/>
          </a:p>
        </p:txBody>
      </p:sp>
      <p:sp>
        <p:nvSpPr>
          <p:cNvPr id="599" name="Google Shape;599;p67"/>
          <p:cNvSpPr txBox="1"/>
          <p:nvPr/>
        </p:nvSpPr>
        <p:spPr>
          <a:xfrm>
            <a:off x="6609477" y="1520031"/>
            <a:ext cx="5181604" cy="4009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formatted output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containers based on tables, views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&amp; graphics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usually provided via a separate application (designed for but existing outside the RDBMS)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built-in subscription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67"/>
          <p:cNvSpPr txBox="1"/>
          <p:nvPr/>
        </p:nvSpPr>
        <p:spPr>
          <a:xfrm>
            <a:off x="1275476" y="1520031"/>
            <a:ext cx="5181605" cy="435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 hoc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stored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generated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application code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stored (</a:t>
            </a: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reusable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queries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incorporate </a:t>
            </a: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joins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with other views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preferable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queries in application code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stored procedures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more powerful than views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(can query and/or modify data)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preferred for delivering data to applications (</a:t>
            </a:r>
            <a:r>
              <a:rPr lang="en-US" sz="20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security, control, maintainability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Discussion</a:t>
            </a:r>
            <a:endParaRPr/>
          </a:p>
        </p:txBody>
      </p:sp>
      <p:sp>
        <p:nvSpPr>
          <p:cNvPr id="329" name="Google Shape;329;p28"/>
          <p:cNvSpPr txBox="1">
            <a:spLocks noGrp="1"/>
          </p:cNvSpPr>
          <p:nvPr>
            <p:ph type="body" idx="1"/>
          </p:nvPr>
        </p:nvSpPr>
        <p:spPr>
          <a:xfrm>
            <a:off x="1270000" y="1524000"/>
            <a:ext cx="10709834" cy="454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Why is the RDBMS still in use?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endParaRPr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QUESTIONS?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73481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1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lvl="0">
              <a:buSzPts val="4400"/>
            </a:pPr>
            <a:r>
              <a:rPr lang="en-US" sz="4400" dirty="0"/>
              <a:t>2. SQL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7528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/>
          <p:nvPr/>
        </p:nvSpPr>
        <p:spPr>
          <a:xfrm>
            <a:off x="1267261" y="1529623"/>
            <a:ext cx="10709835" cy="48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Purpose: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account in </a:t>
            </a:r>
            <a:r>
              <a:rPr lang="en-US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Mode Analytics</a:t>
            </a:r>
            <a:endParaRPr sz="1400" b="1" i="0" u="none" strike="noStrike" cap="none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discover the basic features of SQL </a:t>
            </a:r>
            <a:b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Tools and Resources: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 Analytics (account required)</a:t>
            </a:r>
            <a:b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Materials: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 Analytics interactive SQL tutorial</a:t>
            </a:r>
            <a:b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sng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https://community.modeanalytics.com/sql/tutorial/introduction-to-sql/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US" sz="4400"/>
              <a:t>Lab 2.1.1: SQL</a:t>
            </a:r>
            <a:endParaRPr/>
          </a:p>
        </p:txBody>
      </p:sp>
      <p:pic>
        <p:nvPicPr>
          <p:cNvPr id="311" name="Google Shape;311;p25" descr="Google Shape;546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9839" y="1323993"/>
            <a:ext cx="3171828" cy="2457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8"/>
          <p:cNvSpPr txBox="1">
            <a:spLocks noGrp="1"/>
          </p:cNvSpPr>
          <p:nvPr>
            <p:ph type="title"/>
          </p:nvPr>
        </p:nvSpPr>
        <p:spPr>
          <a:xfrm>
            <a:off x="1524000" y="149085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6000"/>
              <a:buFont typeface="Calibri"/>
              <a:buNone/>
            </a:pPr>
            <a:r>
              <a:rPr lang="en-US" sz="6000"/>
              <a:t>End of </a:t>
            </a:r>
            <a:r>
              <a:rPr lang="en-US"/>
              <a:t>P</a:t>
            </a:r>
            <a:r>
              <a:rPr lang="en-US" sz="6000"/>
              <a:t>resentation!</a:t>
            </a:r>
            <a:endParaRPr/>
          </a:p>
        </p:txBody>
      </p:sp>
      <p:sp>
        <p:nvSpPr>
          <p:cNvPr id="606" name="Google Shape;606;p68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406400" marR="0" lvl="0" indent="-355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2668</Words>
  <Application>Microsoft Macintosh PowerPoint</Application>
  <PresentationFormat>Widescreen</PresentationFormat>
  <Paragraphs>435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Helvetica Neue</vt:lpstr>
      <vt:lpstr>Proxima Nova</vt:lpstr>
      <vt:lpstr>Helvetica</vt:lpstr>
      <vt:lpstr>Cambria</vt:lpstr>
      <vt:lpstr>Arial Narrow</vt:lpstr>
      <vt:lpstr>Calibri</vt:lpstr>
      <vt:lpstr>Custom Design</vt:lpstr>
      <vt:lpstr>PowerPoint Presentation</vt:lpstr>
      <vt:lpstr>Data Science and AI</vt:lpstr>
      <vt:lpstr>Agenda: Module 2 Part 1</vt:lpstr>
      <vt:lpstr>Introduction to Databases</vt:lpstr>
      <vt:lpstr>Introduction to Databases</vt:lpstr>
      <vt:lpstr>Why Use a Database?</vt:lpstr>
      <vt:lpstr>Database Application Areas - Examples</vt:lpstr>
      <vt:lpstr>Database Elements</vt:lpstr>
      <vt:lpstr>Database Principles: Transactional Integrity</vt:lpstr>
      <vt:lpstr>Database Principles: ACID</vt:lpstr>
      <vt:lpstr>The relational Database Paradigm</vt:lpstr>
      <vt:lpstr>Relational Databases</vt:lpstr>
      <vt:lpstr>RDBMS</vt:lpstr>
      <vt:lpstr>Database Schema</vt:lpstr>
      <vt:lpstr>SQL (Structured Query Language)</vt:lpstr>
      <vt:lpstr>SQL – cont’d</vt:lpstr>
      <vt:lpstr>SQL – cont’d</vt:lpstr>
      <vt:lpstr>SQL – cont’d</vt:lpstr>
      <vt:lpstr>Primary and Foreign Keys</vt:lpstr>
      <vt:lpstr>Joins</vt:lpstr>
      <vt:lpstr>Joins – cont’d</vt:lpstr>
      <vt:lpstr>Joins – cont’d</vt:lpstr>
      <vt:lpstr>Joins – cont’d</vt:lpstr>
      <vt:lpstr>Database Administration</vt:lpstr>
      <vt:lpstr>Database Scripting</vt:lpstr>
      <vt:lpstr>Advanced SQL</vt:lpstr>
      <vt:lpstr>SQL Aggregation functions</vt:lpstr>
      <vt:lpstr>Aggregating by Groups in SQL</vt:lpstr>
      <vt:lpstr>SQL Window Functions</vt:lpstr>
      <vt:lpstr>Lab 2.1.2: Advanced SQL</vt:lpstr>
      <vt:lpstr>HOMEWORK</vt:lpstr>
      <vt:lpstr>Lab 2.1.3: SQL in Python</vt:lpstr>
      <vt:lpstr>Scalable SQL</vt:lpstr>
      <vt:lpstr>NoSQL Databases (example)</vt:lpstr>
      <vt:lpstr>Document Databases</vt:lpstr>
      <vt:lpstr>MongoDB</vt:lpstr>
      <vt:lpstr>MongoDB</vt:lpstr>
      <vt:lpstr>MongoDB: High-Level Objects</vt:lpstr>
      <vt:lpstr>MongoDB with Python</vt:lpstr>
      <vt:lpstr>Lab 2.1.4: Python with MongoDB (Optional homework)</vt:lpstr>
      <vt:lpstr>Discussion: SQL vs NoSQL</vt:lpstr>
      <vt:lpstr>Questions?</vt:lpstr>
      <vt:lpstr>Appendices</vt:lpstr>
      <vt:lpstr>1. Relational Databases</vt:lpstr>
      <vt:lpstr>Relational Databases – Normalisation</vt:lpstr>
      <vt:lpstr>Relational Databases – – Normalisation - cont’d</vt:lpstr>
      <vt:lpstr>Relational Databases – – Normalisation - cont’d</vt:lpstr>
      <vt:lpstr>Which RDBMS Object to Use When</vt:lpstr>
      <vt:lpstr>Discussion</vt:lpstr>
      <vt:lpstr>2. SQL</vt:lpstr>
      <vt:lpstr>Lab 2.1.1: SQL</vt:lpstr>
      <vt:lpstr>End of Presentation!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Matt Burnham</cp:lastModifiedBy>
  <cp:revision>6</cp:revision>
  <dcterms:modified xsi:type="dcterms:W3CDTF">2021-05-04T07:56:56Z</dcterms:modified>
</cp:coreProperties>
</file>