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7" r:id="rId4"/>
    <p:sldId id="274" r:id="rId5"/>
    <p:sldId id="257" r:id="rId6"/>
    <p:sldId id="268" r:id="rId7"/>
    <p:sldId id="258" r:id="rId8"/>
    <p:sldId id="284" r:id="rId9"/>
    <p:sldId id="259" r:id="rId10"/>
    <p:sldId id="276" r:id="rId11"/>
    <p:sldId id="278" r:id="rId12"/>
    <p:sldId id="281" r:id="rId13"/>
    <p:sldId id="272" r:id="rId14"/>
    <p:sldId id="279" r:id="rId15"/>
    <p:sldId id="283" r:id="rId16"/>
    <p:sldId id="282" r:id="rId17"/>
    <p:sldId id="270" r:id="rId18"/>
    <p:sldId id="263" r:id="rId19"/>
    <p:sldId id="266" r:id="rId20"/>
    <p:sldId id="265" r:id="rId21"/>
    <p:sldId id="275" r:id="rId22"/>
    <p:sldId id="287" r:id="rId23"/>
    <p:sldId id="285" r:id="rId24"/>
    <p:sldId id="288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75"/>
    <p:restoredTop sz="94694"/>
  </p:normalViewPr>
  <p:slideViewPr>
    <p:cSldViewPr snapToGrid="0" snapToObjects="1">
      <p:cViewPr>
        <p:scale>
          <a:sx n="69" d="100"/>
          <a:sy n="69" d="100"/>
        </p:scale>
        <p:origin x="48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C3B2-1655-2644-B8BB-73B2579D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C6473-7897-DD4E-A063-BA7EBE7D8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EAF14-7595-5147-A669-771AB1B9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87762-B71A-2B46-B94C-E19C3D9C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8985B-03C2-A349-BE07-5B7BB601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5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B7CD-1554-0341-B347-43498751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05E9E-DE8F-1447-94AF-773D680D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9A417-24D4-0F40-ABD0-C1016ECC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6E934-55EF-BC41-9594-91B4ADD8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8A7C-0150-2941-AD90-D091988E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0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45BC-B4E9-134D-9FAF-BDDF8148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C24A7-2697-3A47-AB85-930118BB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ED5E-2081-1442-BFFF-0EA5BCB1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06F2B-5A67-CE4C-9A54-B8AE017E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42306-0995-2D48-B834-CE96BD14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5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A1A9-BB65-6F48-B3D4-DE7ACD72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E103-BD73-8D42-A553-483C1B095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D0C4E-9846-9547-BB2C-3CF4F69E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CB40B-25FB-B743-BF06-C5EE465D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64E27-A469-5444-819D-21D96C9F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721A9-FF11-8C46-B078-4EF70267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4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386E-62D1-8249-97A0-392E7EC0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EA21B-9DB8-EB49-896A-D5E6354B5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33B92-D72B-EE4A-B75E-D94E1D95A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ED2353-7215-1545-AA37-1FC9EE39E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31B54-175D-9746-8054-DF7A2C732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2D461-EA39-1643-9489-93AEF15D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6F330-4FCE-A74E-B028-555A61E9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689EF-A1C4-6948-8CF7-8E6B06EC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3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9323-5802-6A40-8DCC-ECEB9BF3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1158E-F3B0-9D4F-943B-412058AF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7D1A4-6CBA-D440-84A1-9AE295A6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F6A43-9B2A-A945-89FA-1C8C4DC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8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9ACF1-A29C-FA49-83C9-6050D37F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5A956-15D6-844C-9C56-C373E7FFD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24128-AB05-FE49-8330-138C023E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6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5ECB-2D82-8E4A-B67D-09355224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D1D1-648A-0545-84BA-F91A67D5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B089D-5676-994F-AEFB-D2D0E3F49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2C547-A1E3-1948-A1C1-2E8AC77F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A5BB1-8C33-AE47-B694-1C48C6E5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BB744-B1DB-DE44-A71C-018CA171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3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3680-E1A7-3048-B712-95138013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8EB02-71BC-8241-88E1-E98D3B156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14C83-8F11-5E40-BF49-632D9F492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6534B-B390-6847-B811-41B2AD64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7F026-033A-1242-A877-43813193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05F03-DF64-434B-9739-DB7883ED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2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6EB6-1B23-7D4F-86A0-CB926317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71F2F-7298-8D49-93E1-C7659D20A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A7FAF-9BF7-F94C-BE57-E4C8FF22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88B87-74AE-3346-BBA5-F3F48EC9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3B2CD-1B87-374A-8D7B-7C1978ED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5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B3D3D-23C3-2E44-8286-7C9C83F57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CD1DA-E33B-F548-B325-5275DA1A8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DEAE-08C9-9145-B938-04B0C7FE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E79F1-056C-964E-8696-82B09E2F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130D-6D8E-074B-960C-1230C5A5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53E45-AB05-D646-B945-E107A2E7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3920-1B8D-464F-8467-6EBBF7B34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550A-35C7-7C42-8715-E48B78A9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2D243-A02D-E741-946F-C165540A988B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4689D-057C-504A-96F4-939AD626D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5C4C3-BC0B-ED4E-82AF-9C61BEB14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3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ba.gov.au/statistics/cash-rate/" TargetMode="External"/><Relationship Id="rId2" Type="http://schemas.openxmlformats.org/officeDocument/2006/relationships/hyperlink" Target="https://www2.asx.com.au/about/market-statistics/historical-market-statistic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BBC4-1D13-504E-9B4F-6FC2EF027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Mini Project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1FA57-E926-9349-80BB-B3B4B4980B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February 2021</a:t>
            </a:r>
          </a:p>
          <a:p>
            <a:r>
              <a:rPr lang="en-US" dirty="0" err="1"/>
              <a:t>Jin</a:t>
            </a:r>
            <a:r>
              <a:rPr lang="en-US" dirty="0"/>
              <a:t> Yang</a:t>
            </a:r>
          </a:p>
        </p:txBody>
      </p:sp>
    </p:spTree>
    <p:extLst>
      <p:ext uri="{BB962C8B-B14F-4D97-AF65-F5344CB8AC3E}">
        <p14:creationId xmlns:p14="http://schemas.microsoft.com/office/powerpoint/2010/main" val="173648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375D-2440-B04E-825E-EC4E9F44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F01C-9CC4-6E46-9845-BDF27FC7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Past performance is no guarantee of future results. </a:t>
            </a:r>
          </a:p>
          <a:p>
            <a:r>
              <a:rPr lang="en-US" dirty="0"/>
              <a:t>The analysis presented in this presentation is to provide information on historical data and has no intention to provide any financial advice.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72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79BD-8899-724C-AFA2-C1BA3394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97A2-2F4B-404D-981D-7564986E0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capitalization of the Australian Securities Exchange has increased from $1.629 trillion as at December 2015 to $2.237 trillion as at December 2020 (ASX, 2021). </a:t>
            </a:r>
          </a:p>
          <a:p>
            <a:r>
              <a:rPr lang="en-US" dirty="0"/>
              <a:t>With a low cash rate of 0.10% (effectively from 2 December (RBA,2021)), many retail investors are investing more into Australian share market (</a:t>
            </a:r>
            <a:r>
              <a:rPr lang="en-US" dirty="0" err="1"/>
              <a:t>Vickovich</a:t>
            </a:r>
            <a:r>
              <a:rPr lang="en-US" dirty="0"/>
              <a:t>, 2020). </a:t>
            </a:r>
          </a:p>
          <a:p>
            <a:r>
              <a:rPr lang="en-US" dirty="0"/>
              <a:t>However, the market is risky, volatile and uncertain. </a:t>
            </a:r>
          </a:p>
          <a:p>
            <a:r>
              <a:rPr lang="en-US" dirty="0"/>
              <a:t>These investors may not outperform the market.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02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721FC-EBA2-6048-AA11-BF97CB5C9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38" y="640081"/>
            <a:ext cx="2608655" cy="52577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2C2C2C"/>
                </a:solidFill>
              </a:rPr>
              <a:t>Market ASX200 index and volatility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hart&#10;&#10;Description automatically generated">
            <a:extLst>
              <a:ext uri="{FF2B5EF4-FFF2-40B4-BE49-F238E27FC236}">
                <a16:creationId xmlns:a16="http://schemas.microsoft.com/office/drawing/2014/main" id="{308CBA9B-4507-7743-BC98-561B3B8ED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539"/>
          <a:stretch/>
        </p:blipFill>
        <p:spPr>
          <a:xfrm>
            <a:off x="4062964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0132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1C73-F41B-8F40-B35C-C83C1664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7E9DB-4B73-CF42-A1E4-2B5EBD13F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Is there a relationship between value portfolio criteria and share price? </a:t>
            </a:r>
          </a:p>
          <a:p>
            <a:r>
              <a:rPr lang="en-US" dirty="0"/>
              <a:t>Can we predict the returns using value investing criteria? </a:t>
            </a:r>
          </a:p>
          <a:p>
            <a:r>
              <a:rPr lang="en-US" dirty="0"/>
              <a:t>Does value investing portfolio outperform ASX200 index for the past 5 years?</a:t>
            </a:r>
          </a:p>
          <a:p>
            <a:r>
              <a:rPr lang="en-US" dirty="0"/>
              <a:t>Objectives</a:t>
            </a:r>
          </a:p>
          <a:p>
            <a:pPr lvl="1"/>
            <a:r>
              <a:rPr lang="en-US" dirty="0"/>
              <a:t>To determine value investing criteria</a:t>
            </a:r>
          </a:p>
          <a:p>
            <a:pPr lvl="1"/>
            <a:r>
              <a:rPr lang="en-US" dirty="0"/>
              <a:t>To examine the relationship between value investing criteria and returns</a:t>
            </a:r>
          </a:p>
          <a:p>
            <a:pPr lvl="1"/>
            <a:r>
              <a:rPr lang="en-US" dirty="0"/>
              <a:t>To investigate the relationship between value investing portfolio and ASX 200 index.</a:t>
            </a:r>
          </a:p>
          <a:p>
            <a:r>
              <a:rPr lang="en-US" dirty="0"/>
              <a:t>Alternative – can value investing criteria predict the share price returns (t+1)?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46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19F4-7D5E-8943-8837-A436F0876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9B787-ED9C-F14C-96A4-82A3A9097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source </a:t>
            </a:r>
          </a:p>
          <a:p>
            <a:pPr lvl="1"/>
            <a:r>
              <a:rPr lang="en-US" dirty="0"/>
              <a:t>Financials from Morningstar database</a:t>
            </a:r>
          </a:p>
          <a:p>
            <a:pPr lvl="1"/>
            <a:r>
              <a:rPr lang="en-US" dirty="0"/>
              <a:t>Share price from Yahoo Finance</a:t>
            </a:r>
          </a:p>
          <a:p>
            <a:endParaRPr lang="en-US" dirty="0"/>
          </a:p>
          <a:p>
            <a:r>
              <a:rPr lang="en-US" dirty="0"/>
              <a:t>Data acquisition</a:t>
            </a:r>
          </a:p>
          <a:p>
            <a:r>
              <a:rPr lang="en-US" dirty="0"/>
              <a:t>Clean &amp; Exploring</a:t>
            </a:r>
          </a:p>
          <a:p>
            <a:r>
              <a:rPr lang="en-US" dirty="0"/>
              <a:t>Visualization</a:t>
            </a:r>
          </a:p>
          <a:p>
            <a:r>
              <a:rPr lang="en-US" dirty="0"/>
              <a:t>Hypothesize</a:t>
            </a:r>
          </a:p>
          <a:p>
            <a:r>
              <a:rPr lang="en-US" dirty="0"/>
              <a:t>Build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50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733A-0405-D74F-858B-524AC9CA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investing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565B-98CE-784F-843A-7FB10AF41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Selected periods from 2011 to 2020. </a:t>
            </a:r>
          </a:p>
          <a:p>
            <a:r>
              <a:rPr lang="en-US" dirty="0"/>
              <a:t>Selection criteria (based on Benjamin Graham’ criteria)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Current ratio &gt;= 1.5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Debt to Equity ratio &lt; 0.5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Earnings per share = increase in EPS for the last two consecutive years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Price to earnings ratio &lt; 15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Price to book value per share &lt; 1.5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17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7781-8130-4042-9CEF-6083EC7B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A755-E218-EF42-A5E4-231B46200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year as well</a:t>
            </a:r>
          </a:p>
        </p:txBody>
      </p:sp>
    </p:spTree>
    <p:extLst>
      <p:ext uri="{BB962C8B-B14F-4D97-AF65-F5344CB8AC3E}">
        <p14:creationId xmlns:p14="http://schemas.microsoft.com/office/powerpoint/2010/main" val="19028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86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671F0-CC40-0847-A464-B3E0C5B5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38" y="640081"/>
            <a:ext cx="2608655" cy="52577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2C2C2C"/>
                </a:solidFill>
              </a:rPr>
              <a:t>Correlation between key variables (all years)</a:t>
            </a:r>
          </a:p>
        </p:txBody>
      </p:sp>
      <p:sp>
        <p:nvSpPr>
          <p:cNvPr id="92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61FF479-DFF4-3D43-8669-C3B67D327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862" y="603504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3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ECEF-25D4-BE4D-891B-83AC8AC7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A14F6-9FAF-1C4B-81FE-66159E12D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Spearman for dummy vars of value investing criteria. </a:t>
            </a:r>
          </a:p>
          <a:p>
            <a:r>
              <a:rPr lang="en-US" dirty="0"/>
              <a:t>Pearson for continuous vars of value investing criteria.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32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84B0-CC63-B943-B156-A50A7495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plot/ line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115D2-C763-234E-9E43-022411194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vs each </a:t>
            </a:r>
            <a:r>
              <a:rPr lang="en-US" dirty="0" err="1"/>
              <a:t>ind</a:t>
            </a:r>
            <a:r>
              <a:rPr lang="en-US" dirty="0"/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50691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EB3A-7103-504F-A716-B6D75AB3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those firms that made +</a:t>
            </a:r>
            <a:r>
              <a:rPr lang="en-US" dirty="0" err="1"/>
              <a:t>ve</a:t>
            </a:r>
            <a:r>
              <a:rPr lang="en-US" dirty="0"/>
              <a:t> vs –</a:t>
            </a:r>
            <a:r>
              <a:rPr lang="en-US" dirty="0" err="1"/>
              <a:t>ve</a:t>
            </a:r>
            <a:r>
              <a:rPr lang="en-US" dirty="0"/>
              <a:t> returns?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EC79F-BF1B-7949-98E3-73D2312B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the sample between positive and negative returns.</a:t>
            </a:r>
          </a:p>
          <a:p>
            <a:r>
              <a:rPr lang="en-US" dirty="0"/>
              <a:t>re-run correlation</a:t>
            </a:r>
          </a:p>
          <a:p>
            <a:r>
              <a:rPr lang="en-US" dirty="0"/>
              <a:t>Scatter plot </a:t>
            </a:r>
          </a:p>
          <a:p>
            <a:r>
              <a:rPr lang="en-US" dirty="0"/>
              <a:t>Bar plot for each industry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54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7686-5167-FE4D-B308-CA0C2706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5745-1890-5540-837D-796D2D550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Hypothesis using Z-test:</a:t>
            </a:r>
          </a:p>
          <a:p>
            <a:r>
              <a:rPr lang="en-US" dirty="0"/>
              <a:t>Significance level: 5%</a:t>
            </a:r>
          </a:p>
          <a:p>
            <a:r>
              <a:rPr lang="en-US" dirty="0"/>
              <a:t>H0: There is no difference in returns between ASX200 and value investing portfolio.</a:t>
            </a:r>
          </a:p>
          <a:p>
            <a:r>
              <a:rPr lang="en-US" dirty="0"/>
              <a:t>H1: There is difference in returns between ASX200 and value investing portfolio.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125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7686-5167-FE4D-B308-CA0C2706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5745-1890-5540-837D-796D2D550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Hypothesis using Z-test:</a:t>
            </a:r>
          </a:p>
          <a:p>
            <a:r>
              <a:rPr lang="en-US" dirty="0"/>
              <a:t>Significance level: 5%</a:t>
            </a:r>
          </a:p>
          <a:p>
            <a:r>
              <a:rPr lang="en-US" dirty="0"/>
              <a:t>H0: There is no difference in returns between ASX200 and value investing portfolio.</a:t>
            </a:r>
          </a:p>
          <a:p>
            <a:r>
              <a:rPr lang="en-US" dirty="0"/>
              <a:t>H1: There is difference in returns between ASX200 and value investing portfolio. </a:t>
            </a:r>
          </a:p>
          <a:p>
            <a:endParaRPr lang="en-US" dirty="0"/>
          </a:p>
          <a:p>
            <a:r>
              <a:rPr lang="en-US" dirty="0" err="1"/>
              <a:t>Cum.return</a:t>
            </a:r>
            <a:r>
              <a:rPr lang="en-US" dirty="0"/>
              <a:t> = criteria 1 + 2 + 3 + 4 + 5</a:t>
            </a:r>
          </a:p>
          <a:p>
            <a:r>
              <a:rPr lang="en-US" dirty="0"/>
              <a:t>H0: Value investing approach does not lead to higher cumulative returns from 2015.</a:t>
            </a:r>
          </a:p>
          <a:p>
            <a:r>
              <a:rPr lang="en-US" dirty="0"/>
              <a:t>H1: Value investing approach leads to higher cumulative returns from 2015.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877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05FF-4C2D-DC4B-BB85-8CE1E0EB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test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7F9EA-3BAF-A546-9871-8E8A9CA10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681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497A3-342F-4247-B209-5F4CC1DE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078-28E2-484E-A082-D7C3AC707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Comparing the portfolio returns with ASX200.</a:t>
            </a:r>
          </a:p>
          <a:p>
            <a:r>
              <a:rPr lang="en-US" dirty="0"/>
              <a:t>How much would $1 be in 5 years. </a:t>
            </a:r>
          </a:p>
        </p:txBody>
      </p:sp>
    </p:spTree>
    <p:extLst>
      <p:ext uri="{BB962C8B-B14F-4D97-AF65-F5344CB8AC3E}">
        <p14:creationId xmlns:p14="http://schemas.microsoft.com/office/powerpoint/2010/main" val="377454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17C1-51AB-BC42-8F9B-27A50036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E4DF-C4B2-F94B-9FD7-B31E8FB4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statistics</a:t>
            </a:r>
          </a:p>
          <a:p>
            <a:r>
              <a:rPr lang="en-US" dirty="0"/>
              <a:t>Correlation heatmap</a:t>
            </a:r>
          </a:p>
          <a:p>
            <a:r>
              <a:rPr lang="en-US" dirty="0"/>
              <a:t>Boxplot for all key variables comparison between 2015 and 2019</a:t>
            </a:r>
          </a:p>
          <a:p>
            <a:pPr lvl="1"/>
            <a:r>
              <a:rPr lang="en-US" dirty="0"/>
              <a:t>May be a line plot??</a:t>
            </a:r>
          </a:p>
          <a:p>
            <a:r>
              <a:rPr lang="en-US" dirty="0"/>
              <a:t>Scatter plot between </a:t>
            </a:r>
            <a:r>
              <a:rPr lang="en-US" dirty="0" err="1"/>
              <a:t>ind</a:t>
            </a:r>
            <a:r>
              <a:rPr lang="en-US" dirty="0"/>
              <a:t> vars and share price correlation</a:t>
            </a:r>
          </a:p>
          <a:p>
            <a:r>
              <a:rPr lang="en-US" dirty="0"/>
              <a:t>Cumulative returns from 2015 to today</a:t>
            </a:r>
          </a:p>
          <a:p>
            <a:r>
              <a:rPr lang="en-US" dirty="0"/>
              <a:t>Regression whether the independent variables are associated with share price.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5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DC62-B6A2-4C48-904E-D1624CF1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returns </a:t>
            </a:r>
            <a:r>
              <a:rPr lang="en-US" dirty="0" err="1"/>
              <a:t>stw</a:t>
            </a:r>
            <a:r>
              <a:rPr lang="en-US" dirty="0"/>
              <a:t> vs value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38773-26C0-8740-8E4E-A55CE3E4C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Equal capital allocation over 5 firms</a:t>
            </a:r>
          </a:p>
          <a:p>
            <a:r>
              <a:rPr lang="en-US" dirty="0"/>
              <a:t>Correlation/scatter plot of returns between ASX200 and value portfolio</a:t>
            </a:r>
          </a:p>
        </p:txBody>
      </p:sp>
    </p:spTree>
    <p:extLst>
      <p:ext uri="{BB962C8B-B14F-4D97-AF65-F5344CB8AC3E}">
        <p14:creationId xmlns:p14="http://schemas.microsoft.com/office/powerpoint/2010/main" val="3684322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28B1-53EC-524B-9296-89310094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B2A4-9C89-2E41-81AA-79DC47E65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</a:t>
            </a:r>
          </a:p>
          <a:p>
            <a:endParaRPr lang="en-US" dirty="0"/>
          </a:p>
          <a:p>
            <a:r>
              <a:rPr lang="en-US" dirty="0"/>
              <a:t>External Considerations (limitations) </a:t>
            </a:r>
          </a:p>
          <a:p>
            <a:pPr lvl="1"/>
            <a:r>
              <a:rPr lang="en-US" dirty="0"/>
              <a:t>Selection of the undervalued stocks in value investing portfolio are bias to certain GIC Industry (e.g., materials). </a:t>
            </a:r>
          </a:p>
          <a:p>
            <a:pPr lvl="1"/>
            <a:r>
              <a:rPr lang="en-US" dirty="0"/>
              <a:t>May not be diversified. </a:t>
            </a:r>
          </a:p>
          <a:p>
            <a:pPr lvl="1"/>
            <a:endParaRPr lang="en-US" dirty="0"/>
          </a:p>
          <a:p>
            <a:r>
              <a:rPr lang="en-US" dirty="0"/>
              <a:t>Outcomes</a:t>
            </a:r>
          </a:p>
          <a:p>
            <a:pPr lvl="1"/>
            <a:r>
              <a:rPr lang="en-US" dirty="0"/>
              <a:t>Numbers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39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D795-3E8B-C240-8875-20EB527B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EEA0C-B711-B94A-B930-EBB607559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  <a:p>
            <a:r>
              <a:rPr lang="en-US" dirty="0"/>
              <a:t>Share price</a:t>
            </a:r>
          </a:p>
          <a:p>
            <a:r>
              <a:rPr lang="en-US" dirty="0" err="1"/>
              <a:t>Ind_vars</a:t>
            </a:r>
            <a:r>
              <a:rPr lang="en-US" dirty="0"/>
              <a:t>: </a:t>
            </a:r>
            <a:r>
              <a:rPr lang="en-US" dirty="0" err="1"/>
              <a:t>current_ratio</a:t>
            </a:r>
            <a:r>
              <a:rPr lang="en-US" dirty="0"/>
              <a:t>, de, eps, pe, pb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417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63B1-8837-CC46-AEDA-BCF1076A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512A5-C3C6-CD4A-BE5B-1648F8656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ASX, 2021, Historical market statistics, </a:t>
            </a:r>
            <a:r>
              <a:rPr lang="en-US" i="1" dirty="0"/>
              <a:t>ASX</a:t>
            </a:r>
            <a:r>
              <a:rPr lang="en-US" dirty="0"/>
              <a:t>, viewed on 28</a:t>
            </a:r>
            <a:r>
              <a:rPr lang="en-US" baseline="30000" dirty="0"/>
              <a:t>th</a:t>
            </a:r>
            <a:r>
              <a:rPr lang="en-US" dirty="0"/>
              <a:t> Jan 2021 (</a:t>
            </a:r>
            <a:r>
              <a:rPr lang="en-US" dirty="0">
                <a:hlinkClick r:id="rId2"/>
              </a:rPr>
              <a:t>https://www2.asx.com.au/about/market-statistics/historical-market-statistics</a:t>
            </a:r>
            <a:r>
              <a:rPr lang="en-US" dirty="0"/>
              <a:t>).</a:t>
            </a:r>
          </a:p>
          <a:p>
            <a:r>
              <a:rPr lang="en-US" dirty="0"/>
              <a:t>RBA, 2021, Cash Rate Target, </a:t>
            </a:r>
            <a:r>
              <a:rPr lang="en-US" i="1" dirty="0"/>
              <a:t>Reserve Bank of Australia</a:t>
            </a:r>
            <a:r>
              <a:rPr lang="en-US" dirty="0"/>
              <a:t>, viewed on 28</a:t>
            </a:r>
            <a:r>
              <a:rPr lang="en-US" baseline="30000" dirty="0"/>
              <a:t>th</a:t>
            </a:r>
            <a:r>
              <a:rPr lang="en-US" dirty="0"/>
              <a:t> Jan 2021 (</a:t>
            </a:r>
            <a:r>
              <a:rPr lang="en-US" dirty="0">
                <a:hlinkClick r:id="rId3"/>
              </a:rPr>
              <a:t>https://www.rba.gov.au/statistics/cash-rate/</a:t>
            </a:r>
            <a:r>
              <a:rPr lang="en-US" dirty="0"/>
              <a:t>). </a:t>
            </a:r>
          </a:p>
          <a:p>
            <a:r>
              <a:rPr lang="en-US" dirty="0" err="1"/>
              <a:t>Vickovich</a:t>
            </a:r>
            <a:r>
              <a:rPr lang="en-US" dirty="0"/>
              <a:t>, A, 2020, Investors ‘take a punt’ on Australia’s riskiest stocks, </a:t>
            </a:r>
            <a:r>
              <a:rPr lang="en-US" i="1" dirty="0"/>
              <a:t>Australian Financial Review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53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A86F4-AB7B-D240-81D1-16793792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 – distribution graph (including transformed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3BD1A-96C0-AA45-B4C9-EEE6C5A4A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52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A7C4-82A3-C040-8BF4-0700F032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2 – bar graph - variables in each sector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A622-5637-BD45-8D77-40DEB442A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</a:t>
            </a:r>
          </a:p>
          <a:p>
            <a:r>
              <a:rPr lang="en-US" dirty="0"/>
              <a:t>Current ratio</a:t>
            </a:r>
          </a:p>
          <a:p>
            <a:r>
              <a:rPr lang="en-US" dirty="0"/>
              <a:t>DE</a:t>
            </a:r>
          </a:p>
          <a:p>
            <a:r>
              <a:rPr lang="en-US" dirty="0"/>
              <a:t>EPS</a:t>
            </a:r>
          </a:p>
          <a:p>
            <a:r>
              <a:rPr lang="en-US" dirty="0"/>
              <a:t>PE</a:t>
            </a:r>
          </a:p>
          <a:p>
            <a:r>
              <a:rPr lang="en-US" dirty="0"/>
              <a:t>PB</a:t>
            </a:r>
          </a:p>
        </p:txBody>
      </p:sp>
    </p:spTree>
    <p:extLst>
      <p:ext uri="{BB962C8B-B14F-4D97-AF65-F5344CB8AC3E}">
        <p14:creationId xmlns:p14="http://schemas.microsoft.com/office/powerpoint/2010/main" val="2216658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A01F-90AB-294C-ADA3-1D6F0F5A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3 – bar plots for each var (positive vs negative returns)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594DB-C83C-9F44-8A6E-5A547E211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41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B415-0A17-1E41-B0E0-30D677E7C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4 – Time series for each variables (all, positive, negative in same graph)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96E81-151F-744B-BF39-AD41C0375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7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775</Words>
  <Application>Microsoft Macintosh PowerPoint</Application>
  <PresentationFormat>Widescreen</PresentationFormat>
  <Paragraphs>108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Mini Project 1</vt:lpstr>
      <vt:lpstr>Disclaimer</vt:lpstr>
      <vt:lpstr>Background </vt:lpstr>
      <vt:lpstr>Market ASX200 index and volatility</vt:lpstr>
      <vt:lpstr>Business Question</vt:lpstr>
      <vt:lpstr>Pipeline</vt:lpstr>
      <vt:lpstr>Value investing criteria</vt:lpstr>
      <vt:lpstr>Summary statistics</vt:lpstr>
      <vt:lpstr>Correlation between key variables (all years)</vt:lpstr>
      <vt:lpstr>Correlation</vt:lpstr>
      <vt:lpstr>Scatter plot/ line plot</vt:lpstr>
      <vt:lpstr>Difference between those firms that made +ve vs –ve returns?</vt:lpstr>
      <vt:lpstr>Hypothesis</vt:lpstr>
      <vt:lpstr>Hypothesis</vt:lpstr>
      <vt:lpstr>Univariate test results</vt:lpstr>
      <vt:lpstr>Experiment</vt:lpstr>
      <vt:lpstr>Methodology</vt:lpstr>
      <vt:lpstr>Cumulative returns stw vs value portfolio</vt:lpstr>
      <vt:lpstr>Summary</vt:lpstr>
      <vt:lpstr>PowerPoint Presentation</vt:lpstr>
      <vt:lpstr>Reference</vt:lpstr>
      <vt:lpstr>Appendix 1 – distribution graph (including transformed variables)</vt:lpstr>
      <vt:lpstr>Appendix 2 – bar graph - variables in each sector</vt:lpstr>
      <vt:lpstr>Appendix 3 – bar plots for each var (positive vs negative returns)</vt:lpstr>
      <vt:lpstr>Appendix 4 – Time series for each variables (all, positive, negative in same graph)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1</dc:title>
  <dc:creator>Jin Sug Yang</dc:creator>
  <cp:lastModifiedBy>Jin Sug Yang</cp:lastModifiedBy>
  <cp:revision>7</cp:revision>
  <dcterms:created xsi:type="dcterms:W3CDTF">2021-01-31T05:45:45Z</dcterms:created>
  <dcterms:modified xsi:type="dcterms:W3CDTF">2021-02-01T14:06:52Z</dcterms:modified>
</cp:coreProperties>
</file>