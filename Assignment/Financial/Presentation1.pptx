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3"/>
    <p:sldId id="268" r:id="rId4"/>
    <p:sldId id="257" r:id="rId5"/>
    <p:sldId id="269" r:id="rId6"/>
    <p:sldId id="258" r:id="rId7"/>
    <p:sldId id="270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94694"/>
  </p:normalViewPr>
  <p:slideViewPr>
    <p:cSldViewPr snapToGrid="0" snapToObjects="1">
      <p:cViewPr varScale="1">
        <p:scale>
          <a:sx n="58" d="100"/>
          <a:sy n="58" d="100"/>
        </p:scale>
        <p:origin x="224" y="1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4C3B2-1655-2644-B8BB-73B2579DC2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5C6473-7897-DD4E-A063-BA7EBE7D86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EAF14-7595-5147-A669-771AB1B93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87762-B71A-2B46-B94C-E19C3D9C7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8985B-03C2-A349-BE07-5B7BB601E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653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0B7CD-1554-0341-B347-434987519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05E9E-DE8F-1447-94AF-773D680DA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9A417-24D4-0F40-ABD0-C1016ECC8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6E934-55EF-BC41-9594-91B4ADD88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9C8A7C-0150-2941-AD90-D091988EC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06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D45BC-B4E9-134D-9FAF-BDDF81482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C24A7-2697-3A47-AB85-930118BBF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4ED5E-2081-1442-BFFF-0EA5BCB1C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06F2B-5A67-CE4C-9A54-B8AE017E9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42306-0995-2D48-B834-CE96BD14F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50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0A1A9-BB65-6F48-B3D4-DE7ACD729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1E103-BD73-8D42-A553-483C1B095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D0C4E-9846-9547-BB2C-3CF4F69E1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CB40B-25FB-B743-BF06-C5EE465D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F64E27-A469-5444-819D-21D96C9F4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721A9-FF11-8C46-B078-4EF70267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841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E386E-62D1-8249-97A0-392E7EC0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FEA21B-9DB8-EB49-896A-D5E6354B5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133B92-D72B-EE4A-B75E-D94E1D95A3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ED2353-7215-1545-AA37-1FC9EE39E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831B54-175D-9746-8054-DF7A2C732F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B2D461-EA39-1643-9489-93AEF15DC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56F330-4FCE-A74E-B028-555A61E95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689EF-A1C4-6948-8CF7-8E6B06EC4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631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59323-5802-6A40-8DCC-ECEB9BF3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81158E-F3B0-9D4F-943B-412058AF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7D1A4-6CBA-D440-84A1-9AE295A6E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F6A43-9B2A-A945-89FA-1C8C4DC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782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9ACF1-A29C-FA49-83C9-6050D37F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C5A956-15D6-844C-9C56-C373E7FFD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24128-AB05-FE49-8330-138C023E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68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5ECB-2D82-8E4A-B67D-093552246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4D1D1-648A-0545-84BA-F91A67D5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B089D-5676-994F-AEFB-D2D0E3F496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62C547-A1E3-1948-A1C1-2E8AC77F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EA5BB1-8C33-AE47-B694-1C48C6E56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BB744-B1DB-DE44-A71C-018CA1711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34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A3680-E1A7-3048-B712-95138013A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48EB02-71BC-8241-88E1-E98D3B156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114C83-8F11-5E40-BF49-632D9F492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6534B-B390-6847-B811-41B2AD645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7F026-033A-1242-A877-43813193D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05F03-DF64-434B-9739-DB7883ED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225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A6EB6-1B23-7D4F-86A0-CB926317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271F2F-7298-8D49-93E1-C7659D20A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A7FAF-9BF7-F94C-BE57-E4C8FF229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88B87-74AE-3346-BBA5-F3F48EC9F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3B2CD-1B87-374A-8D7B-7C1978ED5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553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5B3D3D-23C3-2E44-8286-7C9C83F57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CD1DA-E33B-F548-B325-5275DA1A8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ADEAE-08C9-9145-B938-04B0C7FE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E79F1-056C-964E-8696-82B09E2F4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130D-6D8E-074B-960C-1230C5A5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58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E53E45-AB05-D646-B945-E107A2E7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D3920-1B8D-464F-8467-6EBBF7B348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6550A-35C7-7C42-8715-E48B78A9C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D2D243-A02D-E741-946F-C165540A988B}" type="datetimeFigureOut">
              <a:rPr lang="en-US" smtClean="0"/>
              <a:t>1/26/21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4689D-057C-504A-96F4-939AD626D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5C4C3-BC0B-ED4E-82AF-9C61BEB14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7334E5-D523-9344-BD3D-943FBF5E33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635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ABBC4-1D13-504E-9B4F-6FC2EF027B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E1FA57-E926-9349-80BB-B3B4B4980B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481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079BD-8899-724C-AFA2-C1BA3394A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97A2-2F4B-404D-981D-7564986E0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market is volatile and uncertain.</a:t>
            </a:r>
          </a:p>
          <a:p>
            <a:endParaRPr lang="en-US" dirty="0"/>
          </a:p>
          <a:p>
            <a:r>
              <a:rPr lang="en-US" dirty="0"/>
              <a:t>Uncertainty of the market. </a:t>
            </a:r>
          </a:p>
          <a:p>
            <a:r>
              <a:rPr lang="en-US" dirty="0"/>
              <a:t>How the exogeneous shock of </a:t>
            </a:r>
            <a:r>
              <a:rPr lang="en-US" dirty="0" err="1"/>
              <a:t>covid</a:t>
            </a:r>
            <a:r>
              <a:rPr lang="en-US" dirty="0"/>
              <a:t> affected the stock market.</a:t>
            </a:r>
          </a:p>
          <a:p>
            <a:r>
              <a:rPr lang="en-US" dirty="0"/>
              <a:t>Active vs passive investing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0238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219F4-7D5E-8943-8837-A436F0876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B787-ED9C-F14C-96A4-82A3A909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50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B1C73-F41B-8F40-B35C-C83C1664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7E9DB-4B73-CF42-A1E4-2B5EBD13F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Does value investing portfolio outperform ASX200 index?</a:t>
            </a:r>
          </a:p>
          <a:p>
            <a:r>
              <a:rPr lang="en-US" dirty="0"/>
              <a:t>Objectives</a:t>
            </a:r>
          </a:p>
          <a:p>
            <a:pPr lvl="1"/>
            <a:r>
              <a:rPr lang="en-US" dirty="0"/>
              <a:t>To examine the relationship between value investing criteria and share price. </a:t>
            </a:r>
          </a:p>
          <a:p>
            <a:pPr lvl="1"/>
            <a:r>
              <a:rPr lang="en-US" dirty="0"/>
              <a:t>To investigate the relationship between value investing portfolio and ASX 200 index.</a:t>
            </a:r>
          </a:p>
          <a:p>
            <a:r>
              <a:rPr lang="en-US" dirty="0"/>
              <a:t>To determine the value stocks based on value investing criteria using past financial information and observe the trend in share price relative to the ASX200 index.</a:t>
            </a:r>
          </a:p>
          <a:p>
            <a:r>
              <a:rPr lang="en-US" dirty="0"/>
              <a:t>Does the value investing approach works? Would this perform better than the market index in the long-run?</a:t>
            </a:r>
          </a:p>
          <a:p>
            <a:r>
              <a:rPr lang="en-US" dirty="0"/>
              <a:t>We want to know what the return over the last 5 years.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61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415B-F26C-404D-9AEE-7EFA5F763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D5E81-85AB-2841-B67A-0CDAD5A64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use historical financial data to identify the under-value firms.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383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C733A-0405-D74F-858B-524AC9CA7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investing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3565B-98CE-784F-843A-7FB10AF41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selected the firms in 2015 to compare the value investing and ASX200 index over the past 5 years (rather than a short term returns)</a:t>
            </a:r>
          </a:p>
          <a:p>
            <a:r>
              <a:rPr lang="en-US" dirty="0"/>
              <a:t>Criteria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Current ratio &gt;= 1.5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Debt to Equity ratio &lt; 0.5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Earnings per share = increase in EPS for the last two consecutive years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Price to earnings ratio &lt; 15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Price to book value per share &lt; 1.5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285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817C1-51AB-BC42-8F9B-27A500365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7E4DF-C4B2-F94B-9FD7-B31E8FB46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Summary statistics</a:t>
            </a:r>
          </a:p>
          <a:p>
            <a:r>
              <a:rPr lang="en-US" dirty="0"/>
              <a:t>Correlation heatmap</a:t>
            </a:r>
          </a:p>
          <a:p>
            <a:r>
              <a:rPr lang="en-US" dirty="0"/>
              <a:t>Boxplot for all key variables comparison between 2015 and 2019</a:t>
            </a:r>
          </a:p>
          <a:p>
            <a:pPr lvl="1"/>
            <a:r>
              <a:rPr lang="en-US" dirty="0"/>
              <a:t>May be a line plot??</a:t>
            </a:r>
          </a:p>
          <a:p>
            <a:r>
              <a:rPr lang="en-US" dirty="0"/>
              <a:t>Scatter plot between </a:t>
            </a:r>
            <a:r>
              <a:rPr lang="en-US" dirty="0" err="1"/>
              <a:t>ind</a:t>
            </a:r>
            <a:r>
              <a:rPr lang="en-US" dirty="0"/>
              <a:t> vars and share price correlation</a:t>
            </a:r>
          </a:p>
          <a:p>
            <a:r>
              <a:rPr lang="en-US" dirty="0"/>
              <a:t>Cumulative returns from 2015 to today</a:t>
            </a:r>
          </a:p>
          <a:p>
            <a:r>
              <a:rPr lang="en-US" dirty="0"/>
              <a:t>Regression whether the independent variables are associated with share price.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89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BEE73255-8084-4DF9-BB0B-15EAC92E2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0671F0-CC40-0847-A464-B3E0C5B5B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938" y="640081"/>
            <a:ext cx="2608655" cy="525779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>
                <a:solidFill>
                  <a:srgbClr val="2C2C2C"/>
                </a:solidFill>
              </a:rPr>
              <a:t>Correlation between key variables (all years)</a:t>
            </a:r>
          </a:p>
        </p:txBody>
      </p:sp>
      <p:sp>
        <p:nvSpPr>
          <p:cNvPr id="75" name="Rounded Rectangle 9">
            <a:extLst>
              <a:ext uri="{FF2B5EF4-FFF2-40B4-BE49-F238E27FC236}">
                <a16:creationId xmlns:a16="http://schemas.microsoft.com/office/drawing/2014/main" id="{67048353-8981-459A-9BC6-9711CE462E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80067" y="484632"/>
            <a:ext cx="8129016" cy="572414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3808C40-AE96-5F46-B78D-8944DF2C1E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7618"/>
          <a:stretch/>
        </p:blipFill>
        <p:spPr bwMode="auto">
          <a:xfrm>
            <a:off x="4062964" y="942538"/>
            <a:ext cx="7163222" cy="480833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183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D41B2-0F68-694A-AFBE-9CD3159CB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Barplot</a:t>
            </a:r>
            <a:r>
              <a:rPr lang="en-US" dirty="0"/>
              <a:t>/histogram for each key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726FD-EDA2-4A4A-88A1-7CB9AB3FD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886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95387-9615-A949-8727-5359CBEC6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Barplot</a:t>
            </a:r>
            <a:r>
              <a:rPr lang="en-US" dirty="0"/>
              <a:t> across each industry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DA9EB-9E22-964E-8FB3-7A5BCBC6E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92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85E7F-5108-5144-B0FB-BA01DFC11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plot/ scatter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F89A7-5290-3442-A062-AA921C7A2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867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2DC62-B6A2-4C48-904E-D1624CF1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Cumulative returns </a:t>
            </a:r>
            <a:r>
              <a:rPr lang="en-US" dirty="0" err="1"/>
              <a:t>stw</a:t>
            </a:r>
            <a:r>
              <a:rPr lang="en-US" dirty="0"/>
              <a:t> vs value portfolio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38773-26C0-8740-8E4E-A55CE3E4C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Equal capital allocation over 5 firms </a:t>
            </a:r>
          </a:p>
        </p:txBody>
      </p:sp>
    </p:spTree>
    <p:extLst>
      <p:ext uri="{BB962C8B-B14F-4D97-AF65-F5344CB8AC3E}">
        <p14:creationId xmlns:p14="http://schemas.microsoft.com/office/powerpoint/2010/main" val="3684322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90B4F-9FA1-EE45-A4ED-44892286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07505-57AD-AB4B-B5A5-581D8C998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Majority of the stocks are from ‘material’</a:t>
            </a:r>
          </a:p>
          <a:p>
            <a:r>
              <a:rPr lang="en-US" dirty="0"/>
              <a:t>T-test or </a:t>
            </a:r>
            <a:r>
              <a:rPr lang="en-US" dirty="0" err="1"/>
              <a:t>Anova</a:t>
            </a:r>
            <a:r>
              <a:rPr lang="en-US" dirty="0"/>
              <a:t> test to show that sectors are different.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382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6D795-3E8B-C240-8875-20EB527B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EEA0C-B711-B94A-B930-EBB607559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  <a:p>
            <a:r>
              <a:rPr lang="en-US" dirty="0"/>
              <a:t>Share price</a:t>
            </a:r>
          </a:p>
          <a:p>
            <a:r>
              <a:rPr lang="en-US" dirty="0" err="1"/>
              <a:t>Ind_vars</a:t>
            </a:r>
            <a:r>
              <a:rPr lang="en-US" dirty="0"/>
              <a:t>: </a:t>
            </a:r>
            <a:r>
              <a:rPr lang="en-US" dirty="0" err="1"/>
              <a:t>current_ratio</a:t>
            </a:r>
            <a:r>
              <a:rPr lang="en-US" dirty="0"/>
              <a:t>, de, eps, pe, pb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3417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328B1-53EC-524B-9296-89310094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3B2A4-9C89-2E41-81AA-79DC47E65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External Considerations (limitations) </a:t>
            </a:r>
          </a:p>
          <a:p>
            <a:endParaRPr lang="en-US" dirty="0"/>
          </a:p>
          <a:p>
            <a:r>
              <a:rPr lang="en-US" dirty="0"/>
              <a:t>Outcomes</a:t>
            </a:r>
          </a:p>
          <a:p>
            <a:pPr lvl="1"/>
            <a:r>
              <a:rPr lang="en-US" dirty="0"/>
              <a:t>numbers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539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339</Words>
  <Application>Microsoft Macintosh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Background </vt:lpstr>
      <vt:lpstr>Pipeline</vt:lpstr>
      <vt:lpstr>Business Question</vt:lpstr>
      <vt:lpstr>Data question</vt:lpstr>
      <vt:lpstr>Value investing criteria</vt:lpstr>
      <vt:lpstr>Methodology</vt:lpstr>
      <vt:lpstr>Correlation between key variables (all years)</vt:lpstr>
      <vt:lpstr>Barplot/histogram for each key variables</vt:lpstr>
      <vt:lpstr>Barplot across each industry</vt:lpstr>
      <vt:lpstr>Line plot/ scatter plot</vt:lpstr>
      <vt:lpstr>Cumulative returns stw vs value portfolio</vt:lpstr>
      <vt:lpstr>Limitations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 Sug Yang</dc:creator>
  <cp:lastModifiedBy>Jin Sug Yang</cp:lastModifiedBy>
  <cp:revision>7</cp:revision>
  <dcterms:created xsi:type="dcterms:W3CDTF">2021-01-26T06:34:48Z</dcterms:created>
  <dcterms:modified xsi:type="dcterms:W3CDTF">2021-01-26T08:44:30Z</dcterms:modified>
</cp:coreProperties>
</file>