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68" r:id="rId5"/>
    <p:sldId id="315" r:id="rId6"/>
    <p:sldId id="284" r:id="rId7"/>
    <p:sldId id="335" r:id="rId8"/>
    <p:sldId id="317" r:id="rId9"/>
    <p:sldId id="324" r:id="rId10"/>
    <p:sldId id="325" r:id="rId11"/>
    <p:sldId id="326" r:id="rId12"/>
    <p:sldId id="336" r:id="rId13"/>
    <p:sldId id="337" r:id="rId14"/>
    <p:sldId id="338" r:id="rId15"/>
    <p:sldId id="328" r:id="rId16"/>
    <p:sldId id="272" r:id="rId17"/>
    <p:sldId id="339" r:id="rId18"/>
    <p:sldId id="340" r:id="rId19"/>
    <p:sldId id="332" r:id="rId20"/>
    <p:sldId id="266" r:id="rId21"/>
    <p:sldId id="32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5"/>
    <p:restoredTop sz="94685"/>
  </p:normalViewPr>
  <p:slideViewPr>
    <p:cSldViewPr snapToGrid="0" snapToObjects="1">
      <p:cViewPr varScale="1">
        <p:scale>
          <a:sx n="134" d="100"/>
          <a:sy n="134" d="100"/>
        </p:scale>
        <p:origin x="1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C3B2-1655-2644-B8BB-73B2579D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C6473-7897-DD4E-A063-BA7EBE7D8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EAF14-7595-5147-A669-771AB1B9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87762-B71A-2B46-B94C-E19C3D9C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8985B-03C2-A349-BE07-5B7BB601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5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B7CD-1554-0341-B347-43498751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05E9E-DE8F-1447-94AF-773D680D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9A417-24D4-0F40-ABD0-C1016ECC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6E934-55EF-BC41-9594-91B4ADD8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8A7C-0150-2941-AD90-D091988E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0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45BC-B4E9-134D-9FAF-BDDF8148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C24A7-2697-3A47-AB85-930118BBF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ED5E-2081-1442-BFFF-0EA5BCB1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06F2B-5A67-CE4C-9A54-B8AE017E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42306-0995-2D48-B834-CE96BD14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5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A1A9-BB65-6F48-B3D4-DE7ACD72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1E103-BD73-8D42-A553-483C1B095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D0C4E-9846-9547-BB2C-3CF4F69E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CB40B-25FB-B743-BF06-C5EE465D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64E27-A469-5444-819D-21D96C9F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721A9-FF11-8C46-B078-4EF70267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4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386E-62D1-8249-97A0-392E7EC0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EA21B-9DB8-EB49-896A-D5E6354B5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33B92-D72B-EE4A-B75E-D94E1D95A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ED2353-7215-1545-AA37-1FC9EE39E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31B54-175D-9746-8054-DF7A2C732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2D461-EA39-1643-9489-93AEF15D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6F330-4FCE-A74E-B028-555A61E9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689EF-A1C4-6948-8CF7-8E6B06EC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3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9323-5802-6A40-8DCC-ECEB9BF3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1158E-F3B0-9D4F-943B-412058AF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7D1A4-6CBA-D440-84A1-9AE295A6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F6A43-9B2A-A945-89FA-1C8C4DC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8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9ACF1-A29C-FA49-83C9-6050D37F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5A956-15D6-844C-9C56-C373E7FFD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24128-AB05-FE49-8330-138C023E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6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5ECB-2D82-8E4A-B67D-09355224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4D1D1-648A-0545-84BA-F91A67D5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B089D-5676-994F-AEFB-D2D0E3F49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2C547-A1E3-1948-A1C1-2E8AC77F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A5BB1-8C33-AE47-B694-1C48C6E5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BB744-B1DB-DE44-A71C-018CA171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3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3680-E1A7-3048-B712-95138013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48EB02-71BC-8241-88E1-E98D3B156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14C83-8F11-5E40-BF49-632D9F492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6534B-B390-6847-B811-41B2AD64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7F026-033A-1242-A877-43813193D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05F03-DF64-434B-9739-DB7883ED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2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6EB6-1B23-7D4F-86A0-CB926317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71F2F-7298-8D49-93E1-C7659D20A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A7FAF-9BF7-F94C-BE57-E4C8FF22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88B87-74AE-3346-BBA5-F3F48EC9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3B2CD-1B87-374A-8D7B-7C1978ED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5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5B3D3D-23C3-2E44-8286-7C9C83F57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CD1DA-E33B-F548-B325-5275DA1A8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DEAE-08C9-9145-B938-04B0C7FE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E79F1-056C-964E-8696-82B09E2F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130D-6D8E-074B-960C-1230C5A5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5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53E45-AB05-D646-B945-E107A2E7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3920-1B8D-464F-8467-6EBBF7B34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550A-35C7-7C42-8715-E48B78A9C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2D243-A02D-E741-946F-C165540A988B}" type="datetimeFigureOut">
              <a:rPr lang="en-US" smtClean="0"/>
              <a:t>3/19/21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4689D-057C-504A-96F4-939AD626D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5C4C3-BC0B-ED4E-82AF-9C61BEB14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334E5-D523-9344-BD3D-943FBF5E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3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6ABBC4-1D13-504E-9B4F-6FC2EF02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Mini Project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1FA57-E926-9349-80BB-B3B4B4980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March 2021</a:t>
            </a:r>
          </a:p>
          <a:p>
            <a:r>
              <a:rPr lang="en-US" sz="1500" dirty="0" err="1">
                <a:solidFill>
                  <a:srgbClr val="FFFFFF"/>
                </a:solidFill>
              </a:rPr>
              <a:t>Jin</a:t>
            </a:r>
            <a:r>
              <a:rPr lang="en-US" sz="1500" dirty="0">
                <a:solidFill>
                  <a:srgbClr val="FFFFFF"/>
                </a:solidFill>
              </a:rPr>
              <a:t> Yang</a:t>
            </a:r>
          </a:p>
        </p:txBody>
      </p:sp>
    </p:spTree>
    <p:extLst>
      <p:ext uri="{BB962C8B-B14F-4D97-AF65-F5344CB8AC3E}">
        <p14:creationId xmlns:p14="http://schemas.microsoft.com/office/powerpoint/2010/main" val="173648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079BD-8899-724C-AFA2-C1BA3394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97A2-2F4B-404D-981D-7564986E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As at 19 March 2021, there are 1,990 companies listed on ASX (ASX, 2020).</a:t>
            </a:r>
          </a:p>
          <a:p>
            <a:r>
              <a:rPr lang="en-US" sz="2400" dirty="0"/>
              <a:t>Share market is risky and uncertain. </a:t>
            </a:r>
          </a:p>
          <a:p>
            <a:r>
              <a:rPr lang="en-US" sz="2400" dirty="0"/>
              <a:t>In addition to the volatile market, retail investors can make a huge loss when the firms fail and are removed from the share market. </a:t>
            </a:r>
          </a:p>
          <a:p>
            <a:r>
              <a:rPr lang="en-US" sz="2400" dirty="0"/>
              <a:t>Over 6,500 companies have been delisted from ASX, Newcastle Stock Exchange, and Bendigo Stock Exchange over the past 100 odd years. (</a:t>
            </a:r>
            <a:r>
              <a:rPr lang="en-US" sz="2400" dirty="0" err="1"/>
              <a:t>Investogain</a:t>
            </a:r>
            <a:r>
              <a:rPr lang="en-US" sz="2400" dirty="0"/>
              <a:t> Pty Ltd, 2021). </a:t>
            </a:r>
          </a:p>
          <a:p>
            <a:r>
              <a:rPr lang="en-US" sz="2400" dirty="0"/>
              <a:t>Can investors minimize the risk of investing in a company that may fail and is removed from the market?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902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4B1C73-F41B-8F40-B35C-C83C1664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7E9DB-4B73-CF42-A1E4-2B5EBD13F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Can we predict the failure and removal of ASX listed firms from the market based on financial ratios? </a:t>
            </a:r>
          </a:p>
          <a:p>
            <a:r>
              <a:rPr lang="en-US" sz="2400" dirty="0"/>
              <a:t>Objectives </a:t>
            </a:r>
          </a:p>
          <a:p>
            <a:pPr lvl="1"/>
            <a:r>
              <a:rPr lang="en-US" sz="1800" dirty="0"/>
              <a:t>To investigate the variation in the financial ratios between listed and delisted firms. </a:t>
            </a:r>
          </a:p>
          <a:p>
            <a:pPr lvl="1"/>
            <a:r>
              <a:rPr lang="en-US" sz="1800" dirty="0"/>
              <a:t>To examine whether the final financial information can help to model and predict the likelihood of ASX listed firms to fail and be delisted using various classification model.</a:t>
            </a:r>
          </a:p>
          <a:p>
            <a:pPr lvl="1"/>
            <a:r>
              <a:rPr lang="en-US" sz="1800" dirty="0"/>
              <a:t>Can the final years of financial information able to tell us about whether the companies will be removed from the market? 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9846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219F4-7D5E-8943-8837-A436F087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9B787-ED9C-F14C-96A4-82A3A9097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lnSpcReduction="10000"/>
          </a:bodyPr>
          <a:lstStyle/>
          <a:p>
            <a:r>
              <a:rPr lang="en-US" sz="1700" dirty="0"/>
              <a:t>Data source </a:t>
            </a:r>
          </a:p>
          <a:p>
            <a:pPr lvl="1"/>
            <a:r>
              <a:rPr lang="en-US" sz="1700" dirty="0"/>
              <a:t>Financials from Morningstar database (for the period 2011 to 2019)</a:t>
            </a:r>
          </a:p>
          <a:p>
            <a:r>
              <a:rPr lang="en-US" sz="1700" dirty="0"/>
              <a:t>Clean &amp; Exploring</a:t>
            </a:r>
          </a:p>
          <a:p>
            <a:pPr lvl="1"/>
            <a:r>
              <a:rPr lang="en-US" sz="1700" dirty="0"/>
              <a:t>Summary statistics and correlation matrix</a:t>
            </a:r>
          </a:p>
          <a:p>
            <a:pPr lvl="1"/>
            <a:r>
              <a:rPr lang="en-US" sz="1700" dirty="0"/>
              <a:t>Performed standardization and SMOTE for under-sampling</a:t>
            </a:r>
          </a:p>
          <a:p>
            <a:r>
              <a:rPr lang="en-US" sz="1700" dirty="0"/>
              <a:t>Visualization</a:t>
            </a:r>
          </a:p>
          <a:p>
            <a:pPr lvl="1"/>
            <a:r>
              <a:rPr lang="en-US" sz="1700" dirty="0"/>
              <a:t>Line graph and box plots</a:t>
            </a:r>
          </a:p>
          <a:p>
            <a:r>
              <a:rPr lang="en-US" sz="1700" dirty="0"/>
              <a:t>Build Models</a:t>
            </a:r>
          </a:p>
          <a:p>
            <a:pPr lvl="1"/>
            <a:r>
              <a:rPr lang="en-US" sz="1700" dirty="0"/>
              <a:t>Logistic regression</a:t>
            </a:r>
          </a:p>
          <a:p>
            <a:pPr lvl="1"/>
            <a:r>
              <a:rPr lang="en-US" sz="1700" dirty="0"/>
              <a:t>Support Vector Machine</a:t>
            </a:r>
          </a:p>
          <a:p>
            <a:pPr lvl="1"/>
            <a:r>
              <a:rPr lang="en-US" sz="1700" dirty="0"/>
              <a:t>Naïve Base</a:t>
            </a:r>
          </a:p>
          <a:p>
            <a:pPr lvl="1"/>
            <a:r>
              <a:rPr lang="en-US" sz="1700" dirty="0"/>
              <a:t>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332975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C733A-0405-D74F-858B-524AC9CA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Financial ratios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565B-98CE-784F-843A-7FB10AF41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r>
              <a:rPr lang="en-US" sz="1400" dirty="0"/>
              <a:t>Liquidity ratios</a:t>
            </a:r>
          </a:p>
          <a:p>
            <a:pPr lvl="1"/>
            <a:r>
              <a:rPr lang="en-US" sz="1400" dirty="0"/>
              <a:t>Current ratio = Current assets / Current liabilities</a:t>
            </a:r>
          </a:p>
          <a:p>
            <a:pPr lvl="1"/>
            <a:r>
              <a:rPr lang="en-US" sz="1400" dirty="0"/>
              <a:t>Quick ratio = Current assets / Current liabilities</a:t>
            </a:r>
          </a:p>
          <a:p>
            <a:r>
              <a:rPr lang="en-US" sz="1400" dirty="0"/>
              <a:t>Solvency ratios</a:t>
            </a:r>
          </a:p>
          <a:p>
            <a:pPr lvl="1"/>
            <a:r>
              <a:rPr lang="en-US" sz="1400" dirty="0"/>
              <a:t>Debt to Asset ratio = Total debt / Total Assets</a:t>
            </a:r>
          </a:p>
          <a:p>
            <a:pPr lvl="1"/>
            <a:r>
              <a:rPr lang="en-US" sz="1400" dirty="0"/>
              <a:t>Debt to Equity ratio = Total debt / Total equity</a:t>
            </a:r>
          </a:p>
          <a:p>
            <a:pPr lvl="1"/>
            <a:r>
              <a:rPr lang="en-US" sz="1400" dirty="0"/>
              <a:t>Interest Coverage ratio = (NPAT + Interest expenses + tax expenses) / Interest expenses</a:t>
            </a:r>
          </a:p>
          <a:p>
            <a:r>
              <a:rPr lang="en-US" sz="1400" dirty="0"/>
              <a:t>Profitability ratios</a:t>
            </a:r>
          </a:p>
          <a:p>
            <a:pPr lvl="1"/>
            <a:r>
              <a:rPr lang="en-US" sz="1400" dirty="0"/>
              <a:t>ROE = NPAT / Total equity</a:t>
            </a:r>
          </a:p>
          <a:p>
            <a:pPr lvl="1"/>
            <a:r>
              <a:rPr lang="en-US" sz="1400" dirty="0"/>
              <a:t>ROA = NPAT / Total Assets</a:t>
            </a:r>
          </a:p>
        </p:txBody>
      </p:sp>
    </p:spTree>
    <p:extLst>
      <p:ext uri="{BB962C8B-B14F-4D97-AF65-F5344CB8AC3E}">
        <p14:creationId xmlns:p14="http://schemas.microsoft.com/office/powerpoint/2010/main" val="591568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C7781-8130-4042-9CEF-6083EC7B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statistics (2010-2019)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9CBD49-99A9-1746-9D1F-BEBAA9F7C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662973"/>
              </p:ext>
            </p:extLst>
          </p:nvPr>
        </p:nvGraphicFramePr>
        <p:xfrm>
          <a:off x="838200" y="2329084"/>
          <a:ext cx="10512552" cy="348299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92536">
                  <a:extLst>
                    <a:ext uri="{9D8B030D-6E8A-4147-A177-3AD203B41FA5}">
                      <a16:colId xmlns:a16="http://schemas.microsoft.com/office/drawing/2014/main" val="3612341985"/>
                    </a:ext>
                  </a:extLst>
                </a:gridCol>
                <a:gridCol w="1102502">
                  <a:extLst>
                    <a:ext uri="{9D8B030D-6E8A-4147-A177-3AD203B41FA5}">
                      <a16:colId xmlns:a16="http://schemas.microsoft.com/office/drawing/2014/main" val="3520835041"/>
                    </a:ext>
                  </a:extLst>
                </a:gridCol>
                <a:gridCol w="1102502">
                  <a:extLst>
                    <a:ext uri="{9D8B030D-6E8A-4147-A177-3AD203B41FA5}">
                      <a16:colId xmlns:a16="http://schemas.microsoft.com/office/drawing/2014/main" val="156958704"/>
                    </a:ext>
                  </a:extLst>
                </a:gridCol>
                <a:gridCol w="1102502">
                  <a:extLst>
                    <a:ext uri="{9D8B030D-6E8A-4147-A177-3AD203B41FA5}">
                      <a16:colId xmlns:a16="http://schemas.microsoft.com/office/drawing/2014/main" val="872047168"/>
                    </a:ext>
                  </a:extLst>
                </a:gridCol>
                <a:gridCol w="1102502">
                  <a:extLst>
                    <a:ext uri="{9D8B030D-6E8A-4147-A177-3AD203B41FA5}">
                      <a16:colId xmlns:a16="http://schemas.microsoft.com/office/drawing/2014/main" val="3905683523"/>
                    </a:ext>
                  </a:extLst>
                </a:gridCol>
                <a:gridCol w="1102502">
                  <a:extLst>
                    <a:ext uri="{9D8B030D-6E8A-4147-A177-3AD203B41FA5}">
                      <a16:colId xmlns:a16="http://schemas.microsoft.com/office/drawing/2014/main" val="1787765284"/>
                    </a:ext>
                  </a:extLst>
                </a:gridCol>
                <a:gridCol w="1102502">
                  <a:extLst>
                    <a:ext uri="{9D8B030D-6E8A-4147-A177-3AD203B41FA5}">
                      <a16:colId xmlns:a16="http://schemas.microsoft.com/office/drawing/2014/main" val="3510212447"/>
                    </a:ext>
                  </a:extLst>
                </a:gridCol>
                <a:gridCol w="1102502">
                  <a:extLst>
                    <a:ext uri="{9D8B030D-6E8A-4147-A177-3AD203B41FA5}">
                      <a16:colId xmlns:a16="http://schemas.microsoft.com/office/drawing/2014/main" val="311506594"/>
                    </a:ext>
                  </a:extLst>
                </a:gridCol>
                <a:gridCol w="1102502">
                  <a:extLst>
                    <a:ext uri="{9D8B030D-6E8A-4147-A177-3AD203B41FA5}">
                      <a16:colId xmlns:a16="http://schemas.microsoft.com/office/drawing/2014/main" val="857412353"/>
                    </a:ext>
                  </a:extLst>
                </a:gridCol>
              </a:tblGrid>
              <a:tr h="365429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1" i="0" u="none" strike="noStrike" cap="all" spc="6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U" sz="11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count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U" sz="11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U" sz="11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U" sz="11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min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U" sz="11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U" sz="11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U" sz="11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AU" sz="11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max</a:t>
                      </a:r>
                    </a:p>
                  </a:txBody>
                  <a:tcPr marL="8651" marR="8651" marT="83052" marB="8305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531798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Current Ratio</a:t>
                      </a:r>
                    </a:p>
                  </a:txBody>
                  <a:tcPr marL="8651" marR="8651" marT="8651" marB="830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5.85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8.30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0.17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1.09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2.27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6.48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32.22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20942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Quick Ratio</a:t>
                      </a:r>
                    </a:p>
                  </a:txBody>
                  <a:tcPr marL="8651" marR="8651" marT="8651" marB="830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5.39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8.12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0.74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1.76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5.89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31.18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563953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Debt to Asset</a:t>
                      </a:r>
                    </a:p>
                  </a:txBody>
                  <a:tcPr marL="8651" marR="8651" marT="8651" marB="830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0.34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0.33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0.02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0.07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0.26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1.24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843482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Debt to Equity</a:t>
                      </a:r>
                    </a:p>
                  </a:txBody>
                  <a:tcPr marL="8651" marR="8651" marT="8651" marB="830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0.80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1.11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0.02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0.08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0.35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4.35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914407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Interest Coverage</a:t>
                      </a:r>
                    </a:p>
                  </a:txBody>
                  <a:tcPr marL="8651" marR="8651" marT="8651" marB="830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0.44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930546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ROE</a:t>
                      </a:r>
                    </a:p>
                  </a:txBody>
                  <a:tcPr marL="8651" marR="8651" marT="8651" marB="830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-0.48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0.97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-3.62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-0.54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-0.11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0.07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0.28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7765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ROA</a:t>
                      </a:r>
                    </a:p>
                  </a:txBody>
                  <a:tcPr marL="8651" marR="8651" marT="8651" marB="830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-0.33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0.62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-2.28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-0.40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-0.09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0.04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0.17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438576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d_loss</a:t>
                      </a:r>
                      <a:endParaRPr lang="en-AU" sz="15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51" marR="8651" marT="8651" marB="830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0.64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0.48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152340"/>
                  </a:ext>
                </a:extLst>
              </a:tr>
              <a:tr h="346396">
                <a:tc>
                  <a:txBody>
                    <a:bodyPr/>
                    <a:lstStyle/>
                    <a:p>
                      <a:pPr algn="ctr" fontAlgn="t"/>
                      <a:r>
                        <a:rPr lang="en-AU" sz="15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delisted</a:t>
                      </a:r>
                    </a:p>
                  </a:txBody>
                  <a:tcPr marL="8651" marR="8651" marT="8651" marB="830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16,206 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8651" marR="8651" marT="8651" marB="8305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03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8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A6EC0-2395-E148-8A81-164F1772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T-Test statistics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C8980FE-3830-8241-8A49-0D8BE365DB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341857"/>
              </p:ext>
            </p:extLst>
          </p:nvPr>
        </p:nvGraphicFramePr>
        <p:xfrm>
          <a:off x="4777316" y="1295941"/>
          <a:ext cx="6780702" cy="37900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68637">
                  <a:extLst>
                    <a:ext uri="{9D8B030D-6E8A-4147-A177-3AD203B41FA5}">
                      <a16:colId xmlns:a16="http://schemas.microsoft.com/office/drawing/2014/main" val="2279228243"/>
                    </a:ext>
                  </a:extLst>
                </a:gridCol>
                <a:gridCol w="1612544">
                  <a:extLst>
                    <a:ext uri="{9D8B030D-6E8A-4147-A177-3AD203B41FA5}">
                      <a16:colId xmlns:a16="http://schemas.microsoft.com/office/drawing/2014/main" val="111527825"/>
                    </a:ext>
                  </a:extLst>
                </a:gridCol>
                <a:gridCol w="1484420">
                  <a:extLst>
                    <a:ext uri="{9D8B030D-6E8A-4147-A177-3AD203B41FA5}">
                      <a16:colId xmlns:a16="http://schemas.microsoft.com/office/drawing/2014/main" val="3615019971"/>
                    </a:ext>
                  </a:extLst>
                </a:gridCol>
                <a:gridCol w="1815101">
                  <a:extLst>
                    <a:ext uri="{9D8B030D-6E8A-4147-A177-3AD203B41FA5}">
                      <a16:colId xmlns:a16="http://schemas.microsoft.com/office/drawing/2014/main" val="3198453152"/>
                    </a:ext>
                  </a:extLst>
                </a:gridCol>
              </a:tblGrid>
              <a:tr h="47375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Variables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T-stat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p-value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Reject (Yes/No)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92013"/>
                  </a:ext>
                </a:extLst>
              </a:tr>
              <a:tr h="47375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Current Ratio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-8.097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REJECT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820150"/>
                  </a:ext>
                </a:extLst>
              </a:tr>
              <a:tr h="47375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Quick Ratio</a:t>
                      </a:r>
                    </a:p>
                  </a:txBody>
                  <a:tcPr marL="195228" marR="117137" marT="117137" marB="117137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-8.004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REJECT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958"/>
                  </a:ext>
                </a:extLst>
              </a:tr>
              <a:tr h="47375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Debt to Asset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20.905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REJECT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620027"/>
                  </a:ext>
                </a:extLst>
              </a:tr>
              <a:tr h="47375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Debt to Equity</a:t>
                      </a:r>
                    </a:p>
                  </a:txBody>
                  <a:tcPr marL="195228" marR="117137" marT="117137" marB="117137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15.911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REJECT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42125"/>
                  </a:ext>
                </a:extLst>
              </a:tr>
              <a:tr h="47375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Interest Coverage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4.827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REJECT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054403"/>
                  </a:ext>
                </a:extLst>
              </a:tr>
              <a:tr h="47375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ROE</a:t>
                      </a:r>
                    </a:p>
                  </a:txBody>
                  <a:tcPr marL="195228" marR="117137" marT="117137" marB="117137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-3.697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REJECT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770956"/>
                  </a:ext>
                </a:extLst>
              </a:tr>
              <a:tr h="47375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ROA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-2.887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0.004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REJECT</a:t>
                      </a:r>
                    </a:p>
                  </a:txBody>
                  <a:tcPr marL="195228" marR="117137" marT="117137" marB="11713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89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62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27FF-CACC-F140-88EB-C05F0950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C2C2C"/>
                </a:solidFill>
              </a:rPr>
              <a:t>Correlation between key variables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5170821-3D43-EB4C-B675-8D171DE71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096" y="1327150"/>
            <a:ext cx="7302059" cy="553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001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F136-FB23-AB45-85EF-59BB4414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Liquidity Ratios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9E2EF18-10C7-934B-91C9-BDA0D83DA2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4115"/>
            <a:ext cx="10515600" cy="419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69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7ED5-C89F-4B4F-826B-EFD449C8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Solvency Ratios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9A6B7DA-A8FB-D145-B088-B33AA73949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11200"/>
            <a:ext cx="10515600" cy="418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628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4E05-9A64-0844-B240-629EC462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Profitability Ratios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7D94E3F-8A23-5F4F-A8BF-43D0549B5A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29862"/>
            <a:ext cx="10515600" cy="414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301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F136-FB23-AB45-85EF-59BB4414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Liquidity Ratios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25ED258-F262-654A-8F80-20B88FFACF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38338"/>
            <a:ext cx="10515600" cy="412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788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7ED5-C89F-4B4F-826B-EFD449C8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Solvency Ratios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828F644-6516-8947-8847-E2F050ACAD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75846"/>
            <a:ext cx="10515600" cy="405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188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4E05-9A64-0844-B240-629EC462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Profitability Ratios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F55E6E9-2E7B-D343-836A-0EF2E2997E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0439"/>
            <a:ext cx="10515600" cy="404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250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A267-6831-0849-81E2-9075AF88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of Delisted companies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22C059B-3C27-0243-A050-B93ABCA93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12645"/>
              </p:ext>
            </p:extLst>
          </p:nvPr>
        </p:nvGraphicFramePr>
        <p:xfrm>
          <a:off x="6496596" y="5458577"/>
          <a:ext cx="522732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440">
                  <a:extLst>
                    <a:ext uri="{9D8B030D-6E8A-4147-A177-3AD203B41FA5}">
                      <a16:colId xmlns:a16="http://schemas.microsoft.com/office/drawing/2014/main" val="698679523"/>
                    </a:ext>
                  </a:extLst>
                </a:gridCol>
                <a:gridCol w="1742440">
                  <a:extLst>
                    <a:ext uri="{9D8B030D-6E8A-4147-A177-3AD203B41FA5}">
                      <a16:colId xmlns:a16="http://schemas.microsoft.com/office/drawing/2014/main" val="449471170"/>
                    </a:ext>
                  </a:extLst>
                </a:gridCol>
                <a:gridCol w="1742440">
                  <a:extLst>
                    <a:ext uri="{9D8B030D-6E8A-4147-A177-3AD203B41FA5}">
                      <a16:colId xmlns:a16="http://schemas.microsoft.com/office/drawing/2014/main" val="919415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Listed 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Delisted companies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772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0.902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0.098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922364"/>
                  </a:ext>
                </a:extLst>
              </a:tr>
            </a:tbl>
          </a:graphicData>
        </a:graphic>
      </p:graphicFrame>
      <p:pic>
        <p:nvPicPr>
          <p:cNvPr id="7172" name="Picture 4">
            <a:extLst>
              <a:ext uri="{FF2B5EF4-FFF2-40B4-BE49-F238E27FC236}">
                <a16:creationId xmlns:a16="http://schemas.microsoft.com/office/drawing/2014/main" id="{71B489E7-FF0E-2443-8600-00B7831777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78" y="1825625"/>
            <a:ext cx="52251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62577B65-785F-424A-97DA-39AEDA5A4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596" y="1873249"/>
            <a:ext cx="5050926" cy="332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551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0A7686-5167-FE4D-B308-CA0C2706C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Classification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5745-1890-5540-837D-796D2D550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Performed standard scaling and SMOTE for under-sampling</a:t>
            </a:r>
          </a:p>
          <a:p>
            <a:r>
              <a:rPr lang="en-US" dirty="0">
                <a:solidFill>
                  <a:srgbClr val="000000"/>
                </a:solidFill>
              </a:rPr>
              <a:t>Logistic Regression model</a:t>
            </a:r>
          </a:p>
          <a:p>
            <a:r>
              <a:rPr lang="en-US" dirty="0">
                <a:solidFill>
                  <a:srgbClr val="000000"/>
                </a:solidFill>
              </a:rPr>
              <a:t>Support Vector Machines</a:t>
            </a:r>
          </a:p>
          <a:p>
            <a:r>
              <a:rPr lang="en-US" dirty="0">
                <a:solidFill>
                  <a:srgbClr val="000000"/>
                </a:solidFill>
              </a:rPr>
              <a:t>Naïve Bayes</a:t>
            </a:r>
          </a:p>
          <a:p>
            <a:r>
              <a:rPr lang="en-US" dirty="0">
                <a:solidFill>
                  <a:srgbClr val="000000"/>
                </a:solidFill>
              </a:rPr>
              <a:t>Performed cross validation along with </a:t>
            </a:r>
            <a:r>
              <a:rPr lang="en-US" dirty="0" err="1">
                <a:solidFill>
                  <a:srgbClr val="000000"/>
                </a:solidFill>
              </a:rPr>
              <a:t>KFold</a:t>
            </a:r>
            <a:r>
              <a:rPr lang="en-US" dirty="0">
                <a:solidFill>
                  <a:srgbClr val="000000"/>
                </a:solidFill>
              </a:rPr>
              <a:t> and </a:t>
            </a:r>
            <a:r>
              <a:rPr lang="en-US" dirty="0" err="1">
                <a:solidFill>
                  <a:srgbClr val="000000"/>
                </a:solidFill>
              </a:rPr>
              <a:t>RepeatedKFold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125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1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5"/>
              </a:gs>
              <a:gs pos="25000">
                <a:schemeClr val="accent5"/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2DD2BC0-6F29-4B4F-8D61-2DCF6D2E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DED3D0-182D-5E42-8964-FC439CB6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Classification Model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3BD323-5769-C14C-B284-09BE11C1E9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2887591"/>
              </p:ext>
            </p:extLst>
          </p:nvPr>
        </p:nvGraphicFramePr>
        <p:xfrm>
          <a:off x="1036320" y="3350996"/>
          <a:ext cx="10119363" cy="222928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55127">
                  <a:extLst>
                    <a:ext uri="{9D8B030D-6E8A-4147-A177-3AD203B41FA5}">
                      <a16:colId xmlns:a16="http://schemas.microsoft.com/office/drawing/2014/main" val="2559590637"/>
                    </a:ext>
                  </a:extLst>
                </a:gridCol>
                <a:gridCol w="1052857">
                  <a:extLst>
                    <a:ext uri="{9D8B030D-6E8A-4147-A177-3AD203B41FA5}">
                      <a16:colId xmlns:a16="http://schemas.microsoft.com/office/drawing/2014/main" val="782699196"/>
                    </a:ext>
                  </a:extLst>
                </a:gridCol>
                <a:gridCol w="1603492">
                  <a:extLst>
                    <a:ext uri="{9D8B030D-6E8A-4147-A177-3AD203B41FA5}">
                      <a16:colId xmlns:a16="http://schemas.microsoft.com/office/drawing/2014/main" val="4089780708"/>
                    </a:ext>
                  </a:extLst>
                </a:gridCol>
                <a:gridCol w="1473180">
                  <a:extLst>
                    <a:ext uri="{9D8B030D-6E8A-4147-A177-3AD203B41FA5}">
                      <a16:colId xmlns:a16="http://schemas.microsoft.com/office/drawing/2014/main" val="1228409585"/>
                    </a:ext>
                  </a:extLst>
                </a:gridCol>
                <a:gridCol w="1105473">
                  <a:extLst>
                    <a:ext uri="{9D8B030D-6E8A-4147-A177-3AD203B41FA5}">
                      <a16:colId xmlns:a16="http://schemas.microsoft.com/office/drawing/2014/main" val="3919389566"/>
                    </a:ext>
                  </a:extLst>
                </a:gridCol>
                <a:gridCol w="1493266">
                  <a:extLst>
                    <a:ext uri="{9D8B030D-6E8A-4147-A177-3AD203B41FA5}">
                      <a16:colId xmlns:a16="http://schemas.microsoft.com/office/drawing/2014/main" val="94018476"/>
                    </a:ext>
                  </a:extLst>
                </a:gridCol>
                <a:gridCol w="1031292">
                  <a:extLst>
                    <a:ext uri="{9D8B030D-6E8A-4147-A177-3AD203B41FA5}">
                      <a16:colId xmlns:a16="http://schemas.microsoft.com/office/drawing/2014/main" val="2550068718"/>
                    </a:ext>
                  </a:extLst>
                </a:gridCol>
                <a:gridCol w="904676">
                  <a:extLst>
                    <a:ext uri="{9D8B030D-6E8A-4147-A177-3AD203B41FA5}">
                      <a16:colId xmlns:a16="http://schemas.microsoft.com/office/drawing/2014/main" val="3272283146"/>
                    </a:ext>
                  </a:extLst>
                </a:gridCol>
              </a:tblGrid>
              <a:tr h="739726">
                <a:tc>
                  <a:txBody>
                    <a:bodyPr/>
                    <a:lstStyle/>
                    <a:p>
                      <a:pPr algn="l" fontAlgn="b"/>
                      <a:r>
                        <a:rPr lang="en-AU" sz="1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326" marR="44519" marT="89036" marB="890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Score</a:t>
                      </a:r>
                    </a:p>
                  </a:txBody>
                  <a:tcPr marL="62326" marR="44519" marT="89036" marB="890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Cross validation score (cv=5)</a:t>
                      </a:r>
                    </a:p>
                  </a:txBody>
                  <a:tcPr marL="62326" marR="44519" marT="89036" marB="890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Accuracy Score</a:t>
                      </a:r>
                    </a:p>
                  </a:txBody>
                  <a:tcPr marL="62326" marR="44519" marT="89036" marB="890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Recall</a:t>
                      </a:r>
                    </a:p>
                  </a:txBody>
                  <a:tcPr marL="62326" marR="44519" marT="89036" marB="890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Precision</a:t>
                      </a:r>
                    </a:p>
                  </a:txBody>
                  <a:tcPr marL="62326" marR="44519" marT="89036" marB="890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f1-score</a:t>
                      </a:r>
                    </a:p>
                  </a:txBody>
                  <a:tcPr marL="62326" marR="44519" marT="89036" marB="890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8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AUC</a:t>
                      </a:r>
                    </a:p>
                  </a:txBody>
                  <a:tcPr marL="62326" marR="44519" marT="89036" marB="890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468887"/>
                  </a:ext>
                </a:extLst>
              </a:tr>
              <a:tr h="570813">
                <a:tc>
                  <a:txBody>
                    <a:bodyPr/>
                    <a:lstStyle/>
                    <a:p>
                      <a:pPr algn="l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0.61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0.61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0.60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0.57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749563"/>
                  </a:ext>
                </a:extLst>
              </a:tr>
              <a:tr h="570813">
                <a:tc>
                  <a:txBody>
                    <a:bodyPr/>
                    <a:lstStyle/>
                    <a:p>
                      <a:pPr algn="l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Support Vector Machine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0.60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0.60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0.58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0.48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77834"/>
                  </a:ext>
                </a:extLst>
              </a:tr>
              <a:tr h="347935">
                <a:tc>
                  <a:txBody>
                    <a:bodyPr/>
                    <a:lstStyle/>
                    <a:p>
                      <a:pPr algn="l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Naïve Bayes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0.58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0.41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0.62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0.49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0.62</a:t>
                      </a:r>
                    </a:p>
                  </a:txBody>
                  <a:tcPr marL="62326" marR="44519" marT="9275" marB="890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52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08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A64E7-B7E0-244D-8D82-A6DF2BE0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ROC curve</a:t>
            </a:r>
          </a:p>
        </p:txBody>
      </p:sp>
      <p:pic>
        <p:nvPicPr>
          <p:cNvPr id="11268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FB73722A-D180-2B40-8814-A8311D49B5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035659"/>
            <a:ext cx="6780700" cy="478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490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EFF35-2C68-FC45-A85A-167CCC25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Logistic Regression (coefficients)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D0F8F8-0A7F-7745-A2C2-6F3B2A89C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196288"/>
              </p:ext>
            </p:extLst>
          </p:nvPr>
        </p:nvGraphicFramePr>
        <p:xfrm>
          <a:off x="4527804" y="810319"/>
          <a:ext cx="6946773" cy="5237361"/>
        </p:xfrm>
        <a:graphic>
          <a:graphicData uri="http://schemas.openxmlformats.org/drawingml/2006/table">
            <a:tbl>
              <a:tblPr/>
              <a:tblGrid>
                <a:gridCol w="4576697">
                  <a:extLst>
                    <a:ext uri="{9D8B030D-6E8A-4147-A177-3AD203B41FA5}">
                      <a16:colId xmlns:a16="http://schemas.microsoft.com/office/drawing/2014/main" val="215850033"/>
                    </a:ext>
                  </a:extLst>
                </a:gridCol>
                <a:gridCol w="2370076">
                  <a:extLst>
                    <a:ext uri="{9D8B030D-6E8A-4147-A177-3AD203B41FA5}">
                      <a16:colId xmlns:a16="http://schemas.microsoft.com/office/drawing/2014/main" val="2307764479"/>
                    </a:ext>
                  </a:extLst>
                </a:gridCol>
              </a:tblGrid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Ratio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-0.585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538428"/>
                  </a:ext>
                </a:extLst>
              </a:tr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Quick Ratio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0.622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009560"/>
                  </a:ext>
                </a:extLst>
              </a:tr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Debt to Asset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0.605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098552"/>
                  </a:ext>
                </a:extLst>
              </a:tr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Debt to Equity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-0.095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606340"/>
                  </a:ext>
                </a:extLst>
              </a:tr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Interest Coverage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0.057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626706"/>
                  </a:ext>
                </a:extLst>
              </a:tr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ROE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-0.027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323442"/>
                  </a:ext>
                </a:extLst>
              </a:tr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0.245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362284"/>
                  </a:ext>
                </a:extLst>
              </a:tr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d_loss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697168"/>
                  </a:ext>
                </a:extLst>
              </a:tr>
              <a:tr h="581929">
                <a:tc>
                  <a:txBody>
                    <a:bodyPr/>
                    <a:lstStyle/>
                    <a:p>
                      <a:pPr algn="l" fontAlgn="b"/>
                      <a:r>
                        <a:rPr lang="en-AU" sz="3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intercept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3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-0.105</a:t>
                      </a:r>
                    </a:p>
                  </a:txBody>
                  <a:tcPr marL="27278" marR="27278" marT="272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594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250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328B1-53EC-524B-9296-89310094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B2A4-9C89-2E41-81AA-79DC47E65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Findings</a:t>
            </a:r>
          </a:p>
          <a:p>
            <a:pPr lvl="1"/>
            <a:r>
              <a:rPr lang="en-AU" sz="2000" dirty="0"/>
              <a:t>The means of financial ratios are statistically different between listed and delisted companies.</a:t>
            </a:r>
          </a:p>
          <a:p>
            <a:pPr lvl="1"/>
            <a:r>
              <a:rPr lang="en-AU" sz="2000" dirty="0"/>
              <a:t>Amongst the three classification models (Logistic regression, support vector machine, Naïve Bayes), Logistic regression is the best model which has the highest accuracy score, recall and area under curve. </a:t>
            </a:r>
          </a:p>
          <a:p>
            <a:r>
              <a:rPr lang="en-US" sz="2000" dirty="0"/>
              <a:t>Limitations </a:t>
            </a:r>
          </a:p>
          <a:p>
            <a:pPr lvl="1"/>
            <a:r>
              <a:rPr lang="en-US" sz="2000" dirty="0"/>
              <a:t>The reasons for delisting have not been incorporated. </a:t>
            </a:r>
          </a:p>
          <a:p>
            <a:r>
              <a:rPr lang="en-US" sz="2000" dirty="0"/>
              <a:t>Future research</a:t>
            </a:r>
          </a:p>
          <a:p>
            <a:pPr lvl="1"/>
            <a:r>
              <a:rPr lang="en-US" sz="2000" dirty="0"/>
              <a:t>Further analysis including different types of industry.</a:t>
            </a:r>
          </a:p>
          <a:p>
            <a:pPr lvl="1"/>
            <a:r>
              <a:rPr lang="en-US" sz="2000" dirty="0"/>
              <a:t>Further analysis including other various factors including corporate governance. </a:t>
            </a:r>
          </a:p>
        </p:txBody>
      </p:sp>
    </p:spTree>
    <p:extLst>
      <p:ext uri="{BB962C8B-B14F-4D97-AF65-F5344CB8AC3E}">
        <p14:creationId xmlns:p14="http://schemas.microsoft.com/office/powerpoint/2010/main" val="2254539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DF3D50-6126-174B-83A2-4B738AE2C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4EE88-4FB2-DC4A-9029-DD473BBD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86497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</TotalTime>
  <Words>712</Words>
  <Application>Microsoft Macintosh PowerPoint</Application>
  <PresentationFormat>Widescreen</PresentationFormat>
  <Paragraphs>247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Mini Project 2</vt:lpstr>
      <vt:lpstr>Background </vt:lpstr>
      <vt:lpstr>Business Question</vt:lpstr>
      <vt:lpstr>Pipeline</vt:lpstr>
      <vt:lpstr>Financial ratios</vt:lpstr>
      <vt:lpstr>Summary statistics (2010-2019)</vt:lpstr>
      <vt:lpstr>T-Test statistics</vt:lpstr>
      <vt:lpstr>Correlation between key variables</vt:lpstr>
      <vt:lpstr>Liquidity Ratios</vt:lpstr>
      <vt:lpstr>Solvency Ratios</vt:lpstr>
      <vt:lpstr>Profitability Ratios</vt:lpstr>
      <vt:lpstr>Liquidity Ratios</vt:lpstr>
      <vt:lpstr>Solvency Ratios</vt:lpstr>
      <vt:lpstr>Profitability Ratios</vt:lpstr>
      <vt:lpstr>Trend of Delisted companies</vt:lpstr>
      <vt:lpstr>Classification Models</vt:lpstr>
      <vt:lpstr>Classification Model results</vt:lpstr>
      <vt:lpstr>ROC curve</vt:lpstr>
      <vt:lpstr>Logistic Regression (coefficients)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1</dc:title>
  <dc:creator>Jin Sug Yang</dc:creator>
  <cp:lastModifiedBy>Jin Sug Yang</cp:lastModifiedBy>
  <cp:revision>30</cp:revision>
  <dcterms:created xsi:type="dcterms:W3CDTF">2021-02-05T22:05:39Z</dcterms:created>
  <dcterms:modified xsi:type="dcterms:W3CDTF">2021-03-19T22:49:36Z</dcterms:modified>
</cp:coreProperties>
</file>