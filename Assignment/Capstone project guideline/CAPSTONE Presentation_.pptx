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" panose="02040503050406030204" pitchFamily="18" charset="0"/>
      <p:regular r:id="rId29"/>
      <p:bold r:id="rId30"/>
      <p:italic r:id="rId31"/>
      <p:boldItalic r:id="rId32"/>
    </p:embeddedFont>
    <p:embeddedFont>
      <p:font typeface="Roboto" panose="02000000000000000000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9bc51246fc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g9bc51246f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9bc51246fc_0_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g9bc51246f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9bc51246fc_0_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g9bc51246f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9bc51246fc_0_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g9bc51246f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9bc51246fc_0_3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g9bc51246fc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9bc51246fc_0_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9bc51246fc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970e921306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970e921306_1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970e921306_1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3f44b4614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3f44b4614_1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73f44b4614_1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a000a237f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a000a237ff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a000a237ff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a000a237f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a000a237ff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a000a237ff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9719570d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9719570d7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1100">
                <a:latin typeface="Arial"/>
                <a:ea typeface="Arial"/>
                <a:cs typeface="Arial"/>
                <a:sym typeface="Arial"/>
              </a:rPr>
              <a:t>The following diagram shows the overall end-to-end process for defining, designing and delivering the Capstone project.</a:t>
            </a:r>
            <a:endParaRPr/>
          </a:p>
        </p:txBody>
      </p:sp>
      <p:sp>
        <p:nvSpPr>
          <p:cNvPr id="217" name="Google Shape;217;g9719570d7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a000a237f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a000a237ff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a000a237ff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9bc51246f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9bc51246fc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9bc51246fc_0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73f44b4614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73f44b4614_1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g73f44b4614_1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9bc51246f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9bc51246fc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9bc51246fc_0_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9bc51246fc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9bc51246fc_0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9bc51246fc_0_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9bc51246f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9bc51246fc_0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9bc51246fc_0_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9bc51246fc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9bc51246fc_0_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9bc51246fc_0_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9bc51246fc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9bc51246fc_0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g9bc51246fc_0_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/>
        </p:nvSpPr>
        <p:spPr>
          <a:xfrm>
            <a:off x="3735454" y="6356350"/>
            <a:ext cx="4721092" cy="3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© 2019 Institute of Data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11095219" y="6404313"/>
            <a:ext cx="258582" cy="26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black 1-column">
  <p:cSld name="1_Title and Content black 1-colum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  <a:defRPr>
                <a:solidFill>
                  <a:srgbClr val="1D1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1267261" y="1523224"/>
            <a:ext cx="10709835" cy="4721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•"/>
              <a:defRPr sz="2400">
                <a:solidFill>
                  <a:srgbClr val="595959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•"/>
              <a:defRPr sz="2400">
                <a:solidFill>
                  <a:srgbClr val="595959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•"/>
              <a:defRPr sz="2400">
                <a:solidFill>
                  <a:srgbClr val="595959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•"/>
              <a:defRPr sz="2400">
                <a:solidFill>
                  <a:srgbClr val="595959"/>
                </a:solidFill>
              </a:defRPr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167080" y="6334462"/>
            <a:ext cx="425942" cy="485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sz="1200">
              <a:solidFill>
                <a:srgbClr val="888888"/>
              </a:solidFill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159709" y="6244421"/>
            <a:ext cx="514307" cy="477054"/>
          </a:xfrm>
          <a:prstGeom prst="rect">
            <a:avLst/>
          </a:prstGeom>
          <a:solidFill>
            <a:srgbClr val="1D1F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56528"/>
            <a:ext cx="857680" cy="85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3735454" y="6356350"/>
            <a:ext cx="4721092" cy="3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© 2019 Institute of Data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utline white 1-column">
  <p:cSld name="Outline white 1-column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0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  <a:defRPr>
                <a:solidFill>
                  <a:srgbClr val="1D1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50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cxnSp>
        <p:nvCxnSpPr>
          <p:cNvPr id="28" name="Google Shape;28;p4"/>
          <p:cNvCxnSpPr/>
          <p:nvPr/>
        </p:nvCxnSpPr>
        <p:spPr>
          <a:xfrm flipH="1">
            <a:off x="2842477" y="276934"/>
            <a:ext cx="1" cy="6296300"/>
          </a:xfrm>
          <a:prstGeom prst="straightConnector1">
            <a:avLst/>
          </a:prstGeom>
          <a:noFill/>
          <a:ln w="38100" cap="flat" cmpd="sng">
            <a:solidFill>
              <a:srgbClr val="FF46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11095216" y="6404312"/>
            <a:ext cx="258585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159709" y="6244421"/>
            <a:ext cx="514307" cy="477054"/>
          </a:xfrm>
          <a:prstGeom prst="rect">
            <a:avLst/>
          </a:prstGeom>
          <a:solidFill>
            <a:srgbClr val="1D1F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39483" y="275093"/>
            <a:ext cx="3158750" cy="145788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735454" y="6356350"/>
            <a:ext cx="4721092" cy="3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© 2019 Institute of Data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1D1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56528"/>
            <a:ext cx="857680" cy="857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/>
          <p:nvPr/>
        </p:nvSpPr>
        <p:spPr>
          <a:xfrm>
            <a:off x="39841" y="6462998"/>
            <a:ext cx="22576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AU"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 txBox="1"/>
          <p:nvPr/>
        </p:nvSpPr>
        <p:spPr>
          <a:xfrm>
            <a:off x="39841" y="6462998"/>
            <a:ext cx="22576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AU"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56528"/>
            <a:ext cx="857680" cy="857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ck Title black">
  <p:cSld name="Slide Deck Title black">
    <p:bg>
      <p:bgPr>
        <a:solidFill>
          <a:schemeClr val="dk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924361" y="275499"/>
            <a:ext cx="10709835" cy="1683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1"/>
          </p:nvPr>
        </p:nvSpPr>
        <p:spPr>
          <a:xfrm>
            <a:off x="924361" y="2743200"/>
            <a:ext cx="10709835" cy="383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400"/>
              <a:buNone/>
              <a:defRPr sz="2400">
                <a:solidFill>
                  <a:srgbClr val="A5A5A5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  <a:defRPr sz="2400">
                <a:solidFill>
                  <a:srgbClr val="A5A5A5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  <a:defRPr sz="2400">
                <a:solidFill>
                  <a:srgbClr val="A5A5A5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  <a:defRPr sz="2400">
                <a:solidFill>
                  <a:srgbClr val="A5A5A5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  <a:defRPr sz="2400">
                <a:solidFill>
                  <a:srgbClr val="A5A5A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white 1-column">
  <p:cSld name="Section Title white 1-colum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49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49" cy="482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95" name="Google Shape;95;p14"/>
          <p:cNvCxnSpPr/>
          <p:nvPr/>
        </p:nvCxnSpPr>
        <p:spPr>
          <a:xfrm>
            <a:off x="2842477" y="276934"/>
            <a:ext cx="0" cy="6296299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4"/>
          <p:cNvSpPr txBox="1">
            <a:spLocks noGrp="1"/>
          </p:cNvSpPr>
          <p:nvPr>
            <p:ph type="sldNum" idx="12"/>
          </p:nvPr>
        </p:nvSpPr>
        <p:spPr>
          <a:xfrm>
            <a:off x="39841" y="6462998"/>
            <a:ext cx="22576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black 1-column">
  <p:cSld name="Section Title black 1-column">
    <p:bg>
      <p:bgPr>
        <a:solidFill>
          <a:schemeClr val="dk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49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49" cy="482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00" name="Google Shape;100;p15"/>
          <p:cNvCxnSpPr/>
          <p:nvPr/>
        </p:nvCxnSpPr>
        <p:spPr>
          <a:xfrm>
            <a:off x="2842477" y="276934"/>
            <a:ext cx="0" cy="6296299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1" name="Google Shape;10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0747" y="275499"/>
            <a:ext cx="2152157" cy="2016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>
            <a:spLocks noGrp="1"/>
          </p:cNvSpPr>
          <p:nvPr>
            <p:ph type="sldNum" idx="12"/>
          </p:nvPr>
        </p:nvSpPr>
        <p:spPr>
          <a:xfrm>
            <a:off x="39841" y="6462998"/>
            <a:ext cx="22576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white 2-column">
  <p:cSld name="Section Title white 2-colum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49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49" cy="482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06" name="Google Shape;106;p16"/>
          <p:cNvCxnSpPr/>
          <p:nvPr/>
        </p:nvCxnSpPr>
        <p:spPr>
          <a:xfrm>
            <a:off x="2842477" y="276934"/>
            <a:ext cx="0" cy="6296299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7" name="Google Shape;107;p16"/>
          <p:cNvSpPr txBox="1">
            <a:spLocks noGrp="1"/>
          </p:cNvSpPr>
          <p:nvPr>
            <p:ph type="sldNum" idx="12"/>
          </p:nvPr>
        </p:nvSpPr>
        <p:spPr>
          <a:xfrm>
            <a:off x="39841" y="6462998"/>
            <a:ext cx="22576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black 2-column">
  <p:cSld name="Section Title black 2-column">
    <p:bg>
      <p:bgPr>
        <a:solidFill>
          <a:schemeClr val="dk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49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49" cy="482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11" name="Google Shape;111;p17"/>
          <p:cNvCxnSpPr/>
          <p:nvPr/>
        </p:nvCxnSpPr>
        <p:spPr>
          <a:xfrm>
            <a:off x="2842477" y="276934"/>
            <a:ext cx="0" cy="6296299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39841" y="6462998"/>
            <a:ext cx="22576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hite 1-column">
  <p:cSld name="Title and Content white 1-colum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924361" y="275499"/>
            <a:ext cx="10709835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924361" y="1745524"/>
            <a:ext cx="10709835" cy="482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sldNum" idx="12"/>
          </p:nvPr>
        </p:nvSpPr>
        <p:spPr>
          <a:xfrm>
            <a:off x="39841" y="6462998"/>
            <a:ext cx="22576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hite 2-column">
  <p:cSld name="Title and Content white 2-column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>
            <a:spLocks noGrp="1"/>
          </p:cNvSpPr>
          <p:nvPr>
            <p:ph type="title"/>
          </p:nvPr>
        </p:nvSpPr>
        <p:spPr>
          <a:xfrm>
            <a:off x="924361" y="275499"/>
            <a:ext cx="10709835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body" idx="1"/>
          </p:nvPr>
        </p:nvSpPr>
        <p:spPr>
          <a:xfrm>
            <a:off x="924361" y="1745524"/>
            <a:ext cx="10709835" cy="482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sldNum" idx="12"/>
          </p:nvPr>
        </p:nvSpPr>
        <p:spPr>
          <a:xfrm>
            <a:off x="39841" y="6462998"/>
            <a:ext cx="22576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hite 3-column">
  <p:cSld name="Title and Content white 3-column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924361" y="275499"/>
            <a:ext cx="10709835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body" idx="1"/>
          </p:nvPr>
        </p:nvSpPr>
        <p:spPr>
          <a:xfrm>
            <a:off x="924361" y="1745524"/>
            <a:ext cx="10709835" cy="482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20"/>
          <p:cNvSpPr txBox="1">
            <a:spLocks noGrp="1"/>
          </p:cNvSpPr>
          <p:nvPr>
            <p:ph type="sldNum" idx="12"/>
          </p:nvPr>
        </p:nvSpPr>
        <p:spPr>
          <a:xfrm>
            <a:off x="39841" y="6462998"/>
            <a:ext cx="22576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/>
        </p:nvSpPr>
        <p:spPr>
          <a:xfrm>
            <a:off x="3752267" y="4705060"/>
            <a:ext cx="4721093" cy="101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lang="en-AU" sz="6000">
                <a:solidFill>
                  <a:schemeClr val="dk1"/>
                </a:solidFill>
              </a:rPr>
              <a:t>21</a:t>
            </a:r>
            <a:endParaRPr sz="6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chemeClr val="dk1"/>
              </a:solidFill>
            </a:endParaRPr>
          </a:p>
        </p:txBody>
      </p:sp>
      <p:cxnSp>
        <p:nvCxnSpPr>
          <p:cNvPr id="130" name="Google Shape;130;p21"/>
          <p:cNvCxnSpPr/>
          <p:nvPr/>
        </p:nvCxnSpPr>
        <p:spPr>
          <a:xfrm>
            <a:off x="4044088" y="4565536"/>
            <a:ext cx="4149912" cy="13676"/>
          </a:xfrm>
          <a:prstGeom prst="straightConnector1">
            <a:avLst/>
          </a:prstGeom>
          <a:noFill/>
          <a:ln w="28575" cap="flat" cmpd="sng">
            <a:solidFill>
              <a:srgbClr val="FF46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1" name="Google Shape;131;p21"/>
          <p:cNvSpPr txBox="1"/>
          <p:nvPr/>
        </p:nvSpPr>
        <p:spPr>
          <a:xfrm>
            <a:off x="159707" y="6244421"/>
            <a:ext cx="524439" cy="485137"/>
          </a:xfrm>
          <a:prstGeom prst="rect">
            <a:avLst/>
          </a:prstGeom>
          <a:solidFill>
            <a:srgbClr val="1D1FFF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pic>
        <p:nvPicPr>
          <p:cNvPr id="132" name="Google Shape;13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1800" y="1514960"/>
            <a:ext cx="5918414" cy="2731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body" idx="1"/>
          </p:nvPr>
        </p:nvSpPr>
        <p:spPr>
          <a:xfrm>
            <a:off x="1040108" y="2324268"/>
            <a:ext cx="10709835" cy="3820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endParaRPr sz="4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endParaRPr sz="4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D4755"/>
              </a:buClr>
              <a:buSzPts val="3600"/>
              <a:buFont typeface="Cambria"/>
              <a:buNone/>
            </a:pPr>
            <a:endParaRPr sz="44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D4755"/>
              </a:buClr>
              <a:buSzPts val="3600"/>
              <a:buFont typeface="Cambria"/>
              <a:buNone/>
            </a:pPr>
            <a:r>
              <a:rPr lang="en-AU" sz="4400">
                <a:solidFill>
                  <a:srgbClr val="FF4600"/>
                </a:solidFill>
                <a:latin typeface="Cambria"/>
                <a:ea typeface="Cambria"/>
                <a:cs typeface="Cambria"/>
                <a:sym typeface="Cambria"/>
              </a:rPr>
              <a:t>Capstone Project</a:t>
            </a:r>
            <a:endParaRPr sz="2400">
              <a:solidFill>
                <a:srgbClr val="FF46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38" name="Google Shape;138;p22"/>
          <p:cNvCxnSpPr/>
          <p:nvPr/>
        </p:nvCxnSpPr>
        <p:spPr>
          <a:xfrm>
            <a:off x="1089130" y="5269266"/>
            <a:ext cx="6156352" cy="20286"/>
          </a:xfrm>
          <a:prstGeom prst="straightConnector1">
            <a:avLst/>
          </a:prstGeom>
          <a:noFill/>
          <a:ln w="28575" cap="flat" cmpd="sng">
            <a:solidFill>
              <a:srgbClr val="FF460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9" name="Google Shape;139;p22"/>
          <p:cNvCxnSpPr/>
          <p:nvPr/>
        </p:nvCxnSpPr>
        <p:spPr>
          <a:xfrm>
            <a:off x="1089130" y="4117302"/>
            <a:ext cx="6156352" cy="20286"/>
          </a:xfrm>
          <a:prstGeom prst="straightConnector1">
            <a:avLst/>
          </a:prstGeom>
          <a:noFill/>
          <a:ln w="28575" cap="flat" cmpd="sng">
            <a:solidFill>
              <a:srgbClr val="FF4600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2283575" y="295250"/>
            <a:ext cx="8440500" cy="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>
                <a:latin typeface="Roboto"/>
                <a:ea typeface="Roboto"/>
                <a:cs typeface="Roboto"/>
                <a:sym typeface="Roboto"/>
              </a:rPr>
              <a:t>What is Capstone Project?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858475" y="1263050"/>
            <a:ext cx="10736100" cy="49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</a:rPr>
              <a:t>•</a:t>
            </a:r>
            <a:r>
              <a:rPr lang="en-A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are required to </a:t>
            </a:r>
            <a:r>
              <a:rPr lang="en-AU" sz="20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Define, Design and Deliver </a:t>
            </a:r>
            <a:r>
              <a:rPr lang="en-A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AU" sz="20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Data Science project</a:t>
            </a:r>
            <a:r>
              <a:rPr lang="en-AU" sz="2000" b="1">
                <a:solidFill>
                  <a:srgbClr val="1DBBD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A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towards the end of the course.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</a:rPr>
              <a:t>What are some </a:t>
            </a:r>
            <a:r>
              <a:rPr lang="en-A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milestones?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</a:rPr>
              <a:t>•</a:t>
            </a:r>
            <a:r>
              <a:rPr lang="en-A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 -8 weeks: present </a:t>
            </a:r>
            <a:r>
              <a:rPr lang="en-AU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3 ideas for the project</a:t>
            </a:r>
            <a:endParaRPr sz="18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</a:rPr>
              <a:t>•</a:t>
            </a:r>
            <a:r>
              <a:rPr lang="en-A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 -6 weeks: decide on one option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</a:rPr>
              <a:t>•</a:t>
            </a:r>
            <a:r>
              <a:rPr lang="en-A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 -5 weeks: collect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</a:rPr>
              <a:t>•</a:t>
            </a:r>
            <a:r>
              <a:rPr lang="en-A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 -4 weeks: present initial findings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</a:rPr>
              <a:t>•</a:t>
            </a:r>
            <a:r>
              <a:rPr lang="en-A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 -2 weeks: present an update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</a:rPr>
              <a:t>•</a:t>
            </a:r>
            <a:r>
              <a:rPr lang="en-A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- 1 week: Dry run of final presentation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1800">
                <a:solidFill>
                  <a:schemeClr val="dk1"/>
                </a:solidFill>
              </a:rPr>
              <a:t>•</a:t>
            </a:r>
            <a:r>
              <a:rPr lang="en-A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 day of course: </a:t>
            </a:r>
            <a:r>
              <a:rPr lang="en-AU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Present final report </a:t>
            </a:r>
            <a:endParaRPr sz="18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2283575" y="295250"/>
            <a:ext cx="8440500" cy="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>
                <a:latin typeface="Roboto"/>
                <a:ea typeface="Roboto"/>
                <a:cs typeface="Roboto"/>
                <a:sym typeface="Roboto"/>
              </a:rPr>
              <a:t>What to present?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858475" y="1263050"/>
            <a:ext cx="10686600" cy="48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Business perspective</a:t>
            </a:r>
            <a:endParaRPr sz="24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Calibri"/>
              <a:buChar char="●"/>
            </a:pPr>
            <a:r>
              <a:rPr lang="en-AU" sz="24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Business insights uncovered</a:t>
            </a:r>
            <a:endParaRPr sz="24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Calibri"/>
              <a:buChar char="●"/>
            </a:pPr>
            <a:r>
              <a:rPr lang="en-AU" sz="24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Business scenarios for how the project can be deployed and used</a:t>
            </a:r>
            <a:endParaRPr sz="24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Calibri"/>
              <a:buChar char="●"/>
            </a:pPr>
            <a:r>
              <a:rPr lang="en-AU" sz="24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Approach for estimating business value</a:t>
            </a:r>
            <a:endParaRPr sz="24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Technical perspective</a:t>
            </a:r>
            <a:endParaRPr sz="24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Calibri"/>
              <a:buChar char="●"/>
            </a:pPr>
            <a:r>
              <a:rPr lang="en-AU" sz="24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Techniques used</a:t>
            </a:r>
            <a:endParaRPr sz="24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Calibri"/>
              <a:buChar char="●"/>
            </a:pPr>
            <a:r>
              <a:rPr lang="en-AU" sz="24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sz="24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Calibri"/>
              <a:buChar char="●"/>
            </a:pPr>
            <a:r>
              <a:rPr lang="en-AU" sz="24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Model validation results</a:t>
            </a:r>
            <a:endParaRPr sz="24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>
            <a:spLocks noGrp="1"/>
          </p:cNvSpPr>
          <p:nvPr>
            <p:ph type="title"/>
          </p:nvPr>
        </p:nvSpPr>
        <p:spPr>
          <a:xfrm>
            <a:off x="2451325" y="275525"/>
            <a:ext cx="8440500" cy="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>
                <a:latin typeface="Roboto"/>
                <a:ea typeface="Roboto"/>
                <a:cs typeface="Roboto"/>
                <a:sym typeface="Roboto"/>
              </a:rPr>
              <a:t>Project Evaluation Criteria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5"/>
          <p:cNvSpPr txBox="1"/>
          <p:nvPr/>
        </p:nvSpPr>
        <p:spPr>
          <a:xfrm>
            <a:off x="118425" y="2072325"/>
            <a:ext cx="6552000" cy="43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Definition (20%)</a:t>
            </a:r>
            <a:endParaRPr sz="24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Calibri"/>
              <a:buChar char="●"/>
            </a:pPr>
            <a:r>
              <a:rPr lang="en-AU" sz="24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Business context, stakeholders and value</a:t>
            </a:r>
            <a:endParaRPr sz="24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Calibri"/>
              <a:buChar char="●"/>
            </a:pPr>
            <a:r>
              <a:rPr lang="en-AU" sz="24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Data description, sources, quality</a:t>
            </a:r>
            <a:endParaRPr sz="24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Design (30%)</a:t>
            </a:r>
            <a:endParaRPr sz="24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Calibri"/>
              <a:buChar char="●"/>
            </a:pPr>
            <a:r>
              <a:rPr lang="en-AU" sz="24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Data exploration, analysis and visualisation</a:t>
            </a:r>
            <a:endParaRPr sz="24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Calibri"/>
              <a:buChar char="●"/>
            </a:pPr>
            <a:r>
              <a:rPr lang="en-AU" sz="24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Documentation: text document, presentation and Notebook</a:t>
            </a:r>
            <a:endParaRPr sz="24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Calibri"/>
              <a:buChar char="●"/>
            </a:pPr>
            <a:r>
              <a:rPr lang="en-AU" sz="24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The project planning, effort allocation and next steps</a:t>
            </a:r>
            <a:endParaRPr sz="24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5"/>
          <p:cNvSpPr txBox="1"/>
          <p:nvPr/>
        </p:nvSpPr>
        <p:spPr>
          <a:xfrm>
            <a:off x="582175" y="1223575"/>
            <a:ext cx="115548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1600">
                <a:solidFill>
                  <a:srgbClr val="0C0C0C"/>
                </a:solidFill>
              </a:rPr>
              <a:t>T</a:t>
            </a:r>
            <a:r>
              <a:rPr lang="en-AU" sz="1800">
                <a:solidFill>
                  <a:srgbClr val="0C0C0C"/>
                </a:solidFill>
              </a:rPr>
              <a:t>he project is evaluated on the quality, clarity and completeness of the definition, design and delivery of the project.</a:t>
            </a:r>
            <a:endParaRPr sz="1800">
              <a:solidFill>
                <a:srgbClr val="0C0C0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6492900" y="2062325"/>
            <a:ext cx="5699100" cy="4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Delivery (50%)</a:t>
            </a:r>
            <a:endParaRPr sz="24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Calibri"/>
              <a:buChar char="●"/>
            </a:pPr>
            <a:r>
              <a:rPr lang="en-AU" sz="24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sz="24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Calibri"/>
              <a:buChar char="●"/>
            </a:pPr>
            <a:r>
              <a:rPr lang="en-AU" sz="24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Creation of  an effective reproducible pipeline</a:t>
            </a:r>
            <a:endParaRPr sz="24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Calibri"/>
              <a:buChar char="●"/>
            </a:pPr>
            <a:r>
              <a:rPr lang="en-AU" sz="24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Machine Learning model algorithms and accuracy</a:t>
            </a:r>
            <a:endParaRPr sz="24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Calibri"/>
              <a:buChar char="●"/>
            </a:pPr>
            <a:r>
              <a:rPr lang="en-AU" sz="24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Overall end-to-end solution</a:t>
            </a:r>
            <a:endParaRPr sz="24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Calibri"/>
              <a:buChar char="●"/>
            </a:pPr>
            <a:r>
              <a:rPr lang="en-AU" sz="24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Delivery of the presentation, poise and audience engagement</a:t>
            </a:r>
            <a:endParaRPr sz="24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>
            <a:spLocks noGrp="1"/>
          </p:cNvSpPr>
          <p:nvPr>
            <p:ph type="title"/>
          </p:nvPr>
        </p:nvSpPr>
        <p:spPr>
          <a:xfrm>
            <a:off x="4588350" y="3043800"/>
            <a:ext cx="3015300" cy="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>
                <a:latin typeface="Roboto"/>
                <a:ea typeface="Roboto"/>
                <a:cs typeface="Roboto"/>
                <a:sym typeface="Roboto"/>
              </a:rPr>
              <a:t>Questions?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>
            <a:spLocks noGrp="1"/>
          </p:cNvSpPr>
          <p:nvPr>
            <p:ph type="title"/>
          </p:nvPr>
        </p:nvSpPr>
        <p:spPr>
          <a:xfrm>
            <a:off x="2997450" y="3043800"/>
            <a:ext cx="6197100" cy="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>
                <a:latin typeface="Roboto"/>
                <a:ea typeface="Roboto"/>
                <a:cs typeface="Roboto"/>
                <a:sym typeface="Roboto"/>
              </a:rPr>
              <a:t>Presentation Structure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>
            <a:spLocks noGrp="1"/>
          </p:cNvSpPr>
          <p:nvPr>
            <p:ph type="title"/>
          </p:nvPr>
        </p:nvSpPr>
        <p:spPr>
          <a:xfrm>
            <a:off x="438350" y="2466100"/>
            <a:ext cx="2768700" cy="7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>
                <a:latin typeface="Roboto"/>
                <a:ea typeface="Roboto"/>
                <a:cs typeface="Roboto"/>
                <a:sym typeface="Roboto"/>
              </a:rPr>
              <a:t>Agenda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8"/>
          <p:cNvSpPr txBox="1">
            <a:spLocks noGrp="1"/>
          </p:cNvSpPr>
          <p:nvPr>
            <p:ph type="body" idx="1"/>
          </p:nvPr>
        </p:nvSpPr>
        <p:spPr>
          <a:xfrm>
            <a:off x="3018075" y="98525"/>
            <a:ext cx="4761900" cy="64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●"/>
            </a:pPr>
            <a:r>
              <a:rPr lang="en-AU" sz="2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Biography</a:t>
            </a: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○"/>
            </a:pPr>
            <a:r>
              <a:rPr lang="en-AU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Education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○"/>
            </a:pPr>
            <a:r>
              <a:rPr lang="en-AU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Professional Experience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○"/>
            </a:pPr>
            <a:r>
              <a:rPr lang="en-AU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Science learnings and experiences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○"/>
            </a:pPr>
            <a:r>
              <a:rPr lang="en-AU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Relevance to the project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●"/>
            </a:pPr>
            <a:r>
              <a:rPr lang="en-AU" sz="2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Project Context</a:t>
            </a: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○"/>
            </a:pPr>
            <a:r>
              <a:rPr lang="en-AU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Industry / Domain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○"/>
            </a:pPr>
            <a:r>
              <a:rPr lang="en-AU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Problem area / statement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○"/>
            </a:pPr>
            <a:r>
              <a:rPr lang="en-AU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Why is this area interesting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○"/>
            </a:pPr>
            <a:r>
              <a:rPr lang="en-AU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Previous work in this area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●"/>
            </a:pPr>
            <a:r>
              <a:rPr lang="en-AU" sz="2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Define</a:t>
            </a: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AU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Business Aspects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○"/>
            </a:pPr>
            <a:r>
              <a:rPr lang="en-AU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Stakeholders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○"/>
            </a:pPr>
            <a:r>
              <a:rPr lang="en-AU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Business Question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○"/>
            </a:pPr>
            <a:r>
              <a:rPr lang="en-AU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Business Value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AU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Science Aspects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AU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Question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AU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Required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AU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Sourced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8"/>
          <p:cNvSpPr txBox="1">
            <a:spLocks noGrp="1"/>
          </p:cNvSpPr>
          <p:nvPr>
            <p:ph type="body" idx="1"/>
          </p:nvPr>
        </p:nvSpPr>
        <p:spPr>
          <a:xfrm>
            <a:off x="7430100" y="767850"/>
            <a:ext cx="4761900" cy="53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AU" sz="2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Design</a:t>
            </a:r>
            <a:endParaRPr sz="20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AU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exploration, analysis and visualisation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AU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Overall flow used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AU" sz="2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Deliver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AU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Feature Engineering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AU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Machine models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-AU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Overall Solutions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AU" sz="2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Summary, conclusions and next steps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>
            <a:spLocks noGrp="1"/>
          </p:cNvSpPr>
          <p:nvPr>
            <p:ph type="title"/>
          </p:nvPr>
        </p:nvSpPr>
        <p:spPr>
          <a:xfrm>
            <a:off x="729450" y="1835400"/>
            <a:ext cx="10733100" cy="3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6000">
                <a:solidFill>
                  <a:srgbClr val="0000FF"/>
                </a:solidFill>
              </a:rPr>
              <a:t>Project Title</a:t>
            </a:r>
            <a:endParaRPr sz="6000">
              <a:solidFill>
                <a:srgbClr val="0000FF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3200">
                <a:solidFill>
                  <a:srgbClr val="0000FF"/>
                </a:solidFill>
              </a:rPr>
              <a:t>Capstone Project</a:t>
            </a:r>
            <a:endParaRPr sz="3200"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>
              <a:solidFill>
                <a:srgbClr val="0000FF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 sz="3200">
                <a:solidFill>
                  <a:srgbClr val="0000FF"/>
                </a:solidFill>
              </a:rPr>
              <a:t>Presenter’s name and role (ideally Data Scientist)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>
            <a:spLocks noGrp="1"/>
          </p:cNvSpPr>
          <p:nvPr>
            <p:ph type="body" idx="1"/>
          </p:nvPr>
        </p:nvSpPr>
        <p:spPr>
          <a:xfrm>
            <a:off x="3280626" y="899949"/>
            <a:ext cx="8440500" cy="48276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AU" sz="3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Biography</a:t>
            </a:r>
            <a:endParaRPr sz="36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36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</a:pPr>
            <a:r>
              <a:rPr lang="en-AU">
                <a:solidFill>
                  <a:srgbClr val="0C0C0C"/>
                </a:solidFill>
              </a:rPr>
              <a:t>Education</a:t>
            </a:r>
            <a:endParaRPr>
              <a:solidFill>
                <a:srgbClr val="0C0C0C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</a:pPr>
            <a:r>
              <a:rPr lang="en-AU">
                <a:solidFill>
                  <a:srgbClr val="0C0C0C"/>
                </a:solidFill>
              </a:rPr>
              <a:t>Professional experience</a:t>
            </a:r>
            <a:endParaRPr>
              <a:solidFill>
                <a:srgbClr val="0C0C0C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</a:pPr>
            <a:r>
              <a:rPr lang="en-AU">
                <a:solidFill>
                  <a:srgbClr val="0C0C0C"/>
                </a:solidFill>
              </a:rPr>
              <a:t>Data science learnings and experience</a:t>
            </a:r>
            <a:endParaRPr>
              <a:solidFill>
                <a:srgbClr val="0C0C0C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</a:pPr>
            <a:r>
              <a:rPr lang="en-AU">
                <a:solidFill>
                  <a:srgbClr val="0C0C0C"/>
                </a:solidFill>
              </a:rPr>
              <a:t>Relevance to the project</a:t>
            </a:r>
            <a:endParaRPr>
              <a:solidFill>
                <a:srgbClr val="0C0C0C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36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30"/>
          <p:cNvSpPr txBox="1">
            <a:spLocks noGrp="1"/>
          </p:cNvSpPr>
          <p:nvPr>
            <p:ph type="sldNum" idx="12"/>
          </p:nvPr>
        </p:nvSpPr>
        <p:spPr>
          <a:xfrm>
            <a:off x="11095216" y="6404312"/>
            <a:ext cx="258600" cy="2691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/>
              <a:t>10</a:t>
            </a:fld>
            <a:endParaRPr/>
          </a:p>
        </p:txBody>
      </p:sp>
      <p:sp>
        <p:nvSpPr>
          <p:cNvPr id="189" name="Google Shape;189;p30"/>
          <p:cNvSpPr txBox="1"/>
          <p:nvPr/>
        </p:nvSpPr>
        <p:spPr>
          <a:xfrm>
            <a:off x="3280625" y="4930750"/>
            <a:ext cx="6373800" cy="7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>
            <a:spLocks noGrp="1"/>
          </p:cNvSpPr>
          <p:nvPr>
            <p:ph type="title"/>
          </p:nvPr>
        </p:nvSpPr>
        <p:spPr>
          <a:xfrm>
            <a:off x="1065150" y="12830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>
                <a:latin typeface="Roboto"/>
                <a:ea typeface="Roboto"/>
                <a:cs typeface="Roboto"/>
                <a:sym typeface="Roboto"/>
              </a:rPr>
              <a:t>Project Context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31"/>
          <p:cNvSpPr txBox="1">
            <a:spLocks noGrp="1"/>
          </p:cNvSpPr>
          <p:nvPr>
            <p:ph type="body" idx="1"/>
          </p:nvPr>
        </p:nvSpPr>
        <p:spPr>
          <a:xfrm>
            <a:off x="690175" y="1525200"/>
            <a:ext cx="10515600" cy="4349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Char char="●"/>
            </a:pPr>
            <a:r>
              <a:rPr lang="en-AU" sz="2000">
                <a:solidFill>
                  <a:srgbClr val="0C0C0C"/>
                </a:solidFill>
              </a:rPr>
              <a:t>Industry or domain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AU" sz="1600">
                <a:latin typeface="Arial"/>
                <a:ea typeface="Arial"/>
                <a:cs typeface="Arial"/>
                <a:sym typeface="Arial"/>
              </a:rPr>
              <a:t>What is the current state of this industry? (e.g. challenges from startups)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AU" sz="1600">
                <a:latin typeface="Arial"/>
                <a:ea typeface="Arial"/>
                <a:cs typeface="Arial"/>
                <a:sym typeface="Arial"/>
              </a:rPr>
              <a:t>What is the overall industry value-chain?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AU" sz="1600">
                <a:latin typeface="Arial"/>
                <a:ea typeface="Arial"/>
                <a:cs typeface="Arial"/>
                <a:sym typeface="Arial"/>
              </a:rPr>
              <a:t>What are the key concepts in the industry?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AU" sz="1600">
                <a:latin typeface="Arial"/>
                <a:ea typeface="Arial"/>
                <a:cs typeface="Arial"/>
                <a:sym typeface="Arial"/>
              </a:rPr>
              <a:t>Is the project relevant to other industries?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Char char="●"/>
            </a:pPr>
            <a:r>
              <a:rPr lang="en-AU" sz="2000">
                <a:solidFill>
                  <a:srgbClr val="0C0C0C"/>
                </a:solidFill>
              </a:rPr>
              <a:t>Problem area</a:t>
            </a:r>
            <a:endParaRPr sz="2000">
              <a:solidFill>
                <a:srgbClr val="0C0C0C"/>
              </a:solidFill>
            </a:endParaRPr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AU" sz="1600">
                <a:latin typeface="Arial"/>
                <a:ea typeface="Arial"/>
                <a:cs typeface="Arial"/>
                <a:sym typeface="Arial"/>
              </a:rPr>
              <a:t>What is the problem or the opportunity that the project is investigating?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AU" sz="1600">
                <a:latin typeface="Arial"/>
                <a:ea typeface="Arial"/>
                <a:cs typeface="Arial"/>
                <a:sym typeface="Arial"/>
              </a:rPr>
              <a:t>Why is this problem valuable to address?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AU" sz="1600">
                <a:latin typeface="Arial"/>
                <a:ea typeface="Arial"/>
                <a:cs typeface="Arial"/>
                <a:sym typeface="Arial"/>
              </a:rPr>
              <a:t>What is the current state (e.g. unsatisfied customers, lost revenue)?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AU" sz="1600">
                <a:latin typeface="Arial"/>
                <a:ea typeface="Arial"/>
                <a:cs typeface="Arial"/>
                <a:sym typeface="Arial"/>
              </a:rPr>
              <a:t>What is the desired state?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9144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AU" sz="1600">
                <a:latin typeface="Arial"/>
                <a:ea typeface="Arial"/>
                <a:cs typeface="Arial"/>
                <a:sym typeface="Arial"/>
              </a:rPr>
              <a:t>Has this problem been addressed by other research projects? What were the outcomes?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Char char="●"/>
            </a:pPr>
            <a:r>
              <a:rPr lang="en-AU" sz="2000">
                <a:solidFill>
                  <a:srgbClr val="0C0C0C"/>
                </a:solidFill>
              </a:rPr>
              <a:t>Why is this area interesting?</a:t>
            </a:r>
            <a:endParaRPr sz="2000">
              <a:solidFill>
                <a:srgbClr val="0C0C0C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Char char="●"/>
            </a:pPr>
            <a:r>
              <a:rPr lang="en-AU" sz="2000">
                <a:solidFill>
                  <a:srgbClr val="0C0C0C"/>
                </a:solidFill>
              </a:rPr>
              <a:t>Previous work in this area</a:t>
            </a:r>
            <a:endParaRPr sz="2000">
              <a:solidFill>
                <a:srgbClr val="0C0C0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>
            <a:spLocks noGrp="1"/>
          </p:cNvSpPr>
          <p:nvPr>
            <p:ph type="title"/>
          </p:nvPr>
        </p:nvSpPr>
        <p:spPr>
          <a:xfrm>
            <a:off x="1114475" y="39500"/>
            <a:ext cx="10515600" cy="1021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>
                <a:latin typeface="Roboto"/>
                <a:ea typeface="Roboto"/>
                <a:cs typeface="Roboto"/>
                <a:sym typeface="Roboto"/>
              </a:rPr>
              <a:t>Define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32"/>
          <p:cNvSpPr txBox="1">
            <a:spLocks noGrp="1"/>
          </p:cNvSpPr>
          <p:nvPr>
            <p:ph type="body" idx="1"/>
          </p:nvPr>
        </p:nvSpPr>
        <p:spPr>
          <a:xfrm>
            <a:off x="1025650" y="1061300"/>
            <a:ext cx="10515600" cy="561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200" b="1">
                <a:solidFill>
                  <a:srgbClr val="0000FF"/>
                </a:solidFill>
              </a:rPr>
              <a:t>Business aspects</a:t>
            </a:r>
            <a:endParaRPr sz="2200" b="1">
              <a:solidFill>
                <a:srgbClr val="0000F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AutoNum type="arabicPeriod"/>
            </a:pPr>
            <a:r>
              <a:rPr lang="en-AU" sz="1800" b="1">
                <a:solidFill>
                  <a:srgbClr val="0C0C0C"/>
                </a:solidFill>
              </a:rPr>
              <a:t>Stakeholders</a:t>
            </a:r>
            <a:endParaRPr sz="1800" b="1">
              <a:solidFill>
                <a:srgbClr val="0C0C0C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AU" sz="1600">
                <a:latin typeface="Arial"/>
                <a:ea typeface="Arial"/>
                <a:cs typeface="Arial"/>
                <a:sym typeface="Arial"/>
              </a:rPr>
              <a:t>Who are the stakeholders? (be as specific as possible)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AU" sz="1600">
                <a:latin typeface="Arial"/>
                <a:ea typeface="Arial"/>
                <a:cs typeface="Arial"/>
                <a:sym typeface="Arial"/>
              </a:rPr>
              <a:t>Why do they care about this problem?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AU" sz="1600">
                <a:latin typeface="Arial"/>
                <a:ea typeface="Arial"/>
                <a:cs typeface="Arial"/>
                <a:sym typeface="Arial"/>
              </a:rPr>
              <a:t>What are the stakeholders’ expectations?</a:t>
            </a:r>
            <a:endParaRPr sz="1600">
              <a:solidFill>
                <a:srgbClr val="0C0C0C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AutoNum type="arabicPeriod"/>
            </a:pPr>
            <a:r>
              <a:rPr lang="en-AU" sz="1800" b="1">
                <a:solidFill>
                  <a:srgbClr val="0C0C0C"/>
                </a:solidFill>
              </a:rPr>
              <a:t>Business question</a:t>
            </a:r>
            <a:endParaRPr sz="1800" b="1">
              <a:solidFill>
                <a:srgbClr val="0C0C0C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AU" sz="1600">
                <a:latin typeface="Arial"/>
                <a:ea typeface="Arial"/>
                <a:cs typeface="Arial"/>
                <a:sym typeface="Arial"/>
              </a:rPr>
              <a:t>What is the main business question that needs to be answered?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AU" sz="1600">
                <a:latin typeface="Arial"/>
                <a:ea typeface="Arial"/>
                <a:cs typeface="Arial"/>
                <a:sym typeface="Arial"/>
              </a:rPr>
              <a:t>What is the business value of answering this question? (quantify value and make necessary assumptions)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AU" sz="1600">
                <a:latin typeface="Arial"/>
                <a:ea typeface="Arial"/>
                <a:cs typeface="Arial"/>
                <a:sym typeface="Arial"/>
              </a:rPr>
              <a:t>What is the required accuracy? What are the implications of false positives or false negatives?</a:t>
            </a:r>
            <a:endParaRPr sz="1600" b="1">
              <a:solidFill>
                <a:srgbClr val="0C0C0C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AutoNum type="arabicPeriod"/>
            </a:pPr>
            <a:r>
              <a:rPr lang="en-AU" sz="1800" b="1">
                <a:solidFill>
                  <a:srgbClr val="0C0C0C"/>
                </a:solidFill>
              </a:rPr>
              <a:t>Business value</a:t>
            </a:r>
            <a:endParaRPr sz="1800" b="1">
              <a:solidFill>
                <a:srgbClr val="0C0C0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200" b="1">
                <a:solidFill>
                  <a:srgbClr val="0000FF"/>
                </a:solidFill>
              </a:rPr>
              <a:t>Data science aspects</a:t>
            </a:r>
            <a:endParaRPr sz="2200" b="1">
              <a:solidFill>
                <a:srgbClr val="0000F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-AU" sz="1800" b="1">
                <a:solidFill>
                  <a:srgbClr val="000000"/>
                </a:solidFill>
              </a:rPr>
              <a:t>Data question</a:t>
            </a:r>
            <a:endParaRPr sz="1800" b="1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AU" sz="1600">
                <a:latin typeface="Arial"/>
                <a:ea typeface="Arial"/>
                <a:cs typeface="Arial"/>
                <a:sym typeface="Arial"/>
              </a:rPr>
              <a:t>What is the data question that needs to be answered?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AU" sz="1600">
                <a:latin typeface="Arial"/>
                <a:ea typeface="Arial"/>
                <a:cs typeface="Arial"/>
                <a:sym typeface="Arial"/>
              </a:rPr>
              <a:t>What is the data required to answer the question?</a:t>
            </a:r>
            <a:endParaRPr sz="1600" b="1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AutoNum type="arabicPeriod"/>
            </a:pPr>
            <a:r>
              <a:rPr lang="en-AU" sz="1800" b="1">
                <a:solidFill>
                  <a:srgbClr val="0C0C0C"/>
                </a:solidFill>
              </a:rPr>
              <a:t>Data required</a:t>
            </a:r>
            <a:endParaRPr sz="1800" b="1">
              <a:solidFill>
                <a:srgbClr val="0C0C0C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AutoNum type="arabicPeriod"/>
            </a:pPr>
            <a:r>
              <a:rPr lang="en-AU" sz="1800" b="1">
                <a:solidFill>
                  <a:srgbClr val="0C0C0C"/>
                </a:solidFill>
              </a:rPr>
              <a:t>Data sourced</a:t>
            </a:r>
            <a:endParaRPr sz="1800" b="1">
              <a:solidFill>
                <a:srgbClr val="0C0C0C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AutoNum type="arabicPeriod"/>
            </a:pPr>
            <a:r>
              <a:rPr lang="en-AU" sz="1800" b="1">
                <a:solidFill>
                  <a:srgbClr val="0C0C0C"/>
                </a:solidFill>
              </a:rPr>
              <a:t>Data source, description, volume and quality</a:t>
            </a:r>
            <a:endParaRPr sz="1800" b="1">
              <a:solidFill>
                <a:srgbClr val="0C0C0C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AutoNum type="arabicPeriod"/>
            </a:pPr>
            <a:r>
              <a:rPr lang="en-AU" sz="1800" b="1">
                <a:solidFill>
                  <a:srgbClr val="0C0C0C"/>
                </a:solidFill>
              </a:rPr>
              <a:t>How is the data generated?</a:t>
            </a:r>
            <a:endParaRPr sz="1800" b="1">
              <a:solidFill>
                <a:srgbClr val="0C0C0C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AutoNum type="arabicPeriod"/>
            </a:pPr>
            <a:r>
              <a:rPr lang="en-AU" sz="1800" b="1">
                <a:solidFill>
                  <a:srgbClr val="0C0C0C"/>
                </a:solidFill>
              </a:rPr>
              <a:t>How it can be sourced in the future?</a:t>
            </a:r>
            <a:endParaRPr sz="1800" b="1">
              <a:solidFill>
                <a:srgbClr val="0C0C0C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>
            <a:spLocks noGrp="1"/>
          </p:cNvSpPr>
          <p:nvPr>
            <p:ph type="title"/>
          </p:nvPr>
        </p:nvSpPr>
        <p:spPr>
          <a:xfrm>
            <a:off x="917150" y="305925"/>
            <a:ext cx="10515600" cy="1160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>
                <a:latin typeface="Roboto"/>
                <a:ea typeface="Roboto"/>
                <a:cs typeface="Roboto"/>
                <a:sym typeface="Roboto"/>
              </a:rPr>
              <a:t>Design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33"/>
          <p:cNvSpPr txBox="1">
            <a:spLocks noGrp="1"/>
          </p:cNvSpPr>
          <p:nvPr>
            <p:ph type="body" idx="1"/>
          </p:nvPr>
        </p:nvSpPr>
        <p:spPr>
          <a:xfrm>
            <a:off x="690175" y="1525200"/>
            <a:ext cx="10515600" cy="3941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>
                <a:solidFill>
                  <a:srgbClr val="0000FF"/>
                </a:solidFill>
              </a:rPr>
              <a:t>Data exploration, analysis and visualisation</a:t>
            </a:r>
            <a:endParaRPr sz="2000"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0000F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AU" sz="1800">
                <a:solidFill>
                  <a:srgbClr val="0C0C0C"/>
                </a:solidFill>
              </a:rPr>
              <a:t>Include one slide for the </a:t>
            </a:r>
            <a:r>
              <a:rPr lang="en-AU" sz="1800" b="1">
                <a:solidFill>
                  <a:srgbClr val="0000FF"/>
                </a:solidFill>
              </a:rPr>
              <a:t>highlights</a:t>
            </a:r>
            <a:r>
              <a:rPr lang="en-AU" sz="1800">
                <a:solidFill>
                  <a:srgbClr val="0000FF"/>
                </a:solidFill>
              </a:rPr>
              <a:t> </a:t>
            </a:r>
            <a:r>
              <a:rPr lang="en-AU" sz="1800">
                <a:solidFill>
                  <a:srgbClr val="0C0C0C"/>
                </a:solidFill>
              </a:rPr>
              <a:t>of your Exploratory Data Analysis (EDA)</a:t>
            </a:r>
            <a:endParaRPr sz="1800">
              <a:solidFill>
                <a:srgbClr val="0C0C0C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AU" sz="1800"/>
              <a:t>What data pipeline was to wrangle the raw data?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AU" sz="1800"/>
              <a:t>Is the pipeline reusable? (for example, to process future data?)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AU" sz="1800"/>
              <a:t>What are the intermediary data structures used (if any)?</a:t>
            </a:r>
            <a:endParaRPr sz="1800">
              <a:solidFill>
                <a:srgbClr val="0C0C0C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C0C0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>
                <a:solidFill>
                  <a:srgbClr val="0000FF"/>
                </a:solidFill>
              </a:rPr>
              <a:t>Overall process flow used</a:t>
            </a:r>
            <a:endParaRPr sz="2000"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0000F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Char char="●"/>
            </a:pPr>
            <a:r>
              <a:rPr lang="en-AU" sz="1800">
                <a:solidFill>
                  <a:srgbClr val="0C0C0C"/>
                </a:solidFill>
              </a:rPr>
              <a:t>See next slide</a:t>
            </a: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>
            <a:spLocks noGrp="1"/>
          </p:cNvSpPr>
          <p:nvPr>
            <p:ph type="title"/>
          </p:nvPr>
        </p:nvSpPr>
        <p:spPr>
          <a:xfrm>
            <a:off x="1227775" y="199500"/>
            <a:ext cx="10709700" cy="7479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/>
              <a:t>Design</a:t>
            </a:r>
            <a:endParaRPr/>
          </a:p>
        </p:txBody>
      </p:sp>
      <p:pic>
        <p:nvPicPr>
          <p:cNvPr id="220" name="Google Shape;22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325" y="947400"/>
            <a:ext cx="10131350" cy="566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>
            <a:spLocks noGrp="1"/>
          </p:cNvSpPr>
          <p:nvPr>
            <p:ph type="title"/>
          </p:nvPr>
        </p:nvSpPr>
        <p:spPr>
          <a:xfrm>
            <a:off x="1144100" y="39500"/>
            <a:ext cx="10515600" cy="1036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>
                <a:latin typeface="Roboto"/>
                <a:ea typeface="Roboto"/>
                <a:cs typeface="Roboto"/>
                <a:sym typeface="Roboto"/>
              </a:rPr>
              <a:t>Deliver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35"/>
          <p:cNvSpPr txBox="1">
            <a:spLocks noGrp="1"/>
          </p:cNvSpPr>
          <p:nvPr>
            <p:ph type="body" idx="1"/>
          </p:nvPr>
        </p:nvSpPr>
        <p:spPr>
          <a:xfrm>
            <a:off x="614250" y="1020850"/>
            <a:ext cx="11325600" cy="57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>
                <a:solidFill>
                  <a:srgbClr val="0000FF"/>
                </a:solidFill>
              </a:rPr>
              <a:t>Feature engineering</a:t>
            </a:r>
            <a:endParaRPr sz="2000" b="1">
              <a:solidFill>
                <a:srgbClr val="0000F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Char char="●"/>
            </a:pPr>
            <a:r>
              <a:rPr lang="en-AU" sz="1800">
                <a:solidFill>
                  <a:srgbClr val="0C0C0C"/>
                </a:solidFill>
              </a:rPr>
              <a:t>What are the most important features and what is the business significance</a:t>
            </a:r>
            <a:endParaRPr sz="1800">
              <a:solidFill>
                <a:srgbClr val="0C0C0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>
                <a:solidFill>
                  <a:srgbClr val="0000FF"/>
                </a:solidFill>
              </a:rPr>
              <a:t>Machine models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used and their </a:t>
            </a:r>
            <a:r>
              <a:rPr lang="en-AU" sz="2000" b="1">
                <a:solidFill>
                  <a:srgbClr val="0000FF"/>
                </a:solidFill>
              </a:rPr>
              <a:t>evaluation metrics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>
                <a:solidFill>
                  <a:srgbClr val="0C0C0C"/>
                </a:solidFill>
              </a:rPr>
              <a:t>How does the model fit in the </a:t>
            </a:r>
            <a:r>
              <a:rPr lang="en-AU" sz="2000" b="1">
                <a:solidFill>
                  <a:srgbClr val="0000FF"/>
                </a:solidFill>
              </a:rPr>
              <a:t>overall solution</a:t>
            </a:r>
            <a:endParaRPr sz="2000" b="1">
              <a:solidFill>
                <a:srgbClr val="0000F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Char char="●"/>
            </a:pPr>
            <a:r>
              <a:rPr lang="en-AU" sz="1800">
                <a:solidFill>
                  <a:srgbClr val="0C0C0C"/>
                </a:solidFill>
              </a:rPr>
              <a:t>Who will use it?</a:t>
            </a:r>
            <a:endParaRPr sz="1800">
              <a:solidFill>
                <a:srgbClr val="0C0C0C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Char char="●"/>
            </a:pPr>
            <a:r>
              <a:rPr lang="en-AU" sz="1800">
                <a:solidFill>
                  <a:srgbClr val="0C0C0C"/>
                </a:solidFill>
              </a:rPr>
              <a:t>When is it used?</a:t>
            </a:r>
            <a:endParaRPr sz="1800">
              <a:solidFill>
                <a:srgbClr val="0C0C0C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Char char="●"/>
            </a:pPr>
            <a:r>
              <a:rPr lang="en-AU" sz="1800">
                <a:solidFill>
                  <a:srgbClr val="0C0C0C"/>
                </a:solidFill>
              </a:rPr>
              <a:t>How does it benefit the business?</a:t>
            </a:r>
            <a:endParaRPr sz="1800">
              <a:solidFill>
                <a:srgbClr val="0C0C0C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AU" sz="1800"/>
              <a:t>What are the main features used?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AU" sz="1800"/>
              <a:t>Did you find any interesting interactions between features?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AU" sz="1800"/>
              <a:t>Is there a subset of features that would get a significant portion of your final performance? Which features?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AU" sz="1800">
                <a:highlight>
                  <a:schemeClr val="lt1"/>
                </a:highlight>
              </a:rPr>
              <a:t>How did you select features?</a:t>
            </a:r>
            <a:endParaRPr sz="1800">
              <a:highlight>
                <a:schemeClr val="lt1"/>
              </a:highlight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AU" sz="1800"/>
              <a:t>What feature engineering techniques are used?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AU" sz="1800"/>
              <a:t>What are the models used?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AU" sz="1800"/>
              <a:t>How long does it take to train your model?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AU" sz="1800">
                <a:highlight>
                  <a:schemeClr val="lt1"/>
                </a:highlight>
              </a:rPr>
              <a:t>What are the tools used? (cloud platform, for example)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AU" sz="1800"/>
              <a:t>What are the model performance metrics?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AU" sz="1800"/>
              <a:t>Which model was selected?</a:t>
            </a:r>
            <a:endParaRPr sz="1800">
              <a:solidFill>
                <a:srgbClr val="0C0C0C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36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>
                <a:latin typeface="Roboto"/>
                <a:ea typeface="Roboto"/>
                <a:cs typeface="Roboto"/>
                <a:sym typeface="Roboto"/>
              </a:rPr>
              <a:t>Summary, Conclusions and Next Steps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36"/>
          <p:cNvSpPr txBox="1">
            <a:spLocks noGrp="1"/>
          </p:cNvSpPr>
          <p:nvPr>
            <p:ph type="body" idx="1"/>
          </p:nvPr>
        </p:nvSpPr>
        <p:spPr>
          <a:xfrm>
            <a:off x="690175" y="1525200"/>
            <a:ext cx="10963500" cy="287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>
                <a:solidFill>
                  <a:srgbClr val="0000FF"/>
                </a:solidFill>
              </a:rPr>
              <a:t>Summary</a:t>
            </a:r>
            <a:endParaRPr sz="2000" b="1">
              <a:solidFill>
                <a:srgbClr val="0000F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Char char="●"/>
            </a:pPr>
            <a:r>
              <a:rPr lang="en-AU" sz="1800">
                <a:solidFill>
                  <a:srgbClr val="0C0C0C"/>
                </a:solidFill>
              </a:rPr>
              <a:t>A brief recap of the presentation</a:t>
            </a:r>
            <a:endParaRPr sz="1800">
              <a:solidFill>
                <a:srgbClr val="0C0C0C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C0C0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>
                <a:solidFill>
                  <a:srgbClr val="0000FF"/>
                </a:solidFill>
              </a:rPr>
              <a:t>Conclusions</a:t>
            </a:r>
            <a:endParaRPr sz="1600">
              <a:solidFill>
                <a:srgbClr val="0C0C0C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Calibri"/>
              <a:buChar char="●"/>
            </a:pPr>
            <a:r>
              <a:rPr lang="en-AU" sz="1800"/>
              <a:t>What are the main findings and conclusions of the data science process?</a:t>
            </a:r>
            <a:endParaRPr sz="1800">
              <a:solidFill>
                <a:srgbClr val="0C0C0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 b="1">
                <a:solidFill>
                  <a:srgbClr val="0000FF"/>
                </a:solidFill>
              </a:rPr>
              <a:t>Next steps</a:t>
            </a:r>
            <a:endParaRPr sz="2000" b="1">
              <a:solidFill>
                <a:srgbClr val="0000FF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00"/>
              <a:buChar char="●"/>
            </a:pPr>
            <a:r>
              <a:rPr lang="en-AU" sz="1600">
                <a:solidFill>
                  <a:srgbClr val="0C0C0C"/>
                </a:solidFill>
              </a:rPr>
              <a:t>How can this project be developed further and implemented in real life?</a:t>
            </a:r>
            <a:endParaRPr sz="1600">
              <a:solidFill>
                <a:srgbClr val="0C0C0C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Calibri"/>
              <a:buChar char="●"/>
            </a:pPr>
            <a:r>
              <a:rPr lang="en-AU" sz="1600"/>
              <a:t>What are the considerations for implementing the model in production?</a:t>
            </a:r>
            <a:endParaRPr sz="1600">
              <a:solidFill>
                <a:srgbClr val="0C0C0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0000FF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16</a:t>
            </a:fld>
            <a:endParaRPr/>
          </a:p>
        </p:txBody>
      </p:sp>
      <p:pic>
        <p:nvPicPr>
          <p:cNvPr id="237" name="Google Shape;23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8863" y="4592488"/>
            <a:ext cx="5134274" cy="157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"/>
          <p:cNvSpPr txBox="1">
            <a:spLocks noGrp="1"/>
          </p:cNvSpPr>
          <p:nvPr>
            <p:ph type="body" idx="1"/>
          </p:nvPr>
        </p:nvSpPr>
        <p:spPr>
          <a:xfrm>
            <a:off x="3142051" y="1683024"/>
            <a:ext cx="8440500" cy="48276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9144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AU" sz="36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Appendices</a:t>
            </a:r>
            <a:endParaRPr sz="36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3196575" y="3142850"/>
            <a:ext cx="8703900" cy="27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AU" sz="2500">
                <a:solidFill>
                  <a:schemeClr val="dk1"/>
                </a:solidFill>
              </a:rPr>
              <a:t>Where are the data and code used in the project? (show a simplified list of main items: notebooks, datasets, exported models)</a:t>
            </a:r>
            <a:endParaRPr sz="2500">
              <a:solidFill>
                <a:schemeClr val="dk1"/>
              </a:solidFill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AU" sz="2500">
                <a:solidFill>
                  <a:schemeClr val="dk1"/>
                </a:solidFill>
              </a:rPr>
              <a:t>What are the resources used in the project? (libraries, algorithms, etc)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8"/>
          <p:cNvSpPr txBox="1">
            <a:spLocks noGrp="1"/>
          </p:cNvSpPr>
          <p:nvPr>
            <p:ph type="title"/>
          </p:nvPr>
        </p:nvSpPr>
        <p:spPr>
          <a:xfrm>
            <a:off x="914125" y="167650"/>
            <a:ext cx="10515600" cy="1036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>
                <a:latin typeface="Roboto"/>
                <a:ea typeface="Roboto"/>
                <a:cs typeface="Roboto"/>
                <a:sym typeface="Roboto"/>
              </a:rPr>
              <a:t>Mini Project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38"/>
          <p:cNvSpPr txBox="1">
            <a:spLocks noGrp="1"/>
          </p:cNvSpPr>
          <p:nvPr>
            <p:ph type="body" idx="1"/>
          </p:nvPr>
        </p:nvSpPr>
        <p:spPr>
          <a:xfrm>
            <a:off x="690175" y="1312400"/>
            <a:ext cx="10963500" cy="5249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>
                <a:solidFill>
                  <a:srgbClr val="0C0C0C"/>
                </a:solidFill>
              </a:rPr>
              <a:t>The </a:t>
            </a:r>
            <a:r>
              <a:rPr lang="en-AU" sz="2000" b="1">
                <a:solidFill>
                  <a:srgbClr val="0000FF"/>
                </a:solidFill>
              </a:rPr>
              <a:t>objectives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of this mini-project is to:</a:t>
            </a:r>
            <a:endParaRPr sz="2000">
              <a:solidFill>
                <a:srgbClr val="0C0C0C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Char char="●"/>
            </a:pPr>
            <a:r>
              <a:rPr lang="en-AU" sz="2000">
                <a:solidFill>
                  <a:srgbClr val="0C0C0C"/>
                </a:solidFill>
              </a:rPr>
              <a:t>Apply all what you have learned so far</a:t>
            </a:r>
            <a:endParaRPr sz="2000">
              <a:solidFill>
                <a:srgbClr val="0C0C0C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AU" sz="2000">
                <a:solidFill>
                  <a:srgbClr val="0C0C0C"/>
                </a:solidFill>
              </a:rPr>
              <a:t>Prepare you for the </a:t>
            </a:r>
            <a:r>
              <a:rPr lang="en-AU" sz="2000" b="1">
                <a:solidFill>
                  <a:srgbClr val="0000FF"/>
                </a:solidFill>
              </a:rPr>
              <a:t>Capstone project</a:t>
            </a:r>
            <a:endParaRPr sz="2000" b="1">
              <a:solidFill>
                <a:srgbClr val="0000FF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AU" sz="2000">
                <a:solidFill>
                  <a:srgbClr val="0C0C0C"/>
                </a:solidFill>
              </a:rPr>
              <a:t>Understand your </a:t>
            </a:r>
            <a:r>
              <a:rPr lang="en-AU" sz="2000" b="1">
                <a:solidFill>
                  <a:srgbClr val="0000FF"/>
                </a:solidFill>
              </a:rPr>
              <a:t>learning gaps</a:t>
            </a:r>
            <a:endParaRPr sz="2000"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>
                <a:solidFill>
                  <a:srgbClr val="0C0C0C"/>
                </a:solidFill>
              </a:rPr>
              <a:t>Please present as if it is </a:t>
            </a:r>
            <a:r>
              <a:rPr lang="en-AU" sz="2000" b="1">
                <a:solidFill>
                  <a:srgbClr val="0000FF"/>
                </a:solidFill>
              </a:rPr>
              <a:t>your job interview take-away test </a:t>
            </a:r>
            <a:r>
              <a:rPr lang="en-AU" sz="2000">
                <a:solidFill>
                  <a:srgbClr val="0C0C0C"/>
                </a:solidFill>
              </a:rPr>
              <a:t>on:</a:t>
            </a:r>
            <a:endParaRPr sz="2000">
              <a:solidFill>
                <a:srgbClr val="0C0C0C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-AU" sz="2000" b="1">
                <a:solidFill>
                  <a:srgbClr val="0000FF"/>
                </a:solidFill>
              </a:rPr>
              <a:t>Business aspects </a:t>
            </a:r>
            <a:r>
              <a:rPr lang="en-AU" sz="2000">
                <a:solidFill>
                  <a:srgbClr val="0C0C0C"/>
                </a:solidFill>
              </a:rPr>
              <a:t>of the project</a:t>
            </a:r>
            <a:endParaRPr sz="2000">
              <a:solidFill>
                <a:srgbClr val="0C0C0C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-AU" sz="2000" b="1">
                <a:solidFill>
                  <a:srgbClr val="0000FF"/>
                </a:solidFill>
              </a:rPr>
              <a:t>Outcomes</a:t>
            </a:r>
            <a:endParaRPr sz="2000" b="1">
              <a:solidFill>
                <a:srgbClr val="0000FF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-AU" sz="2000">
                <a:solidFill>
                  <a:srgbClr val="0C0C0C"/>
                </a:solidFill>
              </a:rPr>
              <a:t>Potential </a:t>
            </a:r>
            <a:r>
              <a:rPr lang="en-AU" sz="2000" b="1">
                <a:solidFill>
                  <a:srgbClr val="0000FF"/>
                </a:solidFill>
              </a:rPr>
              <a:t>additional insights</a:t>
            </a:r>
            <a:r>
              <a:rPr lang="en-AU" sz="2000" b="1">
                <a:solidFill>
                  <a:srgbClr val="1DBBDD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that can be obtained from available data</a:t>
            </a:r>
            <a:endParaRPr sz="2000">
              <a:solidFill>
                <a:srgbClr val="0C0C0C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-AU" sz="2000" b="1">
                <a:solidFill>
                  <a:srgbClr val="0000FF"/>
                </a:solidFill>
              </a:rPr>
              <a:t>Data analysis</a:t>
            </a:r>
            <a:r>
              <a:rPr lang="en-AU" sz="2000">
                <a:solidFill>
                  <a:srgbClr val="0C0C0C"/>
                </a:solidFill>
              </a:rPr>
              <a:t> and </a:t>
            </a:r>
            <a:r>
              <a:rPr lang="en-AU" sz="2000" b="1">
                <a:solidFill>
                  <a:srgbClr val="0000FF"/>
                </a:solidFill>
              </a:rPr>
              <a:t>Machine Learning</a:t>
            </a:r>
            <a:r>
              <a:rPr lang="en-AU" sz="2000" b="1">
                <a:solidFill>
                  <a:srgbClr val="1DBBDD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techniques used</a:t>
            </a:r>
            <a:endParaRPr sz="2000">
              <a:solidFill>
                <a:srgbClr val="0C0C0C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-AU" sz="2000" b="1">
                <a:solidFill>
                  <a:srgbClr val="0000FF"/>
                </a:solidFill>
              </a:rPr>
              <a:t>Gaps</a:t>
            </a:r>
            <a:r>
              <a:rPr lang="en-AU" sz="2000">
                <a:solidFill>
                  <a:srgbClr val="0000FF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in your skills</a:t>
            </a:r>
            <a:endParaRPr sz="2000">
              <a:solidFill>
                <a:srgbClr val="0C0C0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C0C0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000">
                <a:solidFill>
                  <a:srgbClr val="0C0C0C"/>
                </a:solidFill>
              </a:rPr>
              <a:t>Please </a:t>
            </a:r>
            <a:r>
              <a:rPr lang="en-AU" sz="2000" b="1">
                <a:solidFill>
                  <a:srgbClr val="0000FF"/>
                </a:solidFill>
              </a:rPr>
              <a:t>listen actively</a:t>
            </a:r>
            <a:r>
              <a:rPr lang="en-AU" sz="2000" b="1">
                <a:solidFill>
                  <a:srgbClr val="1DBBDD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to your fellow classmate’s presentation and </a:t>
            </a:r>
            <a:r>
              <a:rPr lang="en-AU" sz="2000" b="1">
                <a:solidFill>
                  <a:srgbClr val="0000FF"/>
                </a:solidFill>
              </a:rPr>
              <a:t>ask questions</a:t>
            </a:r>
            <a:r>
              <a:rPr lang="en-AU" sz="2000" b="1">
                <a:solidFill>
                  <a:srgbClr val="1DBBDD"/>
                </a:solidFill>
              </a:rPr>
              <a:t> </a:t>
            </a:r>
            <a:r>
              <a:rPr lang="en-AU" sz="2000">
                <a:solidFill>
                  <a:srgbClr val="0C0C0C"/>
                </a:solidFill>
              </a:rPr>
              <a:t>as if you are the </a:t>
            </a:r>
            <a:r>
              <a:rPr lang="en-AU" sz="2000" b="1">
                <a:solidFill>
                  <a:srgbClr val="0000FF"/>
                </a:solidFill>
              </a:rPr>
              <a:t>hiring manager</a:t>
            </a:r>
            <a:endParaRPr sz="2000" b="1">
              <a:solidFill>
                <a:srgbClr val="0000FF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0000FF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9"/>
          <p:cNvSpPr txBox="1">
            <a:spLocks noGrp="1"/>
          </p:cNvSpPr>
          <p:nvPr>
            <p:ph type="title"/>
          </p:nvPr>
        </p:nvSpPr>
        <p:spPr>
          <a:xfrm>
            <a:off x="914125" y="118250"/>
            <a:ext cx="10515600" cy="95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>
                <a:latin typeface="Roboto"/>
                <a:ea typeface="Roboto"/>
                <a:cs typeface="Roboto"/>
                <a:sym typeface="Roboto"/>
              </a:rPr>
              <a:t>Case study: Home Loans Marketing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19</a:t>
            </a:fld>
            <a:endParaRPr/>
          </a:p>
        </p:txBody>
      </p:sp>
      <p:pic>
        <p:nvPicPr>
          <p:cNvPr id="260" name="Google Shape;26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525" y="1075550"/>
            <a:ext cx="10928949" cy="55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>
            <a:spLocks noGrp="1"/>
          </p:cNvSpPr>
          <p:nvPr>
            <p:ph type="body" idx="1"/>
          </p:nvPr>
        </p:nvSpPr>
        <p:spPr>
          <a:xfrm>
            <a:off x="5460950" y="2459750"/>
            <a:ext cx="5225700" cy="24516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9144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AU" sz="36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Appendices</a:t>
            </a:r>
            <a:endParaRPr sz="36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1"/>
          <p:cNvSpPr txBox="1">
            <a:spLocks noGrp="1"/>
          </p:cNvSpPr>
          <p:nvPr>
            <p:ph type="title"/>
          </p:nvPr>
        </p:nvSpPr>
        <p:spPr>
          <a:xfrm>
            <a:off x="914125" y="118250"/>
            <a:ext cx="10515600" cy="95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>
                <a:latin typeface="Roboto"/>
                <a:ea typeface="Roboto"/>
                <a:cs typeface="Roboto"/>
                <a:sym typeface="Roboto"/>
              </a:rPr>
              <a:t>Recommended modelling steps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21</a:t>
            </a:fld>
            <a:endParaRPr/>
          </a:p>
        </p:txBody>
      </p:sp>
      <p:sp>
        <p:nvSpPr>
          <p:cNvPr id="274" name="Google Shape;274;p41"/>
          <p:cNvSpPr txBox="1"/>
          <p:nvPr/>
        </p:nvSpPr>
        <p:spPr>
          <a:xfrm>
            <a:off x="128300" y="1361725"/>
            <a:ext cx="6364500" cy="51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>
                <a:solidFill>
                  <a:srgbClr val="0000FF"/>
                </a:solidFill>
              </a:rPr>
              <a:t>1.</a:t>
            </a:r>
            <a:r>
              <a:rPr lang="en-A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data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>
                <a:solidFill>
                  <a:srgbClr val="0000FF"/>
                </a:solidFill>
              </a:rPr>
              <a:t>2.</a:t>
            </a:r>
            <a:r>
              <a:rPr lang="en-A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minimal EDA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>
                <a:solidFill>
                  <a:srgbClr val="0000FF"/>
                </a:solidFill>
              </a:rPr>
              <a:t>3.</a:t>
            </a:r>
            <a:r>
              <a:rPr lang="en-A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Dummy Classifier or Regressor (aka zero-information learning)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>
                <a:solidFill>
                  <a:srgbClr val="0000FF"/>
                </a:solidFill>
              </a:rPr>
              <a:t>1.</a:t>
            </a:r>
            <a:r>
              <a:rPr lang="en-A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sckit-learn or do it by hand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>
                <a:solidFill>
                  <a:srgbClr val="0000FF"/>
                </a:solidFill>
              </a:rPr>
              <a:t>4.</a:t>
            </a:r>
            <a:r>
              <a:rPr lang="en-A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a naive classifier or regressor (minimal learning). For example using 1 feature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2400">
                <a:solidFill>
                  <a:srgbClr val="0000FF"/>
                </a:solidFill>
              </a:rPr>
              <a:t>5.</a:t>
            </a:r>
            <a:r>
              <a:rPr lang="en-A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 on the above and iterate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41"/>
          <p:cNvSpPr txBox="1"/>
          <p:nvPr/>
        </p:nvSpPr>
        <p:spPr>
          <a:xfrm>
            <a:off x="6838250" y="1115850"/>
            <a:ext cx="5239800" cy="52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2400" b="1">
                <a:solidFill>
                  <a:srgbClr val="0000FF"/>
                </a:solidFill>
              </a:rPr>
              <a:t>Improving models:</a:t>
            </a:r>
            <a:endParaRPr sz="2400" b="1"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2100">
                <a:solidFill>
                  <a:srgbClr val="0000FF"/>
                </a:solidFill>
              </a:rPr>
              <a:t>1.</a:t>
            </a:r>
            <a:r>
              <a:rPr lang="en-AU" sz="2100">
                <a:solidFill>
                  <a:schemeClr val="dk1"/>
                </a:solidFill>
              </a:rPr>
              <a:t>Improve data</a:t>
            </a:r>
            <a:endParaRPr sz="2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2100">
                <a:solidFill>
                  <a:srgbClr val="0000FF"/>
                </a:solidFill>
              </a:rPr>
              <a:t>1.</a:t>
            </a:r>
            <a:r>
              <a:rPr lang="en-AU" sz="2100">
                <a:solidFill>
                  <a:schemeClr val="dk1"/>
                </a:solidFill>
              </a:rPr>
              <a:t>More data</a:t>
            </a:r>
            <a:endParaRPr sz="2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2100">
                <a:solidFill>
                  <a:srgbClr val="0000FF"/>
                </a:solidFill>
              </a:rPr>
              <a:t>2.</a:t>
            </a:r>
            <a:r>
              <a:rPr lang="en-AU" sz="2100">
                <a:solidFill>
                  <a:schemeClr val="dk1"/>
                </a:solidFill>
              </a:rPr>
              <a:t>Less NaN</a:t>
            </a:r>
            <a:endParaRPr sz="2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2100">
                <a:solidFill>
                  <a:srgbClr val="0000FF"/>
                </a:solidFill>
              </a:rPr>
              <a:t>3.</a:t>
            </a:r>
            <a:r>
              <a:rPr lang="en-AU" sz="2100">
                <a:solidFill>
                  <a:schemeClr val="dk1"/>
                </a:solidFill>
              </a:rPr>
              <a:t>Remove outliers</a:t>
            </a:r>
            <a:endParaRPr sz="2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100">
                <a:solidFill>
                  <a:srgbClr val="0000FF"/>
                </a:solidFill>
              </a:rPr>
              <a:t>4.</a:t>
            </a:r>
            <a:r>
              <a:rPr lang="en-AU" sz="2100">
                <a:solidFill>
                  <a:schemeClr val="dk1"/>
                </a:solidFill>
              </a:rPr>
              <a:t>etc</a:t>
            </a:r>
            <a:endParaRPr sz="2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2100">
                <a:solidFill>
                  <a:srgbClr val="0000FF"/>
                </a:solidFill>
              </a:rPr>
              <a:t>2.</a:t>
            </a:r>
            <a:r>
              <a:rPr lang="en-AU" sz="2100">
                <a:solidFill>
                  <a:schemeClr val="dk1"/>
                </a:solidFill>
              </a:rPr>
              <a:t>Select your features</a:t>
            </a:r>
            <a:endParaRPr sz="2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100">
                <a:solidFill>
                  <a:srgbClr val="0000FF"/>
                </a:solidFill>
              </a:rPr>
              <a:t>1.</a:t>
            </a:r>
            <a:r>
              <a:rPr lang="en-AU" sz="2100">
                <a:solidFill>
                  <a:schemeClr val="dk1"/>
                </a:solidFill>
              </a:rPr>
              <a:t>More features</a:t>
            </a:r>
            <a:endParaRPr sz="2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2100">
                <a:solidFill>
                  <a:srgbClr val="0000FF"/>
                </a:solidFill>
              </a:rPr>
              <a:t>3.</a:t>
            </a:r>
            <a:r>
              <a:rPr lang="en-AU" sz="2100">
                <a:solidFill>
                  <a:schemeClr val="dk1"/>
                </a:solidFill>
              </a:rPr>
              <a:t>Select algorithm</a:t>
            </a:r>
            <a:endParaRPr sz="2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100">
                <a:solidFill>
                  <a:srgbClr val="0000FF"/>
                </a:solidFill>
              </a:rPr>
              <a:t>1.</a:t>
            </a:r>
            <a:r>
              <a:rPr lang="en-AU" sz="2100">
                <a:solidFill>
                  <a:schemeClr val="dk1"/>
                </a:solidFill>
              </a:rPr>
              <a:t>Make sure you compare at least 3</a:t>
            </a:r>
            <a:endParaRPr sz="2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2100">
                <a:solidFill>
                  <a:srgbClr val="0000FF"/>
                </a:solidFill>
              </a:rPr>
              <a:t>4.</a:t>
            </a:r>
            <a:r>
              <a:rPr lang="en-AU" sz="2100">
                <a:solidFill>
                  <a:schemeClr val="dk1"/>
                </a:solidFill>
              </a:rPr>
              <a:t>Hyperparameters tuning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2"/>
          <p:cNvSpPr txBox="1">
            <a:spLocks noGrp="1"/>
          </p:cNvSpPr>
          <p:nvPr>
            <p:ph type="body" idx="1"/>
          </p:nvPr>
        </p:nvSpPr>
        <p:spPr>
          <a:xfrm>
            <a:off x="4928100" y="2469625"/>
            <a:ext cx="5225700" cy="24516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9144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AU" sz="36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End of Presentation!</a:t>
            </a:r>
            <a:endParaRPr sz="36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1126</Words>
  <Application>Microsoft Macintosh PowerPoint</Application>
  <PresentationFormat>Widescreen</PresentationFormat>
  <Paragraphs>261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Roboto</vt:lpstr>
      <vt:lpstr>Cambria</vt:lpstr>
      <vt:lpstr>Calibri</vt:lpstr>
      <vt:lpstr>Arial</vt:lpstr>
      <vt:lpstr>Custom Design</vt:lpstr>
      <vt:lpstr>PowerPoint Presentation</vt:lpstr>
      <vt:lpstr>PowerPoint Presentation</vt:lpstr>
      <vt:lpstr>What is Capstone Project?</vt:lpstr>
      <vt:lpstr>What to present?</vt:lpstr>
      <vt:lpstr>Project Evaluation Criteria</vt:lpstr>
      <vt:lpstr>Questions?</vt:lpstr>
      <vt:lpstr>Presentation Structure</vt:lpstr>
      <vt:lpstr>Agenda</vt:lpstr>
      <vt:lpstr>Project Title Capstone Project   Presenter’s name and role (ideally Data Scientist)</vt:lpstr>
      <vt:lpstr>PowerPoint Presentation</vt:lpstr>
      <vt:lpstr>Project Context</vt:lpstr>
      <vt:lpstr>Define</vt:lpstr>
      <vt:lpstr>Design</vt:lpstr>
      <vt:lpstr>Design</vt:lpstr>
      <vt:lpstr>Deliver</vt:lpstr>
      <vt:lpstr>Summary, Conclusions and Next Steps</vt:lpstr>
      <vt:lpstr>PowerPoint Presentation</vt:lpstr>
      <vt:lpstr>Mini Project</vt:lpstr>
      <vt:lpstr>Case study: Home Loans Marketing</vt:lpstr>
      <vt:lpstr>PowerPoint Presentation</vt:lpstr>
      <vt:lpstr>Recommended modelling steps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Jin Sug Yang</cp:lastModifiedBy>
  <cp:revision>1</cp:revision>
  <dcterms:modified xsi:type="dcterms:W3CDTF">2021-05-28T00:10:56Z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a4f0713-8a76-46fc-9033-3e1b6c45971d_Enabled">
    <vt:lpwstr>true</vt:lpwstr>
  </property>
  <property fmtid="{D5CDD505-2E9C-101B-9397-08002B2CF9AE}" pid="3" name="MSIP_Label_ba4f0713-8a76-46fc-9033-3e1b6c45971d_SetDate">
    <vt:lpwstr>2021-05-28T00:10:52Z</vt:lpwstr>
  </property>
  <property fmtid="{D5CDD505-2E9C-101B-9397-08002B2CF9AE}" pid="4" name="MSIP_Label_ba4f0713-8a76-46fc-9033-3e1b6c45971d_Method">
    <vt:lpwstr>Privileged</vt:lpwstr>
  </property>
  <property fmtid="{D5CDD505-2E9C-101B-9397-08002B2CF9AE}" pid="5" name="MSIP_Label_ba4f0713-8a76-46fc-9033-3e1b6c45971d_Name">
    <vt:lpwstr>UTS-Public</vt:lpwstr>
  </property>
  <property fmtid="{D5CDD505-2E9C-101B-9397-08002B2CF9AE}" pid="6" name="MSIP_Label_ba4f0713-8a76-46fc-9033-3e1b6c45971d_SiteId">
    <vt:lpwstr>e8911c26-cf9f-4a9c-878e-527807be8791</vt:lpwstr>
  </property>
  <property fmtid="{D5CDD505-2E9C-101B-9397-08002B2CF9AE}" pid="7" name="MSIP_Label_ba4f0713-8a76-46fc-9033-3e1b6c45971d_ActionId">
    <vt:lpwstr>eaac7185-d2af-46a1-bab7-cd73f5985f07</vt:lpwstr>
  </property>
  <property fmtid="{D5CDD505-2E9C-101B-9397-08002B2CF9AE}" pid="8" name="MSIP_Label_ba4f0713-8a76-46fc-9033-3e1b6c45971d_ContentBits">
    <vt:lpwstr>0</vt:lpwstr>
  </property>
</Properties>
</file>