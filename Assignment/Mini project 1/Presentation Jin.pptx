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67" r:id="rId4"/>
    <p:sldId id="274" r:id="rId5"/>
    <p:sldId id="257" r:id="rId6"/>
    <p:sldId id="268" r:id="rId7"/>
    <p:sldId id="315" r:id="rId8"/>
    <p:sldId id="316" r:id="rId9"/>
    <p:sldId id="284" r:id="rId10"/>
    <p:sldId id="289" r:id="rId11"/>
    <p:sldId id="290" r:id="rId12"/>
    <p:sldId id="317" r:id="rId13"/>
    <p:sldId id="324" r:id="rId14"/>
    <p:sldId id="325" r:id="rId15"/>
    <p:sldId id="326" r:id="rId16"/>
    <p:sldId id="327" r:id="rId17"/>
    <p:sldId id="328" r:id="rId18"/>
    <p:sldId id="272" r:id="rId19"/>
    <p:sldId id="318" r:id="rId20"/>
    <p:sldId id="319" r:id="rId21"/>
    <p:sldId id="320" r:id="rId22"/>
    <p:sldId id="321" r:id="rId23"/>
    <p:sldId id="322" r:id="rId24"/>
    <p:sldId id="283" r:id="rId25"/>
    <p:sldId id="282" r:id="rId26"/>
    <p:sldId id="296" r:id="rId27"/>
    <p:sldId id="266" r:id="rId28"/>
    <p:sldId id="275" r:id="rId29"/>
    <p:sldId id="329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02" r:id="rId38"/>
    <p:sldId id="297" r:id="rId39"/>
    <p:sldId id="298" r:id="rId40"/>
    <p:sldId id="299" r:id="rId41"/>
    <p:sldId id="300" r:id="rId42"/>
    <p:sldId id="301" r:id="rId43"/>
    <p:sldId id="323" r:id="rId44"/>
    <p:sldId id="291" r:id="rId45"/>
    <p:sldId id="292" r:id="rId46"/>
    <p:sldId id="293" r:id="rId47"/>
    <p:sldId id="294" r:id="rId48"/>
    <p:sldId id="295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93"/>
    <p:restoredTop sz="94750"/>
  </p:normalViewPr>
  <p:slideViewPr>
    <p:cSldViewPr snapToGrid="0" snapToObjects="1">
      <p:cViewPr varScale="1">
        <p:scale>
          <a:sx n="136" d="100"/>
          <a:sy n="136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4C3B2-1655-2644-B8BB-73B2579DC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C6473-7897-DD4E-A063-BA7EBE7D8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EAF14-7595-5147-A669-771AB1B93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87762-B71A-2B46-B94C-E19C3D9C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8985B-03C2-A349-BE07-5B7BB601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5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B7CD-1554-0341-B347-434987519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05E9E-DE8F-1447-94AF-773D680DA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9A417-24D4-0F40-ABD0-C1016ECC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6E934-55EF-BC41-9594-91B4ADD8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8A7C-0150-2941-AD90-D091988E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06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45BC-B4E9-134D-9FAF-BDDF81482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C24A7-2697-3A47-AB85-930118BBF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4ED5E-2081-1442-BFFF-0EA5BCB1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06F2B-5A67-CE4C-9A54-B8AE017E9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42306-0995-2D48-B834-CE96BD14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5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A1A9-BB65-6F48-B3D4-DE7ACD729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1E103-BD73-8D42-A553-483C1B095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D0C4E-9846-9547-BB2C-3CF4F69E1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CB40B-25FB-B743-BF06-C5EE465D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64E27-A469-5444-819D-21D96C9F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721A9-FF11-8C46-B078-4EF70267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41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E386E-62D1-8249-97A0-392E7EC0C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EA21B-9DB8-EB49-896A-D5E6354B5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33B92-D72B-EE4A-B75E-D94E1D95A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ED2353-7215-1545-AA37-1FC9EE39E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831B54-175D-9746-8054-DF7A2C732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2D461-EA39-1643-9489-93AEF15DC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56F330-4FCE-A74E-B028-555A61E9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689EF-A1C4-6948-8CF7-8E6B06EC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3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9323-5802-6A40-8DCC-ECEB9BF3B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1158E-F3B0-9D4F-943B-412058AF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7D1A4-6CBA-D440-84A1-9AE295A6E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F6A43-9B2A-A945-89FA-1C8C4DC0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8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9ACF1-A29C-FA49-83C9-6050D37F5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C5A956-15D6-844C-9C56-C373E7FFD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24128-AB05-FE49-8330-138C023E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68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F5ECB-2D82-8E4A-B67D-09355224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4D1D1-648A-0545-84BA-F91A67D5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B089D-5676-994F-AEFB-D2D0E3F49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2C547-A1E3-1948-A1C1-2E8AC77F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A5BB1-8C33-AE47-B694-1C48C6E56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BB744-B1DB-DE44-A71C-018CA1711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34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3680-E1A7-3048-B712-95138013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48EB02-71BC-8241-88E1-E98D3B156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14C83-8F11-5E40-BF49-632D9F492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6534B-B390-6847-B811-41B2AD645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7F026-033A-1242-A877-43813193D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05F03-DF64-434B-9739-DB7883ED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2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A6EB6-1B23-7D4F-86A0-CB926317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71F2F-7298-8D49-93E1-C7659D20A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A7FAF-9BF7-F94C-BE57-E4C8FF22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88B87-74AE-3346-BBA5-F3F48EC9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3B2CD-1B87-374A-8D7B-7C1978ED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53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5B3D3D-23C3-2E44-8286-7C9C83F57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CD1DA-E33B-F548-B325-5275DA1A8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ADEAE-08C9-9145-B938-04B0C7FE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E79F1-056C-964E-8696-82B09E2F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130D-6D8E-074B-960C-1230C5A5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5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E53E45-AB05-D646-B945-E107A2E7F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D3920-1B8D-464F-8467-6EBBF7B34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6550A-35C7-7C42-8715-E48B78A9C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2D243-A02D-E741-946F-C165540A988B}" type="datetimeFigureOut">
              <a:rPr lang="en-US" smtClean="0"/>
              <a:t>2/6/21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4689D-057C-504A-96F4-939AD626D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5C4C3-BC0B-ED4E-82AF-9C61BEB14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3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ba.gov.au/statistics/cash-rate/" TargetMode="External"/><Relationship Id="rId2" Type="http://schemas.openxmlformats.org/officeDocument/2006/relationships/hyperlink" Target="https://www2.asx.com.au/about/market-statistics/historical-market-statistics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6ABBC4-1D13-504E-9B4F-6FC2EF027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Mini Project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E1FA57-E926-9349-80BB-B3B4B4980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n-US" sz="1500">
                <a:solidFill>
                  <a:srgbClr val="FFFFFF"/>
                </a:solidFill>
              </a:rPr>
              <a:t>February 2021</a:t>
            </a:r>
          </a:p>
          <a:p>
            <a:r>
              <a:rPr lang="en-US" sz="1500">
                <a:solidFill>
                  <a:srgbClr val="FFFFFF"/>
                </a:solidFill>
              </a:rPr>
              <a:t>Jin Yang</a:t>
            </a:r>
          </a:p>
        </p:txBody>
      </p:sp>
    </p:spTree>
    <p:extLst>
      <p:ext uri="{BB962C8B-B14F-4D97-AF65-F5344CB8AC3E}">
        <p14:creationId xmlns:p14="http://schemas.microsoft.com/office/powerpoint/2010/main" val="1736481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A375D-2440-B04E-825E-EC4E9F448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0F01C-9CC4-6E46-9845-BDF27FC70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r>
              <a:rPr lang="en-US" sz="2400"/>
              <a:t>Past performance is no guarantee of future results. </a:t>
            </a:r>
          </a:p>
          <a:p>
            <a:r>
              <a:rPr lang="en-US" sz="2400"/>
              <a:t>The analysis presented in this presentation is to provide information on historical data and has no intention to provide any financial advice. 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5872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079BD-8899-724C-AFA2-C1BA3394A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Background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C97A2-2F4B-404D-981D-7564986E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r>
              <a:rPr lang="en-US" sz="2400"/>
              <a:t>The market capitalization of the Australian Securities Exchange has increased from $1.629 trillion as at December 2015 to $2.237 trillion as at December 2020 (ASX, 2021). </a:t>
            </a:r>
          </a:p>
          <a:p>
            <a:r>
              <a:rPr lang="en-US" sz="2400"/>
              <a:t>With a low cash rate of 0.10% (effectively from 2 December (RBA,2021)), many retail investors are investing more into Australian share market (Vickovich, 2020). </a:t>
            </a:r>
          </a:p>
          <a:p>
            <a:r>
              <a:rPr lang="en-US" sz="2400"/>
              <a:t>However, the market is risky, volatile and uncertain. </a:t>
            </a:r>
          </a:p>
          <a:p>
            <a:r>
              <a:rPr lang="en-US" sz="2400"/>
              <a:t>These investors may not outperform the market. </a:t>
            </a:r>
          </a:p>
          <a:p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7902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4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721FC-EBA2-6048-AA11-BF97CB5C9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496" y="618681"/>
            <a:ext cx="2613872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Market ASX200 index and volatility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hart&#10;&#10;Description automatically generated">
            <a:extLst>
              <a:ext uri="{FF2B5EF4-FFF2-40B4-BE49-F238E27FC236}">
                <a16:creationId xmlns:a16="http://schemas.microsoft.com/office/drawing/2014/main" id="{308CBA9B-4507-7743-BC98-561B3B8ED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539"/>
          <a:stretch/>
        </p:blipFill>
        <p:spPr>
          <a:xfrm>
            <a:off x="976251" y="942538"/>
            <a:ext cx="7163222" cy="48083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01322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4B1C73-F41B-8F40-B35C-C83C1664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Business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7E9DB-4B73-CF42-A1E4-2B5EBD13F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Is there a relationship between value investing criteria and share price? </a:t>
            </a:r>
          </a:p>
          <a:p>
            <a:r>
              <a:rPr lang="en-US" sz="2400" dirty="0"/>
              <a:t>Objectives </a:t>
            </a:r>
          </a:p>
          <a:p>
            <a:pPr lvl="1"/>
            <a:r>
              <a:rPr lang="en-US" sz="1800" dirty="0"/>
              <a:t>To investigate the relationship between value investing criteria and returns.</a:t>
            </a:r>
          </a:p>
          <a:p>
            <a:pPr lvl="1"/>
            <a:r>
              <a:rPr lang="en-US" sz="1800" dirty="0"/>
              <a:t>To examine the differences in the value investing criteria between the firms with positive and negative returns.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09846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219F4-7D5E-8943-8837-A436F0876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9B787-ED9C-F14C-96A4-82A3A9097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r>
              <a:rPr lang="en-US" sz="1700" dirty="0"/>
              <a:t>Data source </a:t>
            </a:r>
          </a:p>
          <a:p>
            <a:pPr lvl="1"/>
            <a:r>
              <a:rPr lang="en-US" sz="1700" dirty="0"/>
              <a:t>Financials from Morningstar database (for the period 2011 to 2020)</a:t>
            </a:r>
          </a:p>
          <a:p>
            <a:pPr lvl="1"/>
            <a:r>
              <a:rPr lang="en-US" sz="1700" dirty="0"/>
              <a:t>Share price from Yahoo Finance</a:t>
            </a:r>
          </a:p>
          <a:p>
            <a:r>
              <a:rPr lang="en-US" sz="1700" dirty="0"/>
              <a:t>Clean &amp; Exploring</a:t>
            </a:r>
          </a:p>
          <a:p>
            <a:pPr lvl="1"/>
            <a:r>
              <a:rPr lang="en-US" sz="1700" dirty="0"/>
              <a:t>Summary statistics and correlation matrix</a:t>
            </a:r>
          </a:p>
          <a:p>
            <a:r>
              <a:rPr lang="en-US" sz="1700" dirty="0"/>
              <a:t>Visualization</a:t>
            </a:r>
          </a:p>
          <a:p>
            <a:pPr lvl="1"/>
            <a:r>
              <a:rPr lang="en-US" sz="1700" dirty="0"/>
              <a:t>Scatter plots and line graph</a:t>
            </a:r>
          </a:p>
          <a:p>
            <a:r>
              <a:rPr lang="en-US" sz="1700" dirty="0"/>
              <a:t>Hypothesize</a:t>
            </a:r>
          </a:p>
          <a:p>
            <a:pPr lvl="1"/>
            <a:r>
              <a:rPr lang="en-US" sz="1700" dirty="0"/>
              <a:t>Based on positive and negative return companies</a:t>
            </a:r>
          </a:p>
          <a:p>
            <a:r>
              <a:rPr lang="en-US" sz="1700" dirty="0"/>
              <a:t>Build Models</a:t>
            </a:r>
          </a:p>
        </p:txBody>
      </p:sp>
    </p:spTree>
    <p:extLst>
      <p:ext uri="{BB962C8B-B14F-4D97-AF65-F5344CB8AC3E}">
        <p14:creationId xmlns:p14="http://schemas.microsoft.com/office/powerpoint/2010/main" val="3329750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C733A-0405-D74F-858B-524AC9CA7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Value investing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3565B-98CE-784F-843A-7FB10AF41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r>
              <a:rPr lang="en-US" sz="1700"/>
              <a:t>Selected value investing criteria (based on Benjamin Graham’ criteria)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/>
              <a:t>Current ratio</a:t>
            </a:r>
          </a:p>
          <a:p>
            <a:pPr lvl="2"/>
            <a:r>
              <a:rPr lang="en-US" sz="1700"/>
              <a:t>Current assets / Current liabilities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/>
              <a:t>Debt to Equity ratio</a:t>
            </a:r>
          </a:p>
          <a:p>
            <a:pPr lvl="2"/>
            <a:r>
              <a:rPr lang="en-US" sz="1700"/>
              <a:t>Total debt / Total equity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/>
              <a:t>Earnings per share</a:t>
            </a:r>
          </a:p>
          <a:p>
            <a:pPr lvl="2"/>
            <a:r>
              <a:rPr lang="en-US" sz="1700"/>
              <a:t>Net profit / Total number of shares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/>
              <a:t>Price to earnings ratio</a:t>
            </a:r>
          </a:p>
          <a:p>
            <a:pPr lvl="2"/>
            <a:r>
              <a:rPr lang="en-US" sz="1700"/>
              <a:t>Share price / Earnings per share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/>
              <a:t>Price to book value per share</a:t>
            </a:r>
          </a:p>
          <a:p>
            <a:pPr lvl="2"/>
            <a:r>
              <a:rPr lang="en-US" sz="1700"/>
              <a:t>Share price / (Total equity / Total number of shares)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591568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C733A-0405-D74F-858B-524AC9CA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investing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3565B-98CE-784F-843A-7FB10AF41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Selected value investing criteria (based on Benjamin Graham’ criteria)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Current ratio (greater than or equal to 1.5)</a:t>
            </a:r>
          </a:p>
          <a:p>
            <a:pPr lvl="2"/>
            <a:r>
              <a:rPr lang="en-US" dirty="0"/>
              <a:t>Current assets / Current liabilities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Debt to Equity ratio (less than 0.5)</a:t>
            </a:r>
          </a:p>
          <a:p>
            <a:pPr lvl="2"/>
            <a:r>
              <a:rPr lang="en-US" dirty="0"/>
              <a:t>Total debt / Total equity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Earnings per share (increase in EPS for the last two consecutive years)</a:t>
            </a:r>
          </a:p>
          <a:p>
            <a:pPr lvl="2"/>
            <a:r>
              <a:rPr lang="en-US" dirty="0"/>
              <a:t>Net profit / Total number of shares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Price to earnings ratio (less than 15)</a:t>
            </a:r>
          </a:p>
          <a:p>
            <a:pPr lvl="2"/>
            <a:r>
              <a:rPr lang="en-US" dirty="0"/>
              <a:t>Share price / Earnings per share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Price to book value per share (less than 1.5)</a:t>
            </a:r>
          </a:p>
          <a:p>
            <a:pPr lvl="2"/>
            <a:r>
              <a:rPr lang="en-US" dirty="0"/>
              <a:t>Share price / (Total equity / Total number of shares)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937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8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35C7781-8130-4042-9CEF-6083EC7B7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Summary statistics (2011-2020)</a:t>
            </a:r>
          </a:p>
        </p:txBody>
      </p:sp>
      <p:graphicFrame>
        <p:nvGraphicFramePr>
          <p:cNvPr id="10" name="Content Placeholder 6">
            <a:extLst>
              <a:ext uri="{FF2B5EF4-FFF2-40B4-BE49-F238E27FC236}">
                <a16:creationId xmlns:a16="http://schemas.microsoft.com/office/drawing/2014/main" id="{171A114F-D5E9-8D4D-BB06-B0A7F467D9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0824022"/>
              </p:ext>
            </p:extLst>
          </p:nvPr>
        </p:nvGraphicFramePr>
        <p:xfrm>
          <a:off x="1257001" y="2557732"/>
          <a:ext cx="9899435" cy="3477811"/>
        </p:xfrm>
        <a:graphic>
          <a:graphicData uri="http://schemas.openxmlformats.org/drawingml/2006/table">
            <a:tbl>
              <a:tblPr firstRow="1" bandRow="1"/>
              <a:tblGrid>
                <a:gridCol w="1197918">
                  <a:extLst>
                    <a:ext uri="{9D8B030D-6E8A-4147-A177-3AD203B41FA5}">
                      <a16:colId xmlns:a16="http://schemas.microsoft.com/office/drawing/2014/main" val="3888850885"/>
                    </a:ext>
                  </a:extLst>
                </a:gridCol>
                <a:gridCol w="928950">
                  <a:extLst>
                    <a:ext uri="{9D8B030D-6E8A-4147-A177-3AD203B41FA5}">
                      <a16:colId xmlns:a16="http://schemas.microsoft.com/office/drawing/2014/main" val="386048983"/>
                    </a:ext>
                  </a:extLst>
                </a:gridCol>
                <a:gridCol w="1073041">
                  <a:extLst>
                    <a:ext uri="{9D8B030D-6E8A-4147-A177-3AD203B41FA5}">
                      <a16:colId xmlns:a16="http://schemas.microsoft.com/office/drawing/2014/main" val="1549856102"/>
                    </a:ext>
                  </a:extLst>
                </a:gridCol>
                <a:gridCol w="1073041">
                  <a:extLst>
                    <a:ext uri="{9D8B030D-6E8A-4147-A177-3AD203B41FA5}">
                      <a16:colId xmlns:a16="http://schemas.microsoft.com/office/drawing/2014/main" val="2617408523"/>
                    </a:ext>
                  </a:extLst>
                </a:gridCol>
                <a:gridCol w="1334323">
                  <a:extLst>
                    <a:ext uri="{9D8B030D-6E8A-4147-A177-3AD203B41FA5}">
                      <a16:colId xmlns:a16="http://schemas.microsoft.com/office/drawing/2014/main" val="3193557698"/>
                    </a:ext>
                  </a:extLst>
                </a:gridCol>
                <a:gridCol w="909739">
                  <a:extLst>
                    <a:ext uri="{9D8B030D-6E8A-4147-A177-3AD203B41FA5}">
                      <a16:colId xmlns:a16="http://schemas.microsoft.com/office/drawing/2014/main" val="623370401"/>
                    </a:ext>
                  </a:extLst>
                </a:gridCol>
                <a:gridCol w="1073041">
                  <a:extLst>
                    <a:ext uri="{9D8B030D-6E8A-4147-A177-3AD203B41FA5}">
                      <a16:colId xmlns:a16="http://schemas.microsoft.com/office/drawing/2014/main" val="3059052229"/>
                    </a:ext>
                  </a:extLst>
                </a:gridCol>
                <a:gridCol w="1073041">
                  <a:extLst>
                    <a:ext uri="{9D8B030D-6E8A-4147-A177-3AD203B41FA5}">
                      <a16:colId xmlns:a16="http://schemas.microsoft.com/office/drawing/2014/main" val="1242085801"/>
                    </a:ext>
                  </a:extLst>
                </a:gridCol>
                <a:gridCol w="1236341">
                  <a:extLst>
                    <a:ext uri="{9D8B030D-6E8A-4147-A177-3AD203B41FA5}">
                      <a16:colId xmlns:a16="http://schemas.microsoft.com/office/drawing/2014/main" val="583551144"/>
                    </a:ext>
                  </a:extLst>
                </a:gridCol>
              </a:tblGrid>
              <a:tr h="441500">
                <a:tc>
                  <a:txBody>
                    <a:bodyPr/>
                    <a:lstStyle/>
                    <a:p>
                      <a:pPr algn="l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std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84130"/>
                  </a:ext>
                </a:extLst>
              </a:tr>
              <a:tr h="441500">
                <a:tc>
                  <a:txBody>
                    <a:bodyPr/>
                    <a:lstStyle/>
                    <a:p>
                      <a:pPr algn="l" fontAlgn="b"/>
                      <a:r>
                        <a:rPr lang="en-AU" sz="2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Return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1,654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0.223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0.722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-0.683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-0.105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0.074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0.317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4.818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076208"/>
                  </a:ext>
                </a:extLst>
              </a:tr>
              <a:tr h="828811">
                <a:tc>
                  <a:txBody>
                    <a:bodyPr/>
                    <a:lstStyle/>
                    <a:p>
                      <a:pPr algn="l" fontAlgn="b"/>
                      <a:r>
                        <a:rPr lang="en-AU" sz="2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Ratio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1,654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2.210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2.258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0.241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1.050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1.561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2.373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14.167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501241"/>
                  </a:ext>
                </a:extLst>
              </a:tr>
              <a:tr h="441500">
                <a:tc>
                  <a:txBody>
                    <a:bodyPr/>
                    <a:lstStyle/>
                    <a:p>
                      <a:pPr algn="l" fontAlgn="b"/>
                      <a:r>
                        <a:rPr lang="en-AU" sz="2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1,654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1.249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1.697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0.059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0.463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0.796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1.304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11.918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4912051"/>
                  </a:ext>
                </a:extLst>
              </a:tr>
              <a:tr h="441500">
                <a:tc>
                  <a:txBody>
                    <a:bodyPr/>
                    <a:lstStyle/>
                    <a:p>
                      <a:pPr algn="l" fontAlgn="b"/>
                      <a:r>
                        <a:rPr lang="en-AU" sz="2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EPS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1,654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0.478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0.857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-1.312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0.082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0.253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0.570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4.796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558045"/>
                  </a:ext>
                </a:extLst>
              </a:tr>
              <a:tr h="441500">
                <a:tc>
                  <a:txBody>
                    <a:bodyPr/>
                    <a:lstStyle/>
                    <a:p>
                      <a:pPr algn="l" fontAlgn="b"/>
                      <a:r>
                        <a:rPr lang="en-AU" sz="2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1,654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17.177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42.315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-175.893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9.314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16.372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25.382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229.993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913117"/>
                  </a:ext>
                </a:extLst>
              </a:tr>
              <a:tr h="441500">
                <a:tc>
                  <a:txBody>
                    <a:bodyPr/>
                    <a:lstStyle/>
                    <a:p>
                      <a:pPr algn="l" fontAlgn="b"/>
                      <a:r>
                        <a:rPr lang="en-AU" sz="2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PB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1,654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3.251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3.547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0.390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1.142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1.917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3.717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18.755</a:t>
                      </a:r>
                    </a:p>
                  </a:txBody>
                  <a:tcPr marL="9923" marR="9923" marT="9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0060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87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6653-61F0-6149-99F7-110BFFAD1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statistics by year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812264-DC78-654F-8F95-676F3885D9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0230782"/>
              </p:ext>
            </p:extLst>
          </p:nvPr>
        </p:nvGraphicFramePr>
        <p:xfrm>
          <a:off x="838201" y="1690688"/>
          <a:ext cx="10515598" cy="4168936"/>
        </p:xfrm>
        <a:graphic>
          <a:graphicData uri="http://schemas.openxmlformats.org/drawingml/2006/table">
            <a:tbl>
              <a:tblPr/>
              <a:tblGrid>
                <a:gridCol w="1453279">
                  <a:extLst>
                    <a:ext uri="{9D8B030D-6E8A-4147-A177-3AD203B41FA5}">
                      <a16:colId xmlns:a16="http://schemas.microsoft.com/office/drawing/2014/main" val="566722952"/>
                    </a:ext>
                  </a:extLst>
                </a:gridCol>
                <a:gridCol w="1027929">
                  <a:extLst>
                    <a:ext uri="{9D8B030D-6E8A-4147-A177-3AD203B41FA5}">
                      <a16:colId xmlns:a16="http://schemas.microsoft.com/office/drawing/2014/main" val="4002567692"/>
                    </a:ext>
                  </a:extLst>
                </a:gridCol>
                <a:gridCol w="803439">
                  <a:extLst>
                    <a:ext uri="{9D8B030D-6E8A-4147-A177-3AD203B41FA5}">
                      <a16:colId xmlns:a16="http://schemas.microsoft.com/office/drawing/2014/main" val="2103473299"/>
                    </a:ext>
                  </a:extLst>
                </a:gridCol>
                <a:gridCol w="803439">
                  <a:extLst>
                    <a:ext uri="{9D8B030D-6E8A-4147-A177-3AD203B41FA5}">
                      <a16:colId xmlns:a16="http://schemas.microsoft.com/office/drawing/2014/main" val="841865303"/>
                    </a:ext>
                  </a:extLst>
                </a:gridCol>
                <a:gridCol w="803439">
                  <a:extLst>
                    <a:ext uri="{9D8B030D-6E8A-4147-A177-3AD203B41FA5}">
                      <a16:colId xmlns:a16="http://schemas.microsoft.com/office/drawing/2014/main" val="3345897125"/>
                    </a:ext>
                  </a:extLst>
                </a:gridCol>
                <a:gridCol w="803439">
                  <a:extLst>
                    <a:ext uri="{9D8B030D-6E8A-4147-A177-3AD203B41FA5}">
                      <a16:colId xmlns:a16="http://schemas.microsoft.com/office/drawing/2014/main" val="824139868"/>
                    </a:ext>
                  </a:extLst>
                </a:gridCol>
                <a:gridCol w="803439">
                  <a:extLst>
                    <a:ext uri="{9D8B030D-6E8A-4147-A177-3AD203B41FA5}">
                      <a16:colId xmlns:a16="http://schemas.microsoft.com/office/drawing/2014/main" val="1721787688"/>
                    </a:ext>
                  </a:extLst>
                </a:gridCol>
                <a:gridCol w="803439">
                  <a:extLst>
                    <a:ext uri="{9D8B030D-6E8A-4147-A177-3AD203B41FA5}">
                      <a16:colId xmlns:a16="http://schemas.microsoft.com/office/drawing/2014/main" val="56765584"/>
                    </a:ext>
                  </a:extLst>
                </a:gridCol>
                <a:gridCol w="803439">
                  <a:extLst>
                    <a:ext uri="{9D8B030D-6E8A-4147-A177-3AD203B41FA5}">
                      <a16:colId xmlns:a16="http://schemas.microsoft.com/office/drawing/2014/main" val="564780955"/>
                    </a:ext>
                  </a:extLst>
                </a:gridCol>
                <a:gridCol w="803439">
                  <a:extLst>
                    <a:ext uri="{9D8B030D-6E8A-4147-A177-3AD203B41FA5}">
                      <a16:colId xmlns:a16="http://schemas.microsoft.com/office/drawing/2014/main" val="2876565553"/>
                    </a:ext>
                  </a:extLst>
                </a:gridCol>
                <a:gridCol w="803439">
                  <a:extLst>
                    <a:ext uri="{9D8B030D-6E8A-4147-A177-3AD203B41FA5}">
                      <a16:colId xmlns:a16="http://schemas.microsoft.com/office/drawing/2014/main" val="2503292239"/>
                    </a:ext>
                  </a:extLst>
                </a:gridCol>
                <a:gridCol w="803439">
                  <a:extLst>
                    <a:ext uri="{9D8B030D-6E8A-4147-A177-3AD203B41FA5}">
                      <a16:colId xmlns:a16="http://schemas.microsoft.com/office/drawing/2014/main" val="3036470359"/>
                    </a:ext>
                  </a:extLst>
                </a:gridCol>
              </a:tblGrid>
              <a:tr h="521117"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465154"/>
                  </a:ext>
                </a:extLst>
              </a:tr>
              <a:tr h="521117"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Return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9425016"/>
                  </a:ext>
                </a:extLst>
              </a:tr>
              <a:tr h="521117"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Ratio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4377263"/>
                  </a:ext>
                </a:extLst>
              </a:tr>
              <a:tr h="521117"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565024"/>
                  </a:ext>
                </a:extLst>
              </a:tr>
              <a:tr h="521117"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847352"/>
                  </a:ext>
                </a:extLst>
              </a:tr>
              <a:tr h="521117"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13.759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14.073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18.366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19.658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18.749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22.513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14.549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748463"/>
                  </a:ext>
                </a:extLst>
              </a:tr>
              <a:tr h="521117"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737200"/>
                  </a:ext>
                </a:extLst>
              </a:tr>
              <a:tr h="521117"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008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649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A743A-5406-B34F-B82C-E2188339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A91C8-7212-FF41-955D-FB9A7A32F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08" y="1825625"/>
            <a:ext cx="4870894" cy="3363063"/>
          </a:xfrm>
        </p:spPr>
        <p:txBody>
          <a:bodyPr>
            <a:normAutofit/>
          </a:bodyPr>
          <a:lstStyle/>
          <a:p>
            <a:r>
              <a:rPr lang="en-US" sz="2400" dirty="0"/>
              <a:t>Based on average value of each year.</a:t>
            </a:r>
          </a:p>
          <a:p>
            <a:r>
              <a:rPr lang="en-US" sz="2400" dirty="0"/>
              <a:t>PE is excluded in this graph as its scale in y-axis is quite large compared to other features. Mean of PE is shown below. </a:t>
            </a:r>
          </a:p>
          <a:p>
            <a:endParaRPr lang="en-US" sz="24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0628C59-B27E-7646-AE92-D04555849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3602" y="681037"/>
            <a:ext cx="6423871" cy="472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B7DFAB4-CD80-9E41-AC76-FB8714D7C3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3453061"/>
              </p:ext>
            </p:extLst>
          </p:nvPr>
        </p:nvGraphicFramePr>
        <p:xfrm>
          <a:off x="806787" y="5706269"/>
          <a:ext cx="11050684" cy="628650"/>
        </p:xfrm>
        <a:graphic>
          <a:graphicData uri="http://schemas.openxmlformats.org/drawingml/2006/table">
            <a:tbl>
              <a:tblPr/>
              <a:tblGrid>
                <a:gridCol w="1555596">
                  <a:extLst>
                    <a:ext uri="{9D8B030D-6E8A-4147-A177-3AD203B41FA5}">
                      <a16:colId xmlns:a16="http://schemas.microsoft.com/office/drawing/2014/main" val="566722952"/>
                    </a:ext>
                  </a:extLst>
                </a:gridCol>
                <a:gridCol w="1077018">
                  <a:extLst>
                    <a:ext uri="{9D8B030D-6E8A-4147-A177-3AD203B41FA5}">
                      <a16:colId xmlns:a16="http://schemas.microsoft.com/office/drawing/2014/main" val="4002567692"/>
                    </a:ext>
                  </a:extLst>
                </a:gridCol>
                <a:gridCol w="841807">
                  <a:extLst>
                    <a:ext uri="{9D8B030D-6E8A-4147-A177-3AD203B41FA5}">
                      <a16:colId xmlns:a16="http://schemas.microsoft.com/office/drawing/2014/main" val="2103473299"/>
                    </a:ext>
                  </a:extLst>
                </a:gridCol>
                <a:gridCol w="841807">
                  <a:extLst>
                    <a:ext uri="{9D8B030D-6E8A-4147-A177-3AD203B41FA5}">
                      <a16:colId xmlns:a16="http://schemas.microsoft.com/office/drawing/2014/main" val="841865303"/>
                    </a:ext>
                  </a:extLst>
                </a:gridCol>
                <a:gridCol w="841807">
                  <a:extLst>
                    <a:ext uri="{9D8B030D-6E8A-4147-A177-3AD203B41FA5}">
                      <a16:colId xmlns:a16="http://schemas.microsoft.com/office/drawing/2014/main" val="3345897125"/>
                    </a:ext>
                  </a:extLst>
                </a:gridCol>
                <a:gridCol w="841807">
                  <a:extLst>
                    <a:ext uri="{9D8B030D-6E8A-4147-A177-3AD203B41FA5}">
                      <a16:colId xmlns:a16="http://schemas.microsoft.com/office/drawing/2014/main" val="824139868"/>
                    </a:ext>
                  </a:extLst>
                </a:gridCol>
                <a:gridCol w="841807">
                  <a:extLst>
                    <a:ext uri="{9D8B030D-6E8A-4147-A177-3AD203B41FA5}">
                      <a16:colId xmlns:a16="http://schemas.microsoft.com/office/drawing/2014/main" val="1721787688"/>
                    </a:ext>
                  </a:extLst>
                </a:gridCol>
                <a:gridCol w="841807">
                  <a:extLst>
                    <a:ext uri="{9D8B030D-6E8A-4147-A177-3AD203B41FA5}">
                      <a16:colId xmlns:a16="http://schemas.microsoft.com/office/drawing/2014/main" val="56765584"/>
                    </a:ext>
                  </a:extLst>
                </a:gridCol>
                <a:gridCol w="841807">
                  <a:extLst>
                    <a:ext uri="{9D8B030D-6E8A-4147-A177-3AD203B41FA5}">
                      <a16:colId xmlns:a16="http://schemas.microsoft.com/office/drawing/2014/main" val="564780955"/>
                    </a:ext>
                  </a:extLst>
                </a:gridCol>
                <a:gridCol w="841807">
                  <a:extLst>
                    <a:ext uri="{9D8B030D-6E8A-4147-A177-3AD203B41FA5}">
                      <a16:colId xmlns:a16="http://schemas.microsoft.com/office/drawing/2014/main" val="2876565553"/>
                    </a:ext>
                  </a:extLst>
                </a:gridCol>
                <a:gridCol w="841807">
                  <a:extLst>
                    <a:ext uri="{9D8B030D-6E8A-4147-A177-3AD203B41FA5}">
                      <a16:colId xmlns:a16="http://schemas.microsoft.com/office/drawing/2014/main" val="2503292239"/>
                    </a:ext>
                  </a:extLst>
                </a:gridCol>
                <a:gridCol w="841807">
                  <a:extLst>
                    <a:ext uri="{9D8B030D-6E8A-4147-A177-3AD203B41FA5}">
                      <a16:colId xmlns:a16="http://schemas.microsoft.com/office/drawing/2014/main" val="3036470359"/>
                    </a:ext>
                  </a:extLst>
                </a:gridCol>
              </a:tblGrid>
              <a:tr h="165696"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465154"/>
                  </a:ext>
                </a:extLst>
              </a:tr>
              <a:tr h="165696"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13.759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14.073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18.366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19.658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18.749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22.513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14.549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748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722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D27FF-CACC-F140-88EB-C05F09501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C2C2C"/>
                </a:solidFill>
              </a:rPr>
              <a:t>Correlation between key variables</a:t>
            </a:r>
            <a:endParaRPr lang="en-US" dirty="0"/>
          </a:p>
        </p:txBody>
      </p:sp>
      <p:pic>
        <p:nvPicPr>
          <p:cNvPr id="4" name="Content Placeholder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33D0E78-8A34-2649-8232-16B5885C6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8661" y="1029494"/>
            <a:ext cx="6863292" cy="514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01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DF136-FB23-AB45-85EF-59BB4414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Return and Current Ratio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DAD5B28-4A27-6D4C-AC54-BC143954D6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258" y="1825625"/>
            <a:ext cx="77734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699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7ED5-C89F-4B4F-826B-EFD449C80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and DE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0D99D2C-46A6-F941-8E6A-9C914CCE6B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929" y="1825625"/>
            <a:ext cx="783014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628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4E05-9A64-0844-B240-629EC4624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and EPS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5302D8F-764B-5B4B-80D6-18CCB02791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929" y="1825625"/>
            <a:ext cx="783014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301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9DA1-C866-7548-8EA1-FA115386F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and PE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6EF9E14-1E48-5147-9D32-BF33A7A0A7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929" y="1825625"/>
            <a:ext cx="783014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384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A267-6831-0849-81E2-9075AF888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and PB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7374A44-F046-454D-9503-2B7D4E0A64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929" y="1825625"/>
            <a:ext cx="783014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551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0A7686-5167-FE4D-B308-CA0C2706C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75745-1890-5540-837D-796D2D550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92970"/>
            <a:ext cx="9833548" cy="2693976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Sample split into positive and negative returns</a:t>
            </a:r>
          </a:p>
          <a:p>
            <a:r>
              <a:rPr lang="en-US" sz="2000">
                <a:solidFill>
                  <a:srgbClr val="000000"/>
                </a:solidFill>
              </a:rPr>
              <a:t>Hypothesis using Z-test:</a:t>
            </a:r>
          </a:p>
          <a:p>
            <a:r>
              <a:rPr lang="en-US" sz="2000">
                <a:solidFill>
                  <a:srgbClr val="000000"/>
                </a:solidFill>
              </a:rPr>
              <a:t>Significance level: 5%</a:t>
            </a:r>
          </a:p>
          <a:p>
            <a:r>
              <a:rPr lang="en-US" sz="2000">
                <a:solidFill>
                  <a:srgbClr val="000000"/>
                </a:solidFill>
              </a:rPr>
              <a:t>H0: There are no differences in value investing criteria variables between firms with positive and negative returns. </a:t>
            </a:r>
          </a:p>
          <a:p>
            <a:r>
              <a:rPr lang="en-US" sz="2000">
                <a:solidFill>
                  <a:srgbClr val="000000"/>
                </a:solidFill>
              </a:rPr>
              <a:t>H1: There are differences in value investing criteria variables between firms with positive and negative returns. </a:t>
            </a:r>
          </a:p>
          <a:p>
            <a:endParaRPr lang="en-US" sz="2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125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C0538-F6C6-B34F-AFDC-BA009F85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Current ratio</a:t>
            </a: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0FF7791D-59A2-4041-BFCB-AABB03E938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814" y="1825625"/>
            <a:ext cx="771637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3876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F3C3-A6D5-1946-91B9-B3C8B6C8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53434F1-46CE-FA4E-8EBB-030F2E488C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814" y="1825625"/>
            <a:ext cx="771637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70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1BEF7-CC5B-8742-81DA-6BEF35BB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EPS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853544A-AD1E-4B4D-8C2C-74776F963C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814" y="1825625"/>
            <a:ext cx="771637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446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7A0F7-DACB-CF48-8636-9D163FF6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3ADEF14-4F9D-8846-9142-C9D5448DAF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021" y="1825625"/>
            <a:ext cx="766995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617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40EC1-0A3B-5F4A-BEAD-FCBEC8CF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PB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E1774585-BD51-BF4C-B666-FA18B70532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056" y="1825625"/>
            <a:ext cx="74378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274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05FF-4C2D-DC4B-BB85-8CE1E0EB5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Univariate test 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026F70-8937-D848-97D9-A4EB0912E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BCDBF8B1-2AD4-934A-83DA-9340C9B161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3308544"/>
              </p:ext>
            </p:extLst>
          </p:nvPr>
        </p:nvGraphicFramePr>
        <p:xfrm>
          <a:off x="838200" y="1825625"/>
          <a:ext cx="10515601" cy="4501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508">
                  <a:extLst>
                    <a:ext uri="{9D8B030D-6E8A-4147-A177-3AD203B41FA5}">
                      <a16:colId xmlns:a16="http://schemas.microsoft.com/office/drawing/2014/main" val="2108991488"/>
                    </a:ext>
                  </a:extLst>
                </a:gridCol>
                <a:gridCol w="1822340">
                  <a:extLst>
                    <a:ext uri="{9D8B030D-6E8A-4147-A177-3AD203B41FA5}">
                      <a16:colId xmlns:a16="http://schemas.microsoft.com/office/drawing/2014/main" val="1092267444"/>
                    </a:ext>
                  </a:extLst>
                </a:gridCol>
                <a:gridCol w="1609690">
                  <a:extLst>
                    <a:ext uri="{9D8B030D-6E8A-4147-A177-3AD203B41FA5}">
                      <a16:colId xmlns:a16="http://schemas.microsoft.com/office/drawing/2014/main" val="2313364098"/>
                    </a:ext>
                  </a:extLst>
                </a:gridCol>
                <a:gridCol w="1207253">
                  <a:extLst>
                    <a:ext uri="{9D8B030D-6E8A-4147-A177-3AD203B41FA5}">
                      <a16:colId xmlns:a16="http://schemas.microsoft.com/office/drawing/2014/main" val="4029968565"/>
                    </a:ext>
                  </a:extLst>
                </a:gridCol>
                <a:gridCol w="1362741">
                  <a:extLst>
                    <a:ext uri="{9D8B030D-6E8A-4147-A177-3AD203B41FA5}">
                      <a16:colId xmlns:a16="http://schemas.microsoft.com/office/drawing/2014/main" val="1880449129"/>
                    </a:ext>
                  </a:extLst>
                </a:gridCol>
                <a:gridCol w="2243069">
                  <a:extLst>
                    <a:ext uri="{9D8B030D-6E8A-4147-A177-3AD203B41FA5}">
                      <a16:colId xmlns:a16="http://schemas.microsoft.com/office/drawing/2014/main" val="106249229"/>
                    </a:ext>
                  </a:extLst>
                </a:gridCol>
              </a:tblGrid>
              <a:tr h="1905452"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 dirty="0">
                          <a:effectLst/>
                        </a:rPr>
                        <a:t> </a:t>
                      </a:r>
                      <a:endParaRPr lang="en-AU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Firms with positive returns (mean)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For firms with negative returns (mean)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t-stats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p-value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reject (p-value &lt; 0.05)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extLst>
                  <a:ext uri="{0D108BD9-81ED-4DB2-BD59-A6C34878D82A}">
                    <a16:rowId xmlns:a16="http://schemas.microsoft.com/office/drawing/2014/main" val="3576087354"/>
                  </a:ext>
                </a:extLst>
              </a:tr>
              <a:tr h="432653"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Current ratio</a:t>
                      </a:r>
                      <a:endParaRPr lang="en-AU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2.265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2.124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1.243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0.214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NO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extLst>
                  <a:ext uri="{0D108BD9-81ED-4DB2-BD59-A6C34878D82A}">
                    <a16:rowId xmlns:a16="http://schemas.microsoft.com/office/drawing/2014/main" val="75505371"/>
                  </a:ext>
                </a:extLst>
              </a:tr>
              <a:tr h="432653"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DE</a:t>
                      </a:r>
                      <a:endParaRPr lang="en-AU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1.181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1.356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-2.047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0.041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YES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extLst>
                  <a:ext uri="{0D108BD9-81ED-4DB2-BD59-A6C34878D82A}">
                    <a16:rowId xmlns:a16="http://schemas.microsoft.com/office/drawing/2014/main" val="536554771"/>
                  </a:ext>
                </a:extLst>
              </a:tr>
              <a:tr h="432653"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EPS</a:t>
                      </a:r>
                      <a:endParaRPr lang="en-AU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0.546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0.370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4.102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0.000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YES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extLst>
                  <a:ext uri="{0D108BD9-81ED-4DB2-BD59-A6C34878D82A}">
                    <a16:rowId xmlns:a16="http://schemas.microsoft.com/office/drawing/2014/main" val="1326467751"/>
                  </a:ext>
                </a:extLst>
              </a:tr>
              <a:tr h="432653"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PE</a:t>
                      </a:r>
                      <a:endParaRPr lang="en-AU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20.266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12.308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3.742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0.000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YES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extLst>
                  <a:ext uri="{0D108BD9-81ED-4DB2-BD59-A6C34878D82A}">
                    <a16:rowId xmlns:a16="http://schemas.microsoft.com/office/drawing/2014/main" val="148133157"/>
                  </a:ext>
                </a:extLst>
              </a:tr>
              <a:tr h="432653"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PB</a:t>
                      </a:r>
                      <a:endParaRPr lang="en-AU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3.857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2.295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8.932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0.000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YES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extLst>
                  <a:ext uri="{0D108BD9-81ED-4DB2-BD59-A6C34878D82A}">
                    <a16:rowId xmlns:a16="http://schemas.microsoft.com/office/drawing/2014/main" val="1720788081"/>
                  </a:ext>
                </a:extLst>
              </a:tr>
              <a:tr h="432653"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i="1" u="none" strike="noStrike">
                          <a:effectLst/>
                        </a:rPr>
                        <a:t>Observations</a:t>
                      </a:r>
                      <a:endParaRPr lang="en-AU" sz="24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i="1" u="none" strike="noStrike">
                          <a:effectLst/>
                        </a:rPr>
                        <a:t>1,012 </a:t>
                      </a:r>
                      <a:endParaRPr lang="en-AU" sz="24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i="1" u="none" strike="noStrike">
                          <a:effectLst/>
                        </a:rPr>
                        <a:t>642 </a:t>
                      </a:r>
                      <a:endParaRPr lang="en-AU" sz="24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 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>
                          <a:effectLst/>
                        </a:rPr>
                        <a:t> 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 dirty="0">
                          <a:effectLst/>
                        </a:rPr>
                        <a:t> </a:t>
                      </a:r>
                      <a:endParaRPr lang="en-AU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904" marR="18904" marT="18904" marB="0" anchor="b"/>
                </a:tc>
                <a:extLst>
                  <a:ext uri="{0D108BD9-81ED-4DB2-BD59-A6C34878D82A}">
                    <a16:rowId xmlns:a16="http://schemas.microsoft.com/office/drawing/2014/main" val="1824792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681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497A3-342F-4247-B209-5F4CC1DE6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Thought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4078-28E2-484E-A082-D7C3AC707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r>
              <a:rPr lang="en-US" sz="2400"/>
              <a:t>Generating a portfolio using the value investing criteria and examine the returns for the past 5 years.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Current ratio (greater than or equal to 1.5)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Debt to Equity ratio (less than 0.5)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Earnings per share (increase in EPS for the last two consecutive years)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Price to earnings ratio (less than 15)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Price to book value per share (less than 1.5)</a:t>
            </a:r>
          </a:p>
          <a:p>
            <a:r>
              <a:rPr lang="en-US" sz="2400"/>
              <a:t>Compare the cumulative returns of portfolio returns with ASX200 (ASX Code: XJO) from 2015 to 2020. </a:t>
            </a:r>
          </a:p>
        </p:txBody>
      </p:sp>
    </p:spTree>
    <p:extLst>
      <p:ext uri="{BB962C8B-B14F-4D97-AF65-F5344CB8AC3E}">
        <p14:creationId xmlns:p14="http://schemas.microsoft.com/office/powerpoint/2010/main" val="3774547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6401-5DA6-6542-89EA-CA20F506E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cumulative returns between the value investing portfolio and ASX200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01E5994-AE2B-2A45-A11F-3F4C2209B5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269" y="1825625"/>
            <a:ext cx="790746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928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328B1-53EC-524B-9296-89310094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3B2A4-9C89-2E41-81AA-79DC47E65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000" dirty="0"/>
              <a:t>Findings</a:t>
            </a:r>
          </a:p>
          <a:p>
            <a:pPr lvl="1"/>
            <a:r>
              <a:rPr lang="en-AU" sz="2000" dirty="0"/>
              <a:t>Current ratio and PB are positively correlated with returns, whereas DE, EPS, and PE is negatively correlated with returns. </a:t>
            </a:r>
          </a:p>
          <a:p>
            <a:pPr lvl="1"/>
            <a:r>
              <a:rPr lang="en-AU" sz="2000" dirty="0"/>
              <a:t>Means of DE, EPS, PE, PB is statistically different between firms with positive and negative returns. </a:t>
            </a:r>
          </a:p>
          <a:p>
            <a:r>
              <a:rPr lang="en-US" sz="2000" dirty="0"/>
              <a:t>Limitations </a:t>
            </a:r>
          </a:p>
          <a:p>
            <a:pPr lvl="1"/>
            <a:r>
              <a:rPr lang="en-US" sz="2000" dirty="0"/>
              <a:t>The sample consists of ASX200 stocks only. </a:t>
            </a:r>
          </a:p>
          <a:p>
            <a:pPr lvl="1"/>
            <a:r>
              <a:rPr lang="en-US" sz="2000" dirty="0"/>
              <a:t>The return is based on the yearly share price.</a:t>
            </a:r>
          </a:p>
          <a:p>
            <a:pPr lvl="1"/>
            <a:r>
              <a:rPr lang="en-US" sz="2000" dirty="0"/>
              <a:t>Timing differences between return and the financial information made publicly available. </a:t>
            </a:r>
          </a:p>
          <a:p>
            <a:r>
              <a:rPr lang="en-US" sz="2000" dirty="0"/>
              <a:t>Future research</a:t>
            </a:r>
          </a:p>
          <a:p>
            <a:pPr lvl="1"/>
            <a:r>
              <a:rPr lang="en-US" sz="2000" dirty="0"/>
              <a:t>Develop and apply a predictive model (e.g., supervised learning).</a:t>
            </a:r>
          </a:p>
          <a:p>
            <a:pPr lvl="1"/>
            <a:r>
              <a:rPr lang="en-US" sz="2000" dirty="0"/>
              <a:t>Further analysis including different types of industry.</a:t>
            </a:r>
          </a:p>
        </p:txBody>
      </p:sp>
    </p:spTree>
    <p:extLst>
      <p:ext uri="{BB962C8B-B14F-4D97-AF65-F5344CB8AC3E}">
        <p14:creationId xmlns:p14="http://schemas.microsoft.com/office/powerpoint/2010/main" val="2254539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3163B1-8837-CC46-AEDA-BCF1076A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512A5-C3C6-CD4A-BE5B-1648F8656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r>
              <a:rPr lang="en-US" sz="2400"/>
              <a:t>ASX, 2021, Historical market statistics, </a:t>
            </a:r>
            <a:r>
              <a:rPr lang="en-US" sz="2400" i="1"/>
              <a:t>ASX</a:t>
            </a:r>
            <a:r>
              <a:rPr lang="en-US" sz="2400"/>
              <a:t>, viewed on 28</a:t>
            </a:r>
            <a:r>
              <a:rPr lang="en-US" sz="2400" baseline="30000"/>
              <a:t>th</a:t>
            </a:r>
            <a:r>
              <a:rPr lang="en-US" sz="2400"/>
              <a:t> Jan 2021 (</a:t>
            </a:r>
            <a:r>
              <a:rPr lang="en-US" sz="2400">
                <a:hlinkClick r:id="rId2"/>
              </a:rPr>
              <a:t>https://www2.asx.com.au/about/market-statistics/historical-market-statistics</a:t>
            </a:r>
            <a:r>
              <a:rPr lang="en-US" sz="2400"/>
              <a:t>).</a:t>
            </a:r>
          </a:p>
          <a:p>
            <a:r>
              <a:rPr lang="en-US" sz="2400"/>
              <a:t>RBA, 2021, Cash Rate Target, </a:t>
            </a:r>
            <a:r>
              <a:rPr lang="en-US" sz="2400" i="1"/>
              <a:t>Reserve Bank of Australia</a:t>
            </a:r>
            <a:r>
              <a:rPr lang="en-US" sz="2400"/>
              <a:t>, viewed on 28</a:t>
            </a:r>
            <a:r>
              <a:rPr lang="en-US" sz="2400" baseline="30000"/>
              <a:t>th</a:t>
            </a:r>
            <a:r>
              <a:rPr lang="en-US" sz="2400"/>
              <a:t> Jan 2021 (</a:t>
            </a:r>
            <a:r>
              <a:rPr lang="en-US" sz="2400">
                <a:hlinkClick r:id="rId3"/>
              </a:rPr>
              <a:t>https://www.rba.gov.au/statistics/cash-rate/</a:t>
            </a:r>
            <a:r>
              <a:rPr lang="en-US" sz="2400"/>
              <a:t>). </a:t>
            </a:r>
          </a:p>
          <a:p>
            <a:r>
              <a:rPr lang="en-US" sz="2400"/>
              <a:t>Vickovich, A, 2020, Investors ‘take a punt’ on Australia’s riskiest stocks, </a:t>
            </a:r>
            <a:r>
              <a:rPr lang="en-US" sz="2400" i="1"/>
              <a:t>Australian Financial Review</a:t>
            </a:r>
            <a:r>
              <a:rPr lang="en-US" sz="2400"/>
              <a:t>. 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85753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DF3D50-6126-174B-83A2-4B738AE2C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4EE88-4FB2-DC4A-9029-DD473BBD9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5368" y="4074718"/>
            <a:ext cx="610519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864977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45E1-B9D8-8146-92FE-AED51C251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1 – distribution graph (including transformed variables)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DBF93-E50F-3E43-955C-599AD742F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CFA26586-997F-7948-AB17-F4CE516E7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1825625"/>
            <a:ext cx="1113790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125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20E1-051F-0447-A07B-3EF64E2B0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61BB8-8DC4-CB4A-A9F6-303AEDA52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3218E6C6-C202-C247-971E-A21A99960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1670050"/>
            <a:ext cx="90170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757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ABF4-78C3-E14D-84A3-D92A7427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98C41-24DB-6748-B48C-5D2787D26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4367C4D2-5A33-D842-9E10-D290F15C4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1670050"/>
            <a:ext cx="90170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305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9652-1846-C647-A30E-E168CD19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07FED-7E51-AA4B-905D-93D241C61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7400B6DC-4BC6-124E-9102-A1E9E2EE8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1670050"/>
            <a:ext cx="90170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866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A88A2-C3D3-AC4C-82A4-42B22FFD1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15B7F-B6A9-2A40-8A70-0E2CE215E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39BC8CF5-39CC-2045-B6B1-0436D411F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1670050"/>
            <a:ext cx="90170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2144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DA7B3-DC61-E944-92BF-95577C64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005CF-C2EB-234C-A737-FEA5CDD12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FEC17A2A-90F9-2A42-A630-A8D3D9CAA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1670050"/>
            <a:ext cx="90932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5189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3A58-30D2-2048-B148-335DB50A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F5F50-DC15-2245-8E24-D3DB62AD7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ACCDB378-F939-5545-8D67-DBA01BEC6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1670050"/>
            <a:ext cx="90170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135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3B2CE-0DA1-1F46-8F30-46DB764B0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2 – for each industry</a:t>
            </a:r>
          </a:p>
        </p:txBody>
      </p:sp>
      <p:pic>
        <p:nvPicPr>
          <p:cNvPr id="12300" name="Picture 12">
            <a:extLst>
              <a:ext uri="{FF2B5EF4-FFF2-40B4-BE49-F238E27FC236}">
                <a16:creationId xmlns:a16="http://schemas.microsoft.com/office/drawing/2014/main" id="{11A2011C-9DAA-394F-A448-DDF3ECA256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123" y="1825625"/>
            <a:ext cx="587575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083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2C3DB-6F56-FD43-BE8D-2D9426F74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8E9F76A-52D9-6B42-BFC7-1CC3BB0CAE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123" y="1825625"/>
            <a:ext cx="587575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8820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36E1-C9DD-5045-91F3-571A4BA9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7762791A-F540-8F4D-9CC8-662C5A6542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123" y="1825625"/>
            <a:ext cx="587575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3463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FCD4-2525-504A-915F-A3F244F2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FAAD9EBA-1B96-8E4E-BDE7-B1730B946D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123" y="1825625"/>
            <a:ext cx="587575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9921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31C96-477E-B148-866D-171C0D623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F9E5B95B-BBAA-7D48-8F3F-0405AB8ECC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2596" y="1825625"/>
            <a:ext cx="584680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9116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F0D4-8643-3C41-98F9-8B663F5F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A2163A81-663F-224E-AD73-8B1FEE65C6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364" y="1825625"/>
            <a:ext cx="577927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9915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979A-6B39-324E-9E46-4CE06E19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3 – Scatter plots using transformed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CF163-EB27-AB42-A440-01C110477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376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DF136-FB23-AB45-85EF-59BB4414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Return and Current Ratio</a:t>
            </a:r>
            <a:endParaRPr lang="en-US" dirty="0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EF69D0EC-6A7D-1743-A44C-F963B87EF9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255" y="1825625"/>
            <a:ext cx="773948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5895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7ED5-C89F-4B4F-826B-EFD449C80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and DE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0B89B13-E520-934D-B078-61F4B64F49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255" y="1825625"/>
            <a:ext cx="773948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7317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4E05-9A64-0844-B240-629EC4624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and EPS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FBA0045-E353-524B-AC03-B61B18C837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255" y="1825625"/>
            <a:ext cx="773948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82563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9DA1-C866-7548-8EA1-FA115386F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and PE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5E1E6F3-F9B9-4447-8C0C-A0F4C9A4C1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255" y="1825625"/>
            <a:ext cx="773948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3298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A267-6831-0849-81E2-9075AF888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and PB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14FB9AE-FCA8-C742-A9B2-2B3DC8CD1D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582" y="1825625"/>
            <a:ext cx="764883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917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1107</Words>
  <Application>Microsoft Macintosh PowerPoint</Application>
  <PresentationFormat>Widescreen</PresentationFormat>
  <Paragraphs>334</Paragraphs>
  <Slides>48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Calibri Light</vt:lpstr>
      <vt:lpstr>Office Theme</vt:lpstr>
      <vt:lpstr>Mini Project 1</vt:lpstr>
      <vt:lpstr>Disclaimer</vt:lpstr>
      <vt:lpstr>Background </vt:lpstr>
      <vt:lpstr>Market ASX200 index and volatility</vt:lpstr>
      <vt:lpstr>Business Question</vt:lpstr>
      <vt:lpstr>Pipeline</vt:lpstr>
      <vt:lpstr>Value investing criteria</vt:lpstr>
      <vt:lpstr>Value investing criteria</vt:lpstr>
      <vt:lpstr>Summary statistics (2011-2020)</vt:lpstr>
      <vt:lpstr>Summary statistics by year</vt:lpstr>
      <vt:lpstr>Trends </vt:lpstr>
      <vt:lpstr>Correlation between key variables</vt:lpstr>
      <vt:lpstr>Return and Current Ratio</vt:lpstr>
      <vt:lpstr>Return and DE</vt:lpstr>
      <vt:lpstr>Return and EPS</vt:lpstr>
      <vt:lpstr>Return and PE</vt:lpstr>
      <vt:lpstr>Return and PB</vt:lpstr>
      <vt:lpstr>Hypothesis</vt:lpstr>
      <vt:lpstr>Current ratio</vt:lpstr>
      <vt:lpstr>DE</vt:lpstr>
      <vt:lpstr>EPS</vt:lpstr>
      <vt:lpstr>PE</vt:lpstr>
      <vt:lpstr>PB</vt:lpstr>
      <vt:lpstr>Univariate test results</vt:lpstr>
      <vt:lpstr>Thought Experiment</vt:lpstr>
      <vt:lpstr>Comparison of cumulative returns between the value investing portfolio and ASX200</vt:lpstr>
      <vt:lpstr>Summary</vt:lpstr>
      <vt:lpstr>Reference</vt:lpstr>
      <vt:lpstr>Thank you</vt:lpstr>
      <vt:lpstr>Appendix 1 – distribution graph (including transformed variables)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 2 – for each industry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 3 – Scatter plots using transformed data</vt:lpstr>
      <vt:lpstr>Return and Current Ratio</vt:lpstr>
      <vt:lpstr>Return and DE</vt:lpstr>
      <vt:lpstr>Return and EPS</vt:lpstr>
      <vt:lpstr>Return and PE</vt:lpstr>
      <vt:lpstr>Return and PB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1</dc:title>
  <dc:creator>Jin Sug Yang</dc:creator>
  <cp:lastModifiedBy>Jin Sug Yang</cp:lastModifiedBy>
  <cp:revision>5</cp:revision>
  <dcterms:created xsi:type="dcterms:W3CDTF">2021-02-05T22:05:39Z</dcterms:created>
  <dcterms:modified xsi:type="dcterms:W3CDTF">2021-02-06T00:37:04Z</dcterms:modified>
</cp:coreProperties>
</file>