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35"/>
  </p:notesMasterIdLst>
  <p:sldIdLst>
    <p:sldId id="256" r:id="rId2"/>
    <p:sldId id="265" r:id="rId3"/>
    <p:sldId id="264" r:id="rId4"/>
    <p:sldId id="312" r:id="rId5"/>
    <p:sldId id="313" r:id="rId6"/>
    <p:sldId id="306" r:id="rId7"/>
    <p:sldId id="309" r:id="rId8"/>
    <p:sldId id="310" r:id="rId9"/>
    <p:sldId id="314" r:id="rId10"/>
    <p:sldId id="278" r:id="rId11"/>
    <p:sldId id="315" r:id="rId12"/>
    <p:sldId id="317" r:id="rId13"/>
    <p:sldId id="303" r:id="rId14"/>
    <p:sldId id="288" r:id="rId15"/>
    <p:sldId id="291" r:id="rId16"/>
    <p:sldId id="293" r:id="rId17"/>
    <p:sldId id="294" r:id="rId18"/>
    <p:sldId id="295" r:id="rId19"/>
    <p:sldId id="322" r:id="rId20"/>
    <p:sldId id="296" r:id="rId21"/>
    <p:sldId id="297" r:id="rId22"/>
    <p:sldId id="257" r:id="rId23"/>
    <p:sldId id="299" r:id="rId24"/>
    <p:sldId id="321" r:id="rId25"/>
    <p:sldId id="271" r:id="rId26"/>
    <p:sldId id="302" r:id="rId27"/>
    <p:sldId id="307" r:id="rId28"/>
    <p:sldId id="275" r:id="rId29"/>
    <p:sldId id="319" r:id="rId30"/>
    <p:sldId id="262" r:id="rId31"/>
    <p:sldId id="289" r:id="rId32"/>
    <p:sldId id="290" r:id="rId33"/>
    <p:sldId id="277" r:id="rId34"/>
  </p:sldIdLst>
  <p:sldSz cx="12192000" cy="6858000"/>
  <p:notesSz cx="6858000" cy="9144000"/>
  <p:embeddedFontLst>
    <p:embeddedFont>
      <p:font typeface="Calibri" panose="020F0502020204030204" pitchFamily="34" charset="0"/>
      <p:regular r:id="rId36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68"/>
    <p:restoredTop sz="94694"/>
  </p:normalViewPr>
  <p:slideViewPr>
    <p:cSldViewPr snapToGrid="0">
      <p:cViewPr varScale="1">
        <p:scale>
          <a:sx n="72" d="100"/>
          <a:sy n="72" d="100"/>
        </p:scale>
        <p:origin x="224" y="1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4D3C0D-F041-4AC7-A952-BE06727A374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85CD5F6-B6C1-4BBF-9EDA-612F02330CFD}">
      <dgm:prSet/>
      <dgm:spPr/>
      <dgm:t>
        <a:bodyPr/>
        <a:lstStyle/>
        <a:p>
          <a:r>
            <a:rPr lang="en-US"/>
            <a:t>BIO</a:t>
          </a:r>
        </a:p>
      </dgm:t>
    </dgm:pt>
    <dgm:pt modelId="{874C05D1-9486-40BE-A268-0A1483AFCEB8}" type="parTrans" cxnId="{66B7B0D3-14CA-45D6-859C-D1BF45B08E66}">
      <dgm:prSet/>
      <dgm:spPr/>
      <dgm:t>
        <a:bodyPr/>
        <a:lstStyle/>
        <a:p>
          <a:endParaRPr lang="en-US"/>
        </a:p>
      </dgm:t>
    </dgm:pt>
    <dgm:pt modelId="{C15292DC-7451-46BE-A91D-1CDBEDF64C39}" type="sibTrans" cxnId="{66B7B0D3-14CA-45D6-859C-D1BF45B08E66}">
      <dgm:prSet/>
      <dgm:spPr/>
      <dgm:t>
        <a:bodyPr/>
        <a:lstStyle/>
        <a:p>
          <a:endParaRPr lang="en-US"/>
        </a:p>
      </dgm:t>
    </dgm:pt>
    <dgm:pt modelId="{D96C6368-A508-45BF-B85A-6B84604CD3BB}">
      <dgm:prSet/>
      <dgm:spPr/>
      <dgm:t>
        <a:bodyPr/>
        <a:lstStyle/>
        <a:p>
          <a:r>
            <a:rPr lang="en-US" dirty="0"/>
            <a:t>PROJECT CONTEXT</a:t>
          </a:r>
        </a:p>
      </dgm:t>
    </dgm:pt>
    <dgm:pt modelId="{7D35F6AC-F5AE-464D-A072-A1705443AE78}" type="parTrans" cxnId="{C7B4C7B6-7FC4-4299-BE90-B1F3DD93CC44}">
      <dgm:prSet/>
      <dgm:spPr/>
      <dgm:t>
        <a:bodyPr/>
        <a:lstStyle/>
        <a:p>
          <a:endParaRPr lang="en-US"/>
        </a:p>
      </dgm:t>
    </dgm:pt>
    <dgm:pt modelId="{B799A35C-D259-4A14-BBC1-5BD6547BF4F9}" type="sibTrans" cxnId="{C7B4C7B6-7FC4-4299-BE90-B1F3DD93CC44}">
      <dgm:prSet/>
      <dgm:spPr/>
      <dgm:t>
        <a:bodyPr/>
        <a:lstStyle/>
        <a:p>
          <a:endParaRPr lang="en-US"/>
        </a:p>
      </dgm:t>
    </dgm:pt>
    <dgm:pt modelId="{D76E99F0-9914-431B-B590-3B1D91539081}">
      <dgm:prSet/>
      <dgm:spPr/>
      <dgm:t>
        <a:bodyPr/>
        <a:lstStyle/>
        <a:p>
          <a:r>
            <a:rPr lang="en-US"/>
            <a:t>DEFINE</a:t>
          </a:r>
        </a:p>
      </dgm:t>
    </dgm:pt>
    <dgm:pt modelId="{DB5A40A0-014E-4AE6-ABB5-E499D899DB36}" type="parTrans" cxnId="{6AE50C71-F6DC-4094-9813-AD795CEF35C0}">
      <dgm:prSet/>
      <dgm:spPr/>
      <dgm:t>
        <a:bodyPr/>
        <a:lstStyle/>
        <a:p>
          <a:endParaRPr lang="en-US"/>
        </a:p>
      </dgm:t>
    </dgm:pt>
    <dgm:pt modelId="{045FBD7F-40CA-4A4B-BBC6-5DB7ED7E1E0C}" type="sibTrans" cxnId="{6AE50C71-F6DC-4094-9813-AD795CEF35C0}">
      <dgm:prSet/>
      <dgm:spPr/>
      <dgm:t>
        <a:bodyPr/>
        <a:lstStyle/>
        <a:p>
          <a:endParaRPr lang="en-US"/>
        </a:p>
      </dgm:t>
    </dgm:pt>
    <dgm:pt modelId="{813F4FF2-5B1B-403C-9A7A-5194984917E8}">
      <dgm:prSet/>
      <dgm:spPr/>
      <dgm:t>
        <a:bodyPr/>
        <a:lstStyle/>
        <a:p>
          <a:r>
            <a:rPr lang="en-US"/>
            <a:t>DESIGN</a:t>
          </a:r>
        </a:p>
      </dgm:t>
    </dgm:pt>
    <dgm:pt modelId="{4F286347-6698-4B7C-98B1-B1E6FE72389B}" type="parTrans" cxnId="{4B5E8E2C-7BC0-4DCF-885F-D4AE098EAFDC}">
      <dgm:prSet/>
      <dgm:spPr/>
      <dgm:t>
        <a:bodyPr/>
        <a:lstStyle/>
        <a:p>
          <a:endParaRPr lang="en-US"/>
        </a:p>
      </dgm:t>
    </dgm:pt>
    <dgm:pt modelId="{D706630D-AE6F-4412-83D4-31C686AE510F}" type="sibTrans" cxnId="{4B5E8E2C-7BC0-4DCF-885F-D4AE098EAFDC}">
      <dgm:prSet/>
      <dgm:spPr/>
      <dgm:t>
        <a:bodyPr/>
        <a:lstStyle/>
        <a:p>
          <a:endParaRPr lang="en-US"/>
        </a:p>
      </dgm:t>
    </dgm:pt>
    <dgm:pt modelId="{AD37AA56-77C5-493C-90DB-FDDE946297A3}">
      <dgm:prSet/>
      <dgm:spPr/>
      <dgm:t>
        <a:bodyPr/>
        <a:lstStyle/>
        <a:p>
          <a:r>
            <a:rPr lang="en-US"/>
            <a:t>DELIVER</a:t>
          </a:r>
        </a:p>
      </dgm:t>
    </dgm:pt>
    <dgm:pt modelId="{630476A8-6ED8-4992-BE79-06FF58375744}" type="parTrans" cxnId="{23CFA9F3-8D2B-428B-90F2-DB02D29616D0}">
      <dgm:prSet/>
      <dgm:spPr/>
      <dgm:t>
        <a:bodyPr/>
        <a:lstStyle/>
        <a:p>
          <a:endParaRPr lang="en-US"/>
        </a:p>
      </dgm:t>
    </dgm:pt>
    <dgm:pt modelId="{F21BBC49-0EA2-44A5-A36A-97F95597D32B}" type="sibTrans" cxnId="{23CFA9F3-8D2B-428B-90F2-DB02D29616D0}">
      <dgm:prSet/>
      <dgm:spPr/>
      <dgm:t>
        <a:bodyPr/>
        <a:lstStyle/>
        <a:p>
          <a:endParaRPr lang="en-US"/>
        </a:p>
      </dgm:t>
    </dgm:pt>
    <dgm:pt modelId="{09B9A5C6-2EAB-41F8-8A47-FAB0A1FF4881}">
      <dgm:prSet/>
      <dgm:spPr/>
      <dgm:t>
        <a:bodyPr/>
        <a:lstStyle/>
        <a:p>
          <a:r>
            <a:rPr lang="en-US"/>
            <a:t>SUMMARY, CONCLUSION AND NEXT STEPS</a:t>
          </a:r>
        </a:p>
      </dgm:t>
    </dgm:pt>
    <dgm:pt modelId="{01DB3A4E-1634-42CC-A11C-95C21E1970CD}" type="parTrans" cxnId="{2A95D0A4-1940-47D1-BBDF-068118A07C75}">
      <dgm:prSet/>
      <dgm:spPr/>
      <dgm:t>
        <a:bodyPr/>
        <a:lstStyle/>
        <a:p>
          <a:endParaRPr lang="en-US"/>
        </a:p>
      </dgm:t>
    </dgm:pt>
    <dgm:pt modelId="{39B379C7-B7DE-43C0-A0C9-1AA2FE47CD6D}" type="sibTrans" cxnId="{2A95D0A4-1940-47D1-BBDF-068118A07C75}">
      <dgm:prSet/>
      <dgm:spPr/>
      <dgm:t>
        <a:bodyPr/>
        <a:lstStyle/>
        <a:p>
          <a:endParaRPr lang="en-US"/>
        </a:p>
      </dgm:t>
    </dgm:pt>
    <dgm:pt modelId="{8BFD0BE1-94B6-1347-A228-659F26478FAC}" type="pres">
      <dgm:prSet presAssocID="{9C4D3C0D-F041-4AC7-A952-BE06727A3749}" presName="Name0" presStyleCnt="0">
        <dgm:presLayoutVars>
          <dgm:dir/>
          <dgm:resizeHandles val="exact"/>
        </dgm:presLayoutVars>
      </dgm:prSet>
      <dgm:spPr/>
    </dgm:pt>
    <dgm:pt modelId="{CD941164-0550-C244-98F2-97828468E9FB}" type="pres">
      <dgm:prSet presAssocID="{785CD5F6-B6C1-4BBF-9EDA-612F02330CFD}" presName="node" presStyleLbl="node1" presStyleIdx="0" presStyleCnt="6">
        <dgm:presLayoutVars>
          <dgm:bulletEnabled val="1"/>
        </dgm:presLayoutVars>
      </dgm:prSet>
      <dgm:spPr/>
    </dgm:pt>
    <dgm:pt modelId="{38A5BF99-66A2-8F46-97DE-9642DDC5254A}" type="pres">
      <dgm:prSet presAssocID="{C15292DC-7451-46BE-A91D-1CDBEDF64C39}" presName="sibTrans" presStyleLbl="sibTrans1D1" presStyleIdx="0" presStyleCnt="5"/>
      <dgm:spPr/>
    </dgm:pt>
    <dgm:pt modelId="{93B13A3E-665A-0643-8002-53A846ACF281}" type="pres">
      <dgm:prSet presAssocID="{C15292DC-7451-46BE-A91D-1CDBEDF64C39}" presName="connectorText" presStyleLbl="sibTrans1D1" presStyleIdx="0" presStyleCnt="5"/>
      <dgm:spPr/>
    </dgm:pt>
    <dgm:pt modelId="{93BF9320-6E13-634E-B107-D93A645861F6}" type="pres">
      <dgm:prSet presAssocID="{D96C6368-A508-45BF-B85A-6B84604CD3BB}" presName="node" presStyleLbl="node1" presStyleIdx="1" presStyleCnt="6">
        <dgm:presLayoutVars>
          <dgm:bulletEnabled val="1"/>
        </dgm:presLayoutVars>
      </dgm:prSet>
      <dgm:spPr/>
    </dgm:pt>
    <dgm:pt modelId="{344611F0-BA8C-504A-B653-E241B0C675F8}" type="pres">
      <dgm:prSet presAssocID="{B799A35C-D259-4A14-BBC1-5BD6547BF4F9}" presName="sibTrans" presStyleLbl="sibTrans1D1" presStyleIdx="1" presStyleCnt="5"/>
      <dgm:spPr/>
    </dgm:pt>
    <dgm:pt modelId="{963FD0EB-9172-784B-943B-E7F441E458AB}" type="pres">
      <dgm:prSet presAssocID="{B799A35C-D259-4A14-BBC1-5BD6547BF4F9}" presName="connectorText" presStyleLbl="sibTrans1D1" presStyleIdx="1" presStyleCnt="5"/>
      <dgm:spPr/>
    </dgm:pt>
    <dgm:pt modelId="{9A762B4C-9ED1-7244-B9E7-9680E11C0B96}" type="pres">
      <dgm:prSet presAssocID="{D76E99F0-9914-431B-B590-3B1D91539081}" presName="node" presStyleLbl="node1" presStyleIdx="2" presStyleCnt="6">
        <dgm:presLayoutVars>
          <dgm:bulletEnabled val="1"/>
        </dgm:presLayoutVars>
      </dgm:prSet>
      <dgm:spPr/>
    </dgm:pt>
    <dgm:pt modelId="{B610AB3C-9F7F-0D48-9828-2A65744ED631}" type="pres">
      <dgm:prSet presAssocID="{045FBD7F-40CA-4A4B-BBC6-5DB7ED7E1E0C}" presName="sibTrans" presStyleLbl="sibTrans1D1" presStyleIdx="2" presStyleCnt="5"/>
      <dgm:spPr/>
    </dgm:pt>
    <dgm:pt modelId="{4185D207-1A6A-2A4A-BDCD-9852CD35D5AA}" type="pres">
      <dgm:prSet presAssocID="{045FBD7F-40CA-4A4B-BBC6-5DB7ED7E1E0C}" presName="connectorText" presStyleLbl="sibTrans1D1" presStyleIdx="2" presStyleCnt="5"/>
      <dgm:spPr/>
    </dgm:pt>
    <dgm:pt modelId="{21993766-B4BA-7C44-B6F7-68A30EA6C067}" type="pres">
      <dgm:prSet presAssocID="{813F4FF2-5B1B-403C-9A7A-5194984917E8}" presName="node" presStyleLbl="node1" presStyleIdx="3" presStyleCnt="6">
        <dgm:presLayoutVars>
          <dgm:bulletEnabled val="1"/>
        </dgm:presLayoutVars>
      </dgm:prSet>
      <dgm:spPr/>
    </dgm:pt>
    <dgm:pt modelId="{46C9B94B-4553-1E40-9CBA-AF9B9776C915}" type="pres">
      <dgm:prSet presAssocID="{D706630D-AE6F-4412-83D4-31C686AE510F}" presName="sibTrans" presStyleLbl="sibTrans1D1" presStyleIdx="3" presStyleCnt="5"/>
      <dgm:spPr/>
    </dgm:pt>
    <dgm:pt modelId="{9B54BC1E-FDB6-CD42-87E7-719D59B89D28}" type="pres">
      <dgm:prSet presAssocID="{D706630D-AE6F-4412-83D4-31C686AE510F}" presName="connectorText" presStyleLbl="sibTrans1D1" presStyleIdx="3" presStyleCnt="5"/>
      <dgm:spPr/>
    </dgm:pt>
    <dgm:pt modelId="{567FB021-D0E2-9D4E-B3BF-E4B63C962D28}" type="pres">
      <dgm:prSet presAssocID="{AD37AA56-77C5-493C-90DB-FDDE946297A3}" presName="node" presStyleLbl="node1" presStyleIdx="4" presStyleCnt="6">
        <dgm:presLayoutVars>
          <dgm:bulletEnabled val="1"/>
        </dgm:presLayoutVars>
      </dgm:prSet>
      <dgm:spPr/>
    </dgm:pt>
    <dgm:pt modelId="{103D2DFF-9473-F044-A26D-9DC69AFAADB2}" type="pres">
      <dgm:prSet presAssocID="{F21BBC49-0EA2-44A5-A36A-97F95597D32B}" presName="sibTrans" presStyleLbl="sibTrans1D1" presStyleIdx="4" presStyleCnt="5"/>
      <dgm:spPr/>
    </dgm:pt>
    <dgm:pt modelId="{DC24B3B1-CF6B-0F42-AB57-6264CD77500A}" type="pres">
      <dgm:prSet presAssocID="{F21BBC49-0EA2-44A5-A36A-97F95597D32B}" presName="connectorText" presStyleLbl="sibTrans1D1" presStyleIdx="4" presStyleCnt="5"/>
      <dgm:spPr/>
    </dgm:pt>
    <dgm:pt modelId="{AC3B57FE-619F-F141-91BA-9632EB773C6B}" type="pres">
      <dgm:prSet presAssocID="{09B9A5C6-2EAB-41F8-8A47-FAB0A1FF4881}" presName="node" presStyleLbl="node1" presStyleIdx="5" presStyleCnt="6">
        <dgm:presLayoutVars>
          <dgm:bulletEnabled val="1"/>
        </dgm:presLayoutVars>
      </dgm:prSet>
      <dgm:spPr/>
    </dgm:pt>
  </dgm:ptLst>
  <dgm:cxnLst>
    <dgm:cxn modelId="{94200410-89CD-084B-8EBC-8E2755CAD52C}" type="presOf" srcId="{9C4D3C0D-F041-4AC7-A952-BE06727A3749}" destId="{8BFD0BE1-94B6-1347-A228-659F26478FAC}" srcOrd="0" destOrd="0" presId="urn:microsoft.com/office/officeart/2016/7/layout/RepeatingBendingProcessNew"/>
    <dgm:cxn modelId="{4B5E8E2C-7BC0-4DCF-885F-D4AE098EAFDC}" srcId="{9C4D3C0D-F041-4AC7-A952-BE06727A3749}" destId="{813F4FF2-5B1B-403C-9A7A-5194984917E8}" srcOrd="3" destOrd="0" parTransId="{4F286347-6698-4B7C-98B1-B1E6FE72389B}" sibTransId="{D706630D-AE6F-4412-83D4-31C686AE510F}"/>
    <dgm:cxn modelId="{4E873632-09FC-7245-BB10-62C91731DAE2}" type="presOf" srcId="{B799A35C-D259-4A14-BBC1-5BD6547BF4F9}" destId="{344611F0-BA8C-504A-B653-E241B0C675F8}" srcOrd="0" destOrd="0" presId="urn:microsoft.com/office/officeart/2016/7/layout/RepeatingBendingProcessNew"/>
    <dgm:cxn modelId="{913F2F3B-1F0A-5347-AA12-AB522A587249}" type="presOf" srcId="{D706630D-AE6F-4412-83D4-31C686AE510F}" destId="{46C9B94B-4553-1E40-9CBA-AF9B9776C915}" srcOrd="0" destOrd="0" presId="urn:microsoft.com/office/officeart/2016/7/layout/RepeatingBendingProcessNew"/>
    <dgm:cxn modelId="{6AE50C71-F6DC-4094-9813-AD795CEF35C0}" srcId="{9C4D3C0D-F041-4AC7-A952-BE06727A3749}" destId="{D76E99F0-9914-431B-B590-3B1D91539081}" srcOrd="2" destOrd="0" parTransId="{DB5A40A0-014E-4AE6-ABB5-E499D899DB36}" sibTransId="{045FBD7F-40CA-4A4B-BBC6-5DB7ED7E1E0C}"/>
    <dgm:cxn modelId="{AB01BA7C-E777-F145-8351-2F4A5073EBF7}" type="presOf" srcId="{785CD5F6-B6C1-4BBF-9EDA-612F02330CFD}" destId="{CD941164-0550-C244-98F2-97828468E9FB}" srcOrd="0" destOrd="0" presId="urn:microsoft.com/office/officeart/2016/7/layout/RepeatingBendingProcessNew"/>
    <dgm:cxn modelId="{913D6199-31E8-4442-B00B-A2AE7079DACD}" type="presOf" srcId="{C15292DC-7451-46BE-A91D-1CDBEDF64C39}" destId="{38A5BF99-66A2-8F46-97DE-9642DDC5254A}" srcOrd="0" destOrd="0" presId="urn:microsoft.com/office/officeart/2016/7/layout/RepeatingBendingProcessNew"/>
    <dgm:cxn modelId="{10C76799-8E90-004B-97B9-4A48FA306CA8}" type="presOf" srcId="{D96C6368-A508-45BF-B85A-6B84604CD3BB}" destId="{93BF9320-6E13-634E-B107-D93A645861F6}" srcOrd="0" destOrd="0" presId="urn:microsoft.com/office/officeart/2016/7/layout/RepeatingBendingProcessNew"/>
    <dgm:cxn modelId="{A407F699-08EC-5E41-9792-F963CF87EB4B}" type="presOf" srcId="{F21BBC49-0EA2-44A5-A36A-97F95597D32B}" destId="{103D2DFF-9473-F044-A26D-9DC69AFAADB2}" srcOrd="0" destOrd="0" presId="urn:microsoft.com/office/officeart/2016/7/layout/RepeatingBendingProcessNew"/>
    <dgm:cxn modelId="{4668FAA1-9502-F042-AB5E-C6C1E4337628}" type="presOf" srcId="{D76E99F0-9914-431B-B590-3B1D91539081}" destId="{9A762B4C-9ED1-7244-B9E7-9680E11C0B96}" srcOrd="0" destOrd="0" presId="urn:microsoft.com/office/officeart/2016/7/layout/RepeatingBendingProcessNew"/>
    <dgm:cxn modelId="{2A95D0A4-1940-47D1-BBDF-068118A07C75}" srcId="{9C4D3C0D-F041-4AC7-A952-BE06727A3749}" destId="{09B9A5C6-2EAB-41F8-8A47-FAB0A1FF4881}" srcOrd="5" destOrd="0" parTransId="{01DB3A4E-1634-42CC-A11C-95C21E1970CD}" sibTransId="{39B379C7-B7DE-43C0-A0C9-1AA2FE47CD6D}"/>
    <dgm:cxn modelId="{3A6566A5-AF0F-7946-B39B-B282FA0C8541}" type="presOf" srcId="{B799A35C-D259-4A14-BBC1-5BD6547BF4F9}" destId="{963FD0EB-9172-784B-943B-E7F441E458AB}" srcOrd="1" destOrd="0" presId="urn:microsoft.com/office/officeart/2016/7/layout/RepeatingBendingProcessNew"/>
    <dgm:cxn modelId="{4EA354A7-945A-8440-B7E6-489AFF57064E}" type="presOf" srcId="{AD37AA56-77C5-493C-90DB-FDDE946297A3}" destId="{567FB021-D0E2-9D4E-B3BF-E4B63C962D28}" srcOrd="0" destOrd="0" presId="urn:microsoft.com/office/officeart/2016/7/layout/RepeatingBendingProcessNew"/>
    <dgm:cxn modelId="{12D84CB3-0790-3347-953A-9ADD437E69D8}" type="presOf" srcId="{09B9A5C6-2EAB-41F8-8A47-FAB0A1FF4881}" destId="{AC3B57FE-619F-F141-91BA-9632EB773C6B}" srcOrd="0" destOrd="0" presId="urn:microsoft.com/office/officeart/2016/7/layout/RepeatingBendingProcessNew"/>
    <dgm:cxn modelId="{C7B4C7B6-7FC4-4299-BE90-B1F3DD93CC44}" srcId="{9C4D3C0D-F041-4AC7-A952-BE06727A3749}" destId="{D96C6368-A508-45BF-B85A-6B84604CD3BB}" srcOrd="1" destOrd="0" parTransId="{7D35F6AC-F5AE-464D-A072-A1705443AE78}" sibTransId="{B799A35C-D259-4A14-BBC1-5BD6547BF4F9}"/>
    <dgm:cxn modelId="{560038C6-E489-4046-8E5D-D6F2FEDF590E}" type="presOf" srcId="{045FBD7F-40CA-4A4B-BBC6-5DB7ED7E1E0C}" destId="{B610AB3C-9F7F-0D48-9828-2A65744ED631}" srcOrd="0" destOrd="0" presId="urn:microsoft.com/office/officeart/2016/7/layout/RepeatingBendingProcessNew"/>
    <dgm:cxn modelId="{7CF827D0-BEF8-FF4E-BFDF-67D8B29EE4EF}" type="presOf" srcId="{C15292DC-7451-46BE-A91D-1CDBEDF64C39}" destId="{93B13A3E-665A-0643-8002-53A846ACF281}" srcOrd="1" destOrd="0" presId="urn:microsoft.com/office/officeart/2016/7/layout/RepeatingBendingProcessNew"/>
    <dgm:cxn modelId="{66B7B0D3-14CA-45D6-859C-D1BF45B08E66}" srcId="{9C4D3C0D-F041-4AC7-A952-BE06727A3749}" destId="{785CD5F6-B6C1-4BBF-9EDA-612F02330CFD}" srcOrd="0" destOrd="0" parTransId="{874C05D1-9486-40BE-A268-0A1483AFCEB8}" sibTransId="{C15292DC-7451-46BE-A91D-1CDBEDF64C39}"/>
    <dgm:cxn modelId="{8A37C0DD-761D-3D49-91CC-C4AA377ABA9A}" type="presOf" srcId="{813F4FF2-5B1B-403C-9A7A-5194984917E8}" destId="{21993766-B4BA-7C44-B6F7-68A30EA6C067}" srcOrd="0" destOrd="0" presId="urn:microsoft.com/office/officeart/2016/7/layout/RepeatingBendingProcessNew"/>
    <dgm:cxn modelId="{F7A6A3E4-F28D-9245-B232-0505CA957016}" type="presOf" srcId="{045FBD7F-40CA-4A4B-BBC6-5DB7ED7E1E0C}" destId="{4185D207-1A6A-2A4A-BDCD-9852CD35D5AA}" srcOrd="1" destOrd="0" presId="urn:microsoft.com/office/officeart/2016/7/layout/RepeatingBendingProcessNew"/>
    <dgm:cxn modelId="{05A8B4E6-095F-9946-BE86-35A1EE8080CE}" type="presOf" srcId="{D706630D-AE6F-4412-83D4-31C686AE510F}" destId="{9B54BC1E-FDB6-CD42-87E7-719D59B89D28}" srcOrd="1" destOrd="0" presId="urn:microsoft.com/office/officeart/2016/7/layout/RepeatingBendingProcessNew"/>
    <dgm:cxn modelId="{23CFA9F3-8D2B-428B-90F2-DB02D29616D0}" srcId="{9C4D3C0D-F041-4AC7-A952-BE06727A3749}" destId="{AD37AA56-77C5-493C-90DB-FDDE946297A3}" srcOrd="4" destOrd="0" parTransId="{630476A8-6ED8-4992-BE79-06FF58375744}" sibTransId="{F21BBC49-0EA2-44A5-A36A-97F95597D32B}"/>
    <dgm:cxn modelId="{6876E3FD-4F79-C344-8412-7CD7E91F803D}" type="presOf" srcId="{F21BBC49-0EA2-44A5-A36A-97F95597D32B}" destId="{DC24B3B1-CF6B-0F42-AB57-6264CD77500A}" srcOrd="1" destOrd="0" presId="urn:microsoft.com/office/officeart/2016/7/layout/RepeatingBendingProcessNew"/>
    <dgm:cxn modelId="{C151EBFB-DBDB-404B-B865-EFBB840E3740}" type="presParOf" srcId="{8BFD0BE1-94B6-1347-A228-659F26478FAC}" destId="{CD941164-0550-C244-98F2-97828468E9FB}" srcOrd="0" destOrd="0" presId="urn:microsoft.com/office/officeart/2016/7/layout/RepeatingBendingProcessNew"/>
    <dgm:cxn modelId="{DBECB093-BC42-4C44-BA80-205F47AF0DB3}" type="presParOf" srcId="{8BFD0BE1-94B6-1347-A228-659F26478FAC}" destId="{38A5BF99-66A2-8F46-97DE-9642DDC5254A}" srcOrd="1" destOrd="0" presId="urn:microsoft.com/office/officeart/2016/7/layout/RepeatingBendingProcessNew"/>
    <dgm:cxn modelId="{39F0EEFE-30DD-B648-98F0-83C8340CB956}" type="presParOf" srcId="{38A5BF99-66A2-8F46-97DE-9642DDC5254A}" destId="{93B13A3E-665A-0643-8002-53A846ACF281}" srcOrd="0" destOrd="0" presId="urn:microsoft.com/office/officeart/2016/7/layout/RepeatingBendingProcessNew"/>
    <dgm:cxn modelId="{2960FB8D-A5B9-F14A-9081-C47F27008EA5}" type="presParOf" srcId="{8BFD0BE1-94B6-1347-A228-659F26478FAC}" destId="{93BF9320-6E13-634E-B107-D93A645861F6}" srcOrd="2" destOrd="0" presId="urn:microsoft.com/office/officeart/2016/7/layout/RepeatingBendingProcessNew"/>
    <dgm:cxn modelId="{6C9F2FC8-8C7E-934F-BC37-7120E9A69505}" type="presParOf" srcId="{8BFD0BE1-94B6-1347-A228-659F26478FAC}" destId="{344611F0-BA8C-504A-B653-E241B0C675F8}" srcOrd="3" destOrd="0" presId="urn:microsoft.com/office/officeart/2016/7/layout/RepeatingBendingProcessNew"/>
    <dgm:cxn modelId="{B94B943E-543F-8043-B578-C0ADEBB98A59}" type="presParOf" srcId="{344611F0-BA8C-504A-B653-E241B0C675F8}" destId="{963FD0EB-9172-784B-943B-E7F441E458AB}" srcOrd="0" destOrd="0" presId="urn:microsoft.com/office/officeart/2016/7/layout/RepeatingBendingProcessNew"/>
    <dgm:cxn modelId="{B01983E5-335B-0749-9417-176EDB63DEEA}" type="presParOf" srcId="{8BFD0BE1-94B6-1347-A228-659F26478FAC}" destId="{9A762B4C-9ED1-7244-B9E7-9680E11C0B96}" srcOrd="4" destOrd="0" presId="urn:microsoft.com/office/officeart/2016/7/layout/RepeatingBendingProcessNew"/>
    <dgm:cxn modelId="{C3ED8575-A4A1-EE49-874E-7A412A99CA69}" type="presParOf" srcId="{8BFD0BE1-94B6-1347-A228-659F26478FAC}" destId="{B610AB3C-9F7F-0D48-9828-2A65744ED631}" srcOrd="5" destOrd="0" presId="urn:microsoft.com/office/officeart/2016/7/layout/RepeatingBendingProcessNew"/>
    <dgm:cxn modelId="{FE662CAA-7BA7-624E-A32D-C67D12BE48FD}" type="presParOf" srcId="{B610AB3C-9F7F-0D48-9828-2A65744ED631}" destId="{4185D207-1A6A-2A4A-BDCD-9852CD35D5AA}" srcOrd="0" destOrd="0" presId="urn:microsoft.com/office/officeart/2016/7/layout/RepeatingBendingProcessNew"/>
    <dgm:cxn modelId="{195B2C0C-1DCF-214E-BD76-DCD690A69833}" type="presParOf" srcId="{8BFD0BE1-94B6-1347-A228-659F26478FAC}" destId="{21993766-B4BA-7C44-B6F7-68A30EA6C067}" srcOrd="6" destOrd="0" presId="urn:microsoft.com/office/officeart/2016/7/layout/RepeatingBendingProcessNew"/>
    <dgm:cxn modelId="{5DB7136D-C121-424E-B77F-B868D0B7C8E8}" type="presParOf" srcId="{8BFD0BE1-94B6-1347-A228-659F26478FAC}" destId="{46C9B94B-4553-1E40-9CBA-AF9B9776C915}" srcOrd="7" destOrd="0" presId="urn:microsoft.com/office/officeart/2016/7/layout/RepeatingBendingProcessNew"/>
    <dgm:cxn modelId="{33BB7D81-F7F3-914B-A602-92B632578C75}" type="presParOf" srcId="{46C9B94B-4553-1E40-9CBA-AF9B9776C915}" destId="{9B54BC1E-FDB6-CD42-87E7-719D59B89D28}" srcOrd="0" destOrd="0" presId="urn:microsoft.com/office/officeart/2016/7/layout/RepeatingBendingProcessNew"/>
    <dgm:cxn modelId="{AF51DE71-E6B9-F14C-955E-09199110D4EC}" type="presParOf" srcId="{8BFD0BE1-94B6-1347-A228-659F26478FAC}" destId="{567FB021-D0E2-9D4E-B3BF-E4B63C962D28}" srcOrd="8" destOrd="0" presId="urn:microsoft.com/office/officeart/2016/7/layout/RepeatingBendingProcessNew"/>
    <dgm:cxn modelId="{5313E71F-D02A-E144-9894-2E7F612703E6}" type="presParOf" srcId="{8BFD0BE1-94B6-1347-A228-659F26478FAC}" destId="{103D2DFF-9473-F044-A26D-9DC69AFAADB2}" srcOrd="9" destOrd="0" presId="urn:microsoft.com/office/officeart/2016/7/layout/RepeatingBendingProcessNew"/>
    <dgm:cxn modelId="{FC174B88-D166-AC4E-BF0A-D95D08DFDCF5}" type="presParOf" srcId="{103D2DFF-9473-F044-A26D-9DC69AFAADB2}" destId="{DC24B3B1-CF6B-0F42-AB57-6264CD77500A}" srcOrd="0" destOrd="0" presId="urn:microsoft.com/office/officeart/2016/7/layout/RepeatingBendingProcessNew"/>
    <dgm:cxn modelId="{BE5263A6-AF7B-B64C-9300-DABFB72B3788}" type="presParOf" srcId="{8BFD0BE1-94B6-1347-A228-659F26478FAC}" destId="{AC3B57FE-619F-F141-91BA-9632EB773C6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BD8830-2029-41A1-AD60-BE5E10226A3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0F81EE-7AA7-4955-AFCE-55895D08B2FC}">
      <dgm:prSet/>
      <dgm:spPr/>
      <dgm:t>
        <a:bodyPr/>
        <a:lstStyle/>
        <a:p>
          <a:r>
            <a:rPr lang="en-US" dirty="0"/>
            <a:t>The cryptocurrency market has grown significantly over the years. </a:t>
          </a:r>
        </a:p>
      </dgm:t>
    </dgm:pt>
    <dgm:pt modelId="{C88715A1-AF26-4F65-BCAB-108757191DB5}" type="parTrans" cxnId="{FDAE72BA-BF1D-4067-A7AC-393C0DA81E13}">
      <dgm:prSet/>
      <dgm:spPr/>
      <dgm:t>
        <a:bodyPr/>
        <a:lstStyle/>
        <a:p>
          <a:endParaRPr lang="en-US"/>
        </a:p>
      </dgm:t>
    </dgm:pt>
    <dgm:pt modelId="{1C30E15A-CBD4-4FEE-ABBC-A49AD6DDBDE6}" type="sibTrans" cxnId="{FDAE72BA-BF1D-4067-A7AC-393C0DA81E13}">
      <dgm:prSet/>
      <dgm:spPr/>
      <dgm:t>
        <a:bodyPr/>
        <a:lstStyle/>
        <a:p>
          <a:endParaRPr lang="en-US"/>
        </a:p>
      </dgm:t>
    </dgm:pt>
    <dgm:pt modelId="{EEC2E376-70B5-4683-B116-40FFD6D3B8EC}">
      <dgm:prSet/>
      <dgm:spPr/>
      <dgm:t>
        <a:bodyPr/>
        <a:lstStyle/>
        <a:p>
          <a:r>
            <a:rPr lang="en-US"/>
            <a:t>”Bitcoin has been increasingly regarded as an investment asset” (Chen et al., 2020)</a:t>
          </a:r>
        </a:p>
      </dgm:t>
    </dgm:pt>
    <dgm:pt modelId="{B55120A8-BE3A-4AE6-AE24-6CD079E8162D}" type="parTrans" cxnId="{45494B07-3CA5-4DBF-B3F4-86D323780C2C}">
      <dgm:prSet/>
      <dgm:spPr/>
      <dgm:t>
        <a:bodyPr/>
        <a:lstStyle/>
        <a:p>
          <a:endParaRPr lang="en-US"/>
        </a:p>
      </dgm:t>
    </dgm:pt>
    <dgm:pt modelId="{41EB9658-CE62-40D5-BD12-C83AE64811A0}" type="sibTrans" cxnId="{45494B07-3CA5-4DBF-B3F4-86D323780C2C}">
      <dgm:prSet/>
      <dgm:spPr/>
      <dgm:t>
        <a:bodyPr/>
        <a:lstStyle/>
        <a:p>
          <a:endParaRPr lang="en-US"/>
        </a:p>
      </dgm:t>
    </dgm:pt>
    <dgm:pt modelId="{AA2F5CE5-F17F-49A6-A03E-DBFCF3F68A53}">
      <dgm:prSet/>
      <dgm:spPr/>
      <dgm:t>
        <a:bodyPr/>
        <a:lstStyle/>
        <a:p>
          <a:r>
            <a:rPr lang="en-US"/>
            <a:t>From $127.5 Billion in January 2019 to $1.75 Trillion in May 2021 (in USD) which has increased 13 times over 2 years (CoinMarketCap, 2021). </a:t>
          </a:r>
        </a:p>
      </dgm:t>
    </dgm:pt>
    <dgm:pt modelId="{2740A58D-06D7-48F0-ACEC-DF0CBF14D644}" type="parTrans" cxnId="{5E51E724-CFC4-4E6B-8F5A-F51EE9CEB82D}">
      <dgm:prSet/>
      <dgm:spPr/>
      <dgm:t>
        <a:bodyPr/>
        <a:lstStyle/>
        <a:p>
          <a:endParaRPr lang="en-US"/>
        </a:p>
      </dgm:t>
    </dgm:pt>
    <dgm:pt modelId="{C65833A6-3056-4F35-B89F-7807523D55BC}" type="sibTrans" cxnId="{5E51E724-CFC4-4E6B-8F5A-F51EE9CEB82D}">
      <dgm:prSet/>
      <dgm:spPr/>
      <dgm:t>
        <a:bodyPr/>
        <a:lstStyle/>
        <a:p>
          <a:endParaRPr lang="en-US"/>
        </a:p>
      </dgm:t>
    </dgm:pt>
    <dgm:pt modelId="{37DEB9A0-A8B0-43A6-8E18-C3615691CD22}">
      <dgm:prSet/>
      <dgm:spPr/>
      <dgm:t>
        <a:bodyPr/>
        <a:lstStyle/>
        <a:p>
          <a:r>
            <a:rPr lang="en-US"/>
            <a:t>For U.S Equity Market Value (in USD), from $30 Trillion in 31/12/2018 to $49 Trillion in 31/3/2021. This is 1.6 times over 2 years (Siblis, 2021). </a:t>
          </a:r>
        </a:p>
      </dgm:t>
    </dgm:pt>
    <dgm:pt modelId="{E766907E-8FD0-42B6-9B37-6B1397E62483}" type="parTrans" cxnId="{8630C20B-8FE6-42DB-B361-6E244196B465}">
      <dgm:prSet/>
      <dgm:spPr/>
      <dgm:t>
        <a:bodyPr/>
        <a:lstStyle/>
        <a:p>
          <a:endParaRPr lang="en-US"/>
        </a:p>
      </dgm:t>
    </dgm:pt>
    <dgm:pt modelId="{CB8EA081-17F4-487B-8E34-0CB71AD3DA67}" type="sibTrans" cxnId="{8630C20B-8FE6-42DB-B361-6E244196B465}">
      <dgm:prSet/>
      <dgm:spPr/>
      <dgm:t>
        <a:bodyPr/>
        <a:lstStyle/>
        <a:p>
          <a:endParaRPr lang="en-US"/>
        </a:p>
      </dgm:t>
    </dgm:pt>
    <dgm:pt modelId="{C9C18E21-C10F-B444-9397-2EC1F2AE4B2F}" type="pres">
      <dgm:prSet presAssocID="{35BD8830-2029-41A1-AD60-BE5E10226A38}" presName="linear" presStyleCnt="0">
        <dgm:presLayoutVars>
          <dgm:animLvl val="lvl"/>
          <dgm:resizeHandles val="exact"/>
        </dgm:presLayoutVars>
      </dgm:prSet>
      <dgm:spPr/>
    </dgm:pt>
    <dgm:pt modelId="{84677D50-3187-7148-B3C4-34CFAC10AF8B}" type="pres">
      <dgm:prSet presAssocID="{520F81EE-7AA7-4955-AFCE-55895D08B2F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97E75F5-0A72-5A41-994D-D6F83CEB37FD}" type="pres">
      <dgm:prSet presAssocID="{1C30E15A-CBD4-4FEE-ABBC-A49AD6DDBDE6}" presName="spacer" presStyleCnt="0"/>
      <dgm:spPr/>
    </dgm:pt>
    <dgm:pt modelId="{A18B3FAC-C53F-5A4B-BF99-3B17BE6EB56D}" type="pres">
      <dgm:prSet presAssocID="{EEC2E376-70B5-4683-B116-40FFD6D3B8E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FE7570D-BED5-1849-BA9B-E3071A2F4F9F}" type="pres">
      <dgm:prSet presAssocID="{41EB9658-CE62-40D5-BD12-C83AE64811A0}" presName="spacer" presStyleCnt="0"/>
      <dgm:spPr/>
    </dgm:pt>
    <dgm:pt modelId="{1948C41C-CE11-804E-838E-0B059DD1B403}" type="pres">
      <dgm:prSet presAssocID="{AA2F5CE5-F17F-49A6-A03E-DBFCF3F68A5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9080888-99FA-9D48-95F7-AB716139657E}" type="pres">
      <dgm:prSet presAssocID="{C65833A6-3056-4F35-B89F-7807523D55BC}" presName="spacer" presStyleCnt="0"/>
      <dgm:spPr/>
    </dgm:pt>
    <dgm:pt modelId="{F1AA31EB-A8F9-5442-A921-F0DFC951A44A}" type="pres">
      <dgm:prSet presAssocID="{37DEB9A0-A8B0-43A6-8E18-C3615691CD2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5494B07-3CA5-4DBF-B3F4-86D323780C2C}" srcId="{35BD8830-2029-41A1-AD60-BE5E10226A38}" destId="{EEC2E376-70B5-4683-B116-40FFD6D3B8EC}" srcOrd="1" destOrd="0" parTransId="{B55120A8-BE3A-4AE6-AE24-6CD079E8162D}" sibTransId="{41EB9658-CE62-40D5-BD12-C83AE64811A0}"/>
    <dgm:cxn modelId="{8630C20B-8FE6-42DB-B361-6E244196B465}" srcId="{35BD8830-2029-41A1-AD60-BE5E10226A38}" destId="{37DEB9A0-A8B0-43A6-8E18-C3615691CD22}" srcOrd="3" destOrd="0" parTransId="{E766907E-8FD0-42B6-9B37-6B1397E62483}" sibTransId="{CB8EA081-17F4-487B-8E34-0CB71AD3DA67}"/>
    <dgm:cxn modelId="{ABDED21C-C2C7-BA4D-A2FF-16C56E388EDE}" type="presOf" srcId="{AA2F5CE5-F17F-49A6-A03E-DBFCF3F68A53}" destId="{1948C41C-CE11-804E-838E-0B059DD1B403}" srcOrd="0" destOrd="0" presId="urn:microsoft.com/office/officeart/2005/8/layout/vList2"/>
    <dgm:cxn modelId="{D33C5C24-7CB3-A947-A56D-56ABC5B5C880}" type="presOf" srcId="{EEC2E376-70B5-4683-B116-40FFD6D3B8EC}" destId="{A18B3FAC-C53F-5A4B-BF99-3B17BE6EB56D}" srcOrd="0" destOrd="0" presId="urn:microsoft.com/office/officeart/2005/8/layout/vList2"/>
    <dgm:cxn modelId="{5E51E724-CFC4-4E6B-8F5A-F51EE9CEB82D}" srcId="{35BD8830-2029-41A1-AD60-BE5E10226A38}" destId="{AA2F5CE5-F17F-49A6-A03E-DBFCF3F68A53}" srcOrd="2" destOrd="0" parTransId="{2740A58D-06D7-48F0-ACEC-DF0CBF14D644}" sibTransId="{C65833A6-3056-4F35-B89F-7807523D55BC}"/>
    <dgm:cxn modelId="{946D2584-B5A6-6348-BD82-A7D6357EB99B}" type="presOf" srcId="{520F81EE-7AA7-4955-AFCE-55895D08B2FC}" destId="{84677D50-3187-7148-B3C4-34CFAC10AF8B}" srcOrd="0" destOrd="0" presId="urn:microsoft.com/office/officeart/2005/8/layout/vList2"/>
    <dgm:cxn modelId="{0BDBBBA6-92A6-404A-8DD6-110B3699F350}" type="presOf" srcId="{35BD8830-2029-41A1-AD60-BE5E10226A38}" destId="{C9C18E21-C10F-B444-9397-2EC1F2AE4B2F}" srcOrd="0" destOrd="0" presId="urn:microsoft.com/office/officeart/2005/8/layout/vList2"/>
    <dgm:cxn modelId="{FDAE72BA-BF1D-4067-A7AC-393C0DA81E13}" srcId="{35BD8830-2029-41A1-AD60-BE5E10226A38}" destId="{520F81EE-7AA7-4955-AFCE-55895D08B2FC}" srcOrd="0" destOrd="0" parTransId="{C88715A1-AF26-4F65-BCAB-108757191DB5}" sibTransId="{1C30E15A-CBD4-4FEE-ABBC-A49AD6DDBDE6}"/>
    <dgm:cxn modelId="{538C34CF-D997-9049-A94F-3FBD0CD2E8DB}" type="presOf" srcId="{37DEB9A0-A8B0-43A6-8E18-C3615691CD22}" destId="{F1AA31EB-A8F9-5442-A921-F0DFC951A44A}" srcOrd="0" destOrd="0" presId="urn:microsoft.com/office/officeart/2005/8/layout/vList2"/>
    <dgm:cxn modelId="{DF76A9F2-42AE-9F48-B171-CD4290229AE5}" type="presParOf" srcId="{C9C18E21-C10F-B444-9397-2EC1F2AE4B2F}" destId="{84677D50-3187-7148-B3C4-34CFAC10AF8B}" srcOrd="0" destOrd="0" presId="urn:microsoft.com/office/officeart/2005/8/layout/vList2"/>
    <dgm:cxn modelId="{19E4B9EA-80FD-BF43-B755-2E5136737E36}" type="presParOf" srcId="{C9C18E21-C10F-B444-9397-2EC1F2AE4B2F}" destId="{397E75F5-0A72-5A41-994D-D6F83CEB37FD}" srcOrd="1" destOrd="0" presId="urn:microsoft.com/office/officeart/2005/8/layout/vList2"/>
    <dgm:cxn modelId="{6C5D4840-4FB4-134A-85FD-D50D378332FA}" type="presParOf" srcId="{C9C18E21-C10F-B444-9397-2EC1F2AE4B2F}" destId="{A18B3FAC-C53F-5A4B-BF99-3B17BE6EB56D}" srcOrd="2" destOrd="0" presId="urn:microsoft.com/office/officeart/2005/8/layout/vList2"/>
    <dgm:cxn modelId="{B5DA5AC7-D1E7-E74A-91C3-D04FA586CFC2}" type="presParOf" srcId="{C9C18E21-C10F-B444-9397-2EC1F2AE4B2F}" destId="{2FE7570D-BED5-1849-BA9B-E3071A2F4F9F}" srcOrd="3" destOrd="0" presId="urn:microsoft.com/office/officeart/2005/8/layout/vList2"/>
    <dgm:cxn modelId="{6E296915-1388-2649-A06F-114E2F0FE803}" type="presParOf" srcId="{C9C18E21-C10F-B444-9397-2EC1F2AE4B2F}" destId="{1948C41C-CE11-804E-838E-0B059DD1B403}" srcOrd="4" destOrd="0" presId="urn:microsoft.com/office/officeart/2005/8/layout/vList2"/>
    <dgm:cxn modelId="{E599BF67-7001-324D-A23F-DCF32E866145}" type="presParOf" srcId="{C9C18E21-C10F-B444-9397-2EC1F2AE4B2F}" destId="{D9080888-99FA-9D48-95F7-AB716139657E}" srcOrd="5" destOrd="0" presId="urn:microsoft.com/office/officeart/2005/8/layout/vList2"/>
    <dgm:cxn modelId="{7380330E-9C6A-5A41-A9D6-5A3B1D2F7CA3}" type="presParOf" srcId="{C9C18E21-C10F-B444-9397-2EC1F2AE4B2F}" destId="{F1AA31EB-A8F9-5442-A921-F0DFC951A44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67D0B59-077E-4BA2-9778-ED53E2B754D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1B3C62-7350-4A2A-9EA4-FC5C454553FF}">
      <dgm:prSet custT="1"/>
      <dgm:spPr/>
      <dgm:t>
        <a:bodyPr/>
        <a:lstStyle/>
        <a:p>
          <a:r>
            <a:rPr lang="en-US" sz="2400"/>
            <a:t>Cryptocurrency market is a great setting to investigate the market sentiment as there is no fundamental value to the currency. </a:t>
          </a:r>
        </a:p>
      </dgm:t>
    </dgm:pt>
    <dgm:pt modelId="{A2CC409C-BD4C-4492-A836-F79D8A0B8043}" type="parTrans" cxnId="{FBBD7E44-EE0C-47E0-B438-D0E3C99B0C37}">
      <dgm:prSet/>
      <dgm:spPr/>
      <dgm:t>
        <a:bodyPr/>
        <a:lstStyle/>
        <a:p>
          <a:endParaRPr lang="en-US"/>
        </a:p>
      </dgm:t>
    </dgm:pt>
    <dgm:pt modelId="{029AB67D-A2DE-4CF7-B418-25EDF3CC8D1E}" type="sibTrans" cxnId="{FBBD7E44-EE0C-47E0-B438-D0E3C99B0C37}">
      <dgm:prSet/>
      <dgm:spPr/>
      <dgm:t>
        <a:bodyPr/>
        <a:lstStyle/>
        <a:p>
          <a:endParaRPr lang="en-US"/>
        </a:p>
      </dgm:t>
    </dgm:pt>
    <dgm:pt modelId="{F13A1D36-4F0A-4DE4-93EC-EBB64AF8726F}">
      <dgm:prSet custT="1"/>
      <dgm:spPr/>
      <dgm:t>
        <a:bodyPr/>
        <a:lstStyle/>
        <a:p>
          <a:r>
            <a:rPr lang="en-US" sz="2000" dirty="0"/>
            <a:t>Bitcoin is a digital currency where no government or central bank backing have much affect on the value of bitcoin, including a nation’s monetary policies, macroeconomic conditions, and inflation and interest rates (Mai, et al., 2018)</a:t>
          </a:r>
        </a:p>
      </dgm:t>
    </dgm:pt>
    <dgm:pt modelId="{E1EC9383-97EF-43BF-995A-BC9C001D4806}" type="parTrans" cxnId="{0721452A-BDDE-49F7-98B3-1ACD3EAAA71C}">
      <dgm:prSet/>
      <dgm:spPr/>
      <dgm:t>
        <a:bodyPr/>
        <a:lstStyle/>
        <a:p>
          <a:endParaRPr lang="en-US"/>
        </a:p>
      </dgm:t>
    </dgm:pt>
    <dgm:pt modelId="{18F306B0-4DA4-4701-AB19-0D63E1D130AE}" type="sibTrans" cxnId="{0721452A-BDDE-49F7-98B3-1ACD3EAAA71C}">
      <dgm:prSet/>
      <dgm:spPr/>
      <dgm:t>
        <a:bodyPr/>
        <a:lstStyle/>
        <a:p>
          <a:endParaRPr lang="en-US"/>
        </a:p>
      </dgm:t>
    </dgm:pt>
    <dgm:pt modelId="{91DE5952-DDBD-48CD-BFAE-047DA81E1873}">
      <dgm:prSet custT="1"/>
      <dgm:spPr/>
      <dgm:t>
        <a:bodyPr/>
        <a:lstStyle/>
        <a:p>
          <a:r>
            <a:rPr lang="en-US" sz="2000"/>
            <a:t>Prior studies finds that social media affects the bitcoin’s value (Mai et al., 2018). </a:t>
          </a:r>
        </a:p>
      </dgm:t>
    </dgm:pt>
    <dgm:pt modelId="{057057AB-E368-4AA0-A272-9AD78C6C1DFC}" type="parTrans" cxnId="{A977CDBB-5B44-4F3C-B9D8-480486655F4C}">
      <dgm:prSet/>
      <dgm:spPr/>
      <dgm:t>
        <a:bodyPr/>
        <a:lstStyle/>
        <a:p>
          <a:endParaRPr lang="en-US"/>
        </a:p>
      </dgm:t>
    </dgm:pt>
    <dgm:pt modelId="{279BD0FE-4D9F-46A0-A998-D41C172BDBD8}" type="sibTrans" cxnId="{A977CDBB-5B44-4F3C-B9D8-480486655F4C}">
      <dgm:prSet/>
      <dgm:spPr/>
      <dgm:t>
        <a:bodyPr/>
        <a:lstStyle/>
        <a:p>
          <a:endParaRPr lang="en-US"/>
        </a:p>
      </dgm:t>
    </dgm:pt>
    <dgm:pt modelId="{4F858D64-D091-4DCE-A55E-7F8F16DA5245}">
      <dgm:prSet custT="1"/>
      <dgm:spPr/>
      <dgm:t>
        <a:bodyPr/>
        <a:lstStyle/>
        <a:p>
          <a:r>
            <a:rPr lang="en-US" sz="2000"/>
            <a:t>Bitcoin is highly speculative investment (SEC, 2021). </a:t>
          </a:r>
        </a:p>
      </dgm:t>
    </dgm:pt>
    <dgm:pt modelId="{AE2AAFA6-22E5-40BA-8C05-7BA3B4C9A5F2}" type="parTrans" cxnId="{48CEA352-44F5-4220-B9E1-7F5B9FBB9A9B}">
      <dgm:prSet/>
      <dgm:spPr/>
      <dgm:t>
        <a:bodyPr/>
        <a:lstStyle/>
        <a:p>
          <a:endParaRPr lang="en-US"/>
        </a:p>
      </dgm:t>
    </dgm:pt>
    <dgm:pt modelId="{4E71A697-AC8E-455B-ABAE-92A9A73B8040}" type="sibTrans" cxnId="{48CEA352-44F5-4220-B9E1-7F5B9FBB9A9B}">
      <dgm:prSet/>
      <dgm:spPr/>
      <dgm:t>
        <a:bodyPr/>
        <a:lstStyle/>
        <a:p>
          <a:endParaRPr lang="en-US"/>
        </a:p>
      </dgm:t>
    </dgm:pt>
    <dgm:pt modelId="{6AEE795B-4F42-A94D-A068-683772B7D769}" type="pres">
      <dgm:prSet presAssocID="{567D0B59-077E-4BA2-9778-ED53E2B754D8}" presName="linear" presStyleCnt="0">
        <dgm:presLayoutVars>
          <dgm:animLvl val="lvl"/>
          <dgm:resizeHandles val="exact"/>
        </dgm:presLayoutVars>
      </dgm:prSet>
      <dgm:spPr/>
    </dgm:pt>
    <dgm:pt modelId="{BC9725C6-A4C6-9C4D-92F6-E66D4C99E8BF}" type="pres">
      <dgm:prSet presAssocID="{841B3C62-7350-4A2A-9EA4-FC5C454553F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73E5ED-87C9-7544-A8A0-5DB28A01BC7C}" type="pres">
      <dgm:prSet presAssocID="{029AB67D-A2DE-4CF7-B418-25EDF3CC8D1E}" presName="spacer" presStyleCnt="0"/>
      <dgm:spPr/>
    </dgm:pt>
    <dgm:pt modelId="{6356459C-F453-6B44-8C46-5CF9D8D5D46E}" type="pres">
      <dgm:prSet presAssocID="{F13A1D36-4F0A-4DE4-93EC-EBB64AF8726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64E2FC5-E1F3-1147-9537-A30A845C566D}" type="pres">
      <dgm:prSet presAssocID="{18F306B0-4DA4-4701-AB19-0D63E1D130AE}" presName="spacer" presStyleCnt="0"/>
      <dgm:spPr/>
    </dgm:pt>
    <dgm:pt modelId="{F3119C01-DC8E-2F43-B69C-A7B53968682C}" type="pres">
      <dgm:prSet presAssocID="{91DE5952-DDBD-48CD-BFAE-047DA81E187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4FA676D-37BD-6140-8476-D042BDE1ABF6}" type="pres">
      <dgm:prSet presAssocID="{279BD0FE-4D9F-46A0-A998-D41C172BDBD8}" presName="spacer" presStyleCnt="0"/>
      <dgm:spPr/>
    </dgm:pt>
    <dgm:pt modelId="{9BFAC4C4-5B39-AD4D-94AE-32965CCB1B26}" type="pres">
      <dgm:prSet presAssocID="{4F858D64-D091-4DCE-A55E-7F8F16DA524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187260C-B4AC-C04D-92D3-E395757C9128}" type="presOf" srcId="{91DE5952-DDBD-48CD-BFAE-047DA81E1873}" destId="{F3119C01-DC8E-2F43-B69C-A7B53968682C}" srcOrd="0" destOrd="0" presId="urn:microsoft.com/office/officeart/2005/8/layout/vList2"/>
    <dgm:cxn modelId="{1ABC0128-CF03-944E-B13E-F756B0EE07C4}" type="presOf" srcId="{567D0B59-077E-4BA2-9778-ED53E2B754D8}" destId="{6AEE795B-4F42-A94D-A068-683772B7D769}" srcOrd="0" destOrd="0" presId="urn:microsoft.com/office/officeart/2005/8/layout/vList2"/>
    <dgm:cxn modelId="{0721452A-BDDE-49F7-98B3-1ACD3EAAA71C}" srcId="{567D0B59-077E-4BA2-9778-ED53E2B754D8}" destId="{F13A1D36-4F0A-4DE4-93EC-EBB64AF8726F}" srcOrd="1" destOrd="0" parTransId="{E1EC9383-97EF-43BF-995A-BC9C001D4806}" sibTransId="{18F306B0-4DA4-4701-AB19-0D63E1D130AE}"/>
    <dgm:cxn modelId="{FBBD7E44-EE0C-47E0-B438-D0E3C99B0C37}" srcId="{567D0B59-077E-4BA2-9778-ED53E2B754D8}" destId="{841B3C62-7350-4A2A-9EA4-FC5C454553FF}" srcOrd="0" destOrd="0" parTransId="{A2CC409C-BD4C-4492-A836-F79D8A0B8043}" sibTransId="{029AB67D-A2DE-4CF7-B418-25EDF3CC8D1E}"/>
    <dgm:cxn modelId="{48CEA352-44F5-4220-B9E1-7F5B9FBB9A9B}" srcId="{567D0B59-077E-4BA2-9778-ED53E2B754D8}" destId="{4F858D64-D091-4DCE-A55E-7F8F16DA5245}" srcOrd="3" destOrd="0" parTransId="{AE2AAFA6-22E5-40BA-8C05-7BA3B4C9A5F2}" sibTransId="{4E71A697-AC8E-455B-ABAE-92A9A73B8040}"/>
    <dgm:cxn modelId="{43357370-9CC7-9947-8784-9306F5459288}" type="presOf" srcId="{F13A1D36-4F0A-4DE4-93EC-EBB64AF8726F}" destId="{6356459C-F453-6B44-8C46-5CF9D8D5D46E}" srcOrd="0" destOrd="0" presId="urn:microsoft.com/office/officeart/2005/8/layout/vList2"/>
    <dgm:cxn modelId="{6DE8B792-EDAE-B045-AF6D-01F2D6E34A62}" type="presOf" srcId="{841B3C62-7350-4A2A-9EA4-FC5C454553FF}" destId="{BC9725C6-A4C6-9C4D-92F6-E66D4C99E8BF}" srcOrd="0" destOrd="0" presId="urn:microsoft.com/office/officeart/2005/8/layout/vList2"/>
    <dgm:cxn modelId="{A977CDBB-5B44-4F3C-B9D8-480486655F4C}" srcId="{567D0B59-077E-4BA2-9778-ED53E2B754D8}" destId="{91DE5952-DDBD-48CD-BFAE-047DA81E1873}" srcOrd="2" destOrd="0" parTransId="{057057AB-E368-4AA0-A272-9AD78C6C1DFC}" sibTransId="{279BD0FE-4D9F-46A0-A998-D41C172BDBD8}"/>
    <dgm:cxn modelId="{0EB6DAF3-9AA7-214F-A675-DBAA08E348FD}" type="presOf" srcId="{4F858D64-D091-4DCE-A55E-7F8F16DA5245}" destId="{9BFAC4C4-5B39-AD4D-94AE-32965CCB1B26}" srcOrd="0" destOrd="0" presId="urn:microsoft.com/office/officeart/2005/8/layout/vList2"/>
    <dgm:cxn modelId="{36586B9A-4CEF-1847-9145-AA09035E3FEE}" type="presParOf" srcId="{6AEE795B-4F42-A94D-A068-683772B7D769}" destId="{BC9725C6-A4C6-9C4D-92F6-E66D4C99E8BF}" srcOrd="0" destOrd="0" presId="urn:microsoft.com/office/officeart/2005/8/layout/vList2"/>
    <dgm:cxn modelId="{632CD7BF-26FE-0E48-9220-2DF1975AFACE}" type="presParOf" srcId="{6AEE795B-4F42-A94D-A068-683772B7D769}" destId="{D573E5ED-87C9-7544-A8A0-5DB28A01BC7C}" srcOrd="1" destOrd="0" presId="urn:microsoft.com/office/officeart/2005/8/layout/vList2"/>
    <dgm:cxn modelId="{DB3D457C-A214-3240-9BE2-3D2C8B751EB3}" type="presParOf" srcId="{6AEE795B-4F42-A94D-A068-683772B7D769}" destId="{6356459C-F453-6B44-8C46-5CF9D8D5D46E}" srcOrd="2" destOrd="0" presId="urn:microsoft.com/office/officeart/2005/8/layout/vList2"/>
    <dgm:cxn modelId="{EA5FBA8E-D8D2-9141-A049-2D83ED8EBEE2}" type="presParOf" srcId="{6AEE795B-4F42-A94D-A068-683772B7D769}" destId="{364E2FC5-E1F3-1147-9537-A30A845C566D}" srcOrd="3" destOrd="0" presId="urn:microsoft.com/office/officeart/2005/8/layout/vList2"/>
    <dgm:cxn modelId="{2BC721AE-BDD1-F341-B979-C9DE144B2616}" type="presParOf" srcId="{6AEE795B-4F42-A94D-A068-683772B7D769}" destId="{F3119C01-DC8E-2F43-B69C-A7B53968682C}" srcOrd="4" destOrd="0" presId="urn:microsoft.com/office/officeart/2005/8/layout/vList2"/>
    <dgm:cxn modelId="{E85ED745-9758-A447-B95C-F6C6A226448C}" type="presParOf" srcId="{6AEE795B-4F42-A94D-A068-683772B7D769}" destId="{34FA676D-37BD-6140-8476-D042BDE1ABF6}" srcOrd="5" destOrd="0" presId="urn:microsoft.com/office/officeart/2005/8/layout/vList2"/>
    <dgm:cxn modelId="{94271465-0BF1-2B4B-9C5F-BEA5BACBDDE2}" type="presParOf" srcId="{6AEE795B-4F42-A94D-A068-683772B7D769}" destId="{9BFAC4C4-5B39-AD4D-94AE-32965CCB1B2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C4D3C0D-F041-4AC7-A952-BE06727A374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85CD5F6-B6C1-4BBF-9EDA-612F02330CFD}">
      <dgm:prSet/>
      <dgm:spPr/>
      <dgm:t>
        <a:bodyPr/>
        <a:lstStyle/>
        <a:p>
          <a:r>
            <a:rPr lang="en-US"/>
            <a:t>BIO</a:t>
          </a:r>
        </a:p>
      </dgm:t>
    </dgm:pt>
    <dgm:pt modelId="{874C05D1-9486-40BE-A268-0A1483AFCEB8}" type="parTrans" cxnId="{66B7B0D3-14CA-45D6-859C-D1BF45B08E66}">
      <dgm:prSet/>
      <dgm:spPr/>
      <dgm:t>
        <a:bodyPr/>
        <a:lstStyle/>
        <a:p>
          <a:endParaRPr lang="en-US"/>
        </a:p>
      </dgm:t>
    </dgm:pt>
    <dgm:pt modelId="{C15292DC-7451-46BE-A91D-1CDBEDF64C39}" type="sibTrans" cxnId="{66B7B0D3-14CA-45D6-859C-D1BF45B08E66}">
      <dgm:prSet/>
      <dgm:spPr/>
      <dgm:t>
        <a:bodyPr/>
        <a:lstStyle/>
        <a:p>
          <a:endParaRPr lang="en-US"/>
        </a:p>
      </dgm:t>
    </dgm:pt>
    <dgm:pt modelId="{D96C6368-A508-45BF-B85A-6B84604CD3BB}">
      <dgm:prSet/>
      <dgm:spPr/>
      <dgm:t>
        <a:bodyPr/>
        <a:lstStyle/>
        <a:p>
          <a:r>
            <a:rPr lang="en-US" dirty="0"/>
            <a:t>PROJECT CONTEXT</a:t>
          </a:r>
        </a:p>
      </dgm:t>
    </dgm:pt>
    <dgm:pt modelId="{7D35F6AC-F5AE-464D-A072-A1705443AE78}" type="parTrans" cxnId="{C7B4C7B6-7FC4-4299-BE90-B1F3DD93CC44}">
      <dgm:prSet/>
      <dgm:spPr/>
      <dgm:t>
        <a:bodyPr/>
        <a:lstStyle/>
        <a:p>
          <a:endParaRPr lang="en-US"/>
        </a:p>
      </dgm:t>
    </dgm:pt>
    <dgm:pt modelId="{B799A35C-D259-4A14-BBC1-5BD6547BF4F9}" type="sibTrans" cxnId="{C7B4C7B6-7FC4-4299-BE90-B1F3DD93CC44}">
      <dgm:prSet/>
      <dgm:spPr/>
      <dgm:t>
        <a:bodyPr/>
        <a:lstStyle/>
        <a:p>
          <a:endParaRPr lang="en-US"/>
        </a:p>
      </dgm:t>
    </dgm:pt>
    <dgm:pt modelId="{D76E99F0-9914-431B-B590-3B1D91539081}">
      <dgm:prSet/>
      <dgm:spPr/>
      <dgm:t>
        <a:bodyPr/>
        <a:lstStyle/>
        <a:p>
          <a:r>
            <a:rPr lang="en-US"/>
            <a:t>DEFINE</a:t>
          </a:r>
        </a:p>
      </dgm:t>
    </dgm:pt>
    <dgm:pt modelId="{DB5A40A0-014E-4AE6-ABB5-E499D899DB36}" type="parTrans" cxnId="{6AE50C71-F6DC-4094-9813-AD795CEF35C0}">
      <dgm:prSet/>
      <dgm:spPr/>
      <dgm:t>
        <a:bodyPr/>
        <a:lstStyle/>
        <a:p>
          <a:endParaRPr lang="en-US"/>
        </a:p>
      </dgm:t>
    </dgm:pt>
    <dgm:pt modelId="{045FBD7F-40CA-4A4B-BBC6-5DB7ED7E1E0C}" type="sibTrans" cxnId="{6AE50C71-F6DC-4094-9813-AD795CEF35C0}">
      <dgm:prSet/>
      <dgm:spPr/>
      <dgm:t>
        <a:bodyPr/>
        <a:lstStyle/>
        <a:p>
          <a:endParaRPr lang="en-US"/>
        </a:p>
      </dgm:t>
    </dgm:pt>
    <dgm:pt modelId="{813F4FF2-5B1B-403C-9A7A-5194984917E8}">
      <dgm:prSet/>
      <dgm:spPr/>
      <dgm:t>
        <a:bodyPr/>
        <a:lstStyle/>
        <a:p>
          <a:r>
            <a:rPr lang="en-US"/>
            <a:t>DESIGN</a:t>
          </a:r>
        </a:p>
      </dgm:t>
    </dgm:pt>
    <dgm:pt modelId="{4F286347-6698-4B7C-98B1-B1E6FE72389B}" type="parTrans" cxnId="{4B5E8E2C-7BC0-4DCF-885F-D4AE098EAFDC}">
      <dgm:prSet/>
      <dgm:spPr/>
      <dgm:t>
        <a:bodyPr/>
        <a:lstStyle/>
        <a:p>
          <a:endParaRPr lang="en-US"/>
        </a:p>
      </dgm:t>
    </dgm:pt>
    <dgm:pt modelId="{D706630D-AE6F-4412-83D4-31C686AE510F}" type="sibTrans" cxnId="{4B5E8E2C-7BC0-4DCF-885F-D4AE098EAFDC}">
      <dgm:prSet/>
      <dgm:spPr/>
      <dgm:t>
        <a:bodyPr/>
        <a:lstStyle/>
        <a:p>
          <a:endParaRPr lang="en-US"/>
        </a:p>
      </dgm:t>
    </dgm:pt>
    <dgm:pt modelId="{AD37AA56-77C5-493C-90DB-FDDE946297A3}">
      <dgm:prSet/>
      <dgm:spPr/>
      <dgm:t>
        <a:bodyPr/>
        <a:lstStyle/>
        <a:p>
          <a:r>
            <a:rPr lang="en-US"/>
            <a:t>DELIVER</a:t>
          </a:r>
        </a:p>
      </dgm:t>
    </dgm:pt>
    <dgm:pt modelId="{630476A8-6ED8-4992-BE79-06FF58375744}" type="parTrans" cxnId="{23CFA9F3-8D2B-428B-90F2-DB02D29616D0}">
      <dgm:prSet/>
      <dgm:spPr/>
      <dgm:t>
        <a:bodyPr/>
        <a:lstStyle/>
        <a:p>
          <a:endParaRPr lang="en-US"/>
        </a:p>
      </dgm:t>
    </dgm:pt>
    <dgm:pt modelId="{F21BBC49-0EA2-44A5-A36A-97F95597D32B}" type="sibTrans" cxnId="{23CFA9F3-8D2B-428B-90F2-DB02D29616D0}">
      <dgm:prSet/>
      <dgm:spPr/>
      <dgm:t>
        <a:bodyPr/>
        <a:lstStyle/>
        <a:p>
          <a:endParaRPr lang="en-US"/>
        </a:p>
      </dgm:t>
    </dgm:pt>
    <dgm:pt modelId="{09B9A5C6-2EAB-41F8-8A47-FAB0A1FF4881}">
      <dgm:prSet/>
      <dgm:spPr/>
      <dgm:t>
        <a:bodyPr/>
        <a:lstStyle/>
        <a:p>
          <a:r>
            <a:rPr lang="en-US"/>
            <a:t>SUMMARY, CONCLUSION AND NEXT STEPS</a:t>
          </a:r>
        </a:p>
      </dgm:t>
    </dgm:pt>
    <dgm:pt modelId="{01DB3A4E-1634-42CC-A11C-95C21E1970CD}" type="parTrans" cxnId="{2A95D0A4-1940-47D1-BBDF-068118A07C75}">
      <dgm:prSet/>
      <dgm:spPr/>
      <dgm:t>
        <a:bodyPr/>
        <a:lstStyle/>
        <a:p>
          <a:endParaRPr lang="en-US"/>
        </a:p>
      </dgm:t>
    </dgm:pt>
    <dgm:pt modelId="{39B379C7-B7DE-43C0-A0C9-1AA2FE47CD6D}" type="sibTrans" cxnId="{2A95D0A4-1940-47D1-BBDF-068118A07C75}">
      <dgm:prSet/>
      <dgm:spPr/>
      <dgm:t>
        <a:bodyPr/>
        <a:lstStyle/>
        <a:p>
          <a:endParaRPr lang="en-US"/>
        </a:p>
      </dgm:t>
    </dgm:pt>
    <dgm:pt modelId="{8BFD0BE1-94B6-1347-A228-659F26478FAC}" type="pres">
      <dgm:prSet presAssocID="{9C4D3C0D-F041-4AC7-A952-BE06727A3749}" presName="Name0" presStyleCnt="0">
        <dgm:presLayoutVars>
          <dgm:dir/>
          <dgm:resizeHandles val="exact"/>
        </dgm:presLayoutVars>
      </dgm:prSet>
      <dgm:spPr/>
    </dgm:pt>
    <dgm:pt modelId="{CD941164-0550-C244-98F2-97828468E9FB}" type="pres">
      <dgm:prSet presAssocID="{785CD5F6-B6C1-4BBF-9EDA-612F02330CFD}" presName="node" presStyleLbl="node1" presStyleIdx="0" presStyleCnt="6">
        <dgm:presLayoutVars>
          <dgm:bulletEnabled val="1"/>
        </dgm:presLayoutVars>
      </dgm:prSet>
      <dgm:spPr/>
    </dgm:pt>
    <dgm:pt modelId="{38A5BF99-66A2-8F46-97DE-9642DDC5254A}" type="pres">
      <dgm:prSet presAssocID="{C15292DC-7451-46BE-A91D-1CDBEDF64C39}" presName="sibTrans" presStyleLbl="sibTrans1D1" presStyleIdx="0" presStyleCnt="5"/>
      <dgm:spPr/>
    </dgm:pt>
    <dgm:pt modelId="{93B13A3E-665A-0643-8002-53A846ACF281}" type="pres">
      <dgm:prSet presAssocID="{C15292DC-7451-46BE-A91D-1CDBEDF64C39}" presName="connectorText" presStyleLbl="sibTrans1D1" presStyleIdx="0" presStyleCnt="5"/>
      <dgm:spPr/>
    </dgm:pt>
    <dgm:pt modelId="{93BF9320-6E13-634E-B107-D93A645861F6}" type="pres">
      <dgm:prSet presAssocID="{D96C6368-A508-45BF-B85A-6B84604CD3BB}" presName="node" presStyleLbl="node1" presStyleIdx="1" presStyleCnt="6">
        <dgm:presLayoutVars>
          <dgm:bulletEnabled val="1"/>
        </dgm:presLayoutVars>
      </dgm:prSet>
      <dgm:spPr/>
    </dgm:pt>
    <dgm:pt modelId="{344611F0-BA8C-504A-B653-E241B0C675F8}" type="pres">
      <dgm:prSet presAssocID="{B799A35C-D259-4A14-BBC1-5BD6547BF4F9}" presName="sibTrans" presStyleLbl="sibTrans1D1" presStyleIdx="1" presStyleCnt="5"/>
      <dgm:spPr/>
    </dgm:pt>
    <dgm:pt modelId="{963FD0EB-9172-784B-943B-E7F441E458AB}" type="pres">
      <dgm:prSet presAssocID="{B799A35C-D259-4A14-BBC1-5BD6547BF4F9}" presName="connectorText" presStyleLbl="sibTrans1D1" presStyleIdx="1" presStyleCnt="5"/>
      <dgm:spPr/>
    </dgm:pt>
    <dgm:pt modelId="{9A762B4C-9ED1-7244-B9E7-9680E11C0B96}" type="pres">
      <dgm:prSet presAssocID="{D76E99F0-9914-431B-B590-3B1D91539081}" presName="node" presStyleLbl="node1" presStyleIdx="2" presStyleCnt="6">
        <dgm:presLayoutVars>
          <dgm:bulletEnabled val="1"/>
        </dgm:presLayoutVars>
      </dgm:prSet>
      <dgm:spPr/>
    </dgm:pt>
    <dgm:pt modelId="{B610AB3C-9F7F-0D48-9828-2A65744ED631}" type="pres">
      <dgm:prSet presAssocID="{045FBD7F-40CA-4A4B-BBC6-5DB7ED7E1E0C}" presName="sibTrans" presStyleLbl="sibTrans1D1" presStyleIdx="2" presStyleCnt="5"/>
      <dgm:spPr/>
    </dgm:pt>
    <dgm:pt modelId="{4185D207-1A6A-2A4A-BDCD-9852CD35D5AA}" type="pres">
      <dgm:prSet presAssocID="{045FBD7F-40CA-4A4B-BBC6-5DB7ED7E1E0C}" presName="connectorText" presStyleLbl="sibTrans1D1" presStyleIdx="2" presStyleCnt="5"/>
      <dgm:spPr/>
    </dgm:pt>
    <dgm:pt modelId="{21993766-B4BA-7C44-B6F7-68A30EA6C067}" type="pres">
      <dgm:prSet presAssocID="{813F4FF2-5B1B-403C-9A7A-5194984917E8}" presName="node" presStyleLbl="node1" presStyleIdx="3" presStyleCnt="6">
        <dgm:presLayoutVars>
          <dgm:bulletEnabled val="1"/>
        </dgm:presLayoutVars>
      </dgm:prSet>
      <dgm:spPr/>
    </dgm:pt>
    <dgm:pt modelId="{46C9B94B-4553-1E40-9CBA-AF9B9776C915}" type="pres">
      <dgm:prSet presAssocID="{D706630D-AE6F-4412-83D4-31C686AE510F}" presName="sibTrans" presStyleLbl="sibTrans1D1" presStyleIdx="3" presStyleCnt="5"/>
      <dgm:spPr/>
    </dgm:pt>
    <dgm:pt modelId="{9B54BC1E-FDB6-CD42-87E7-719D59B89D28}" type="pres">
      <dgm:prSet presAssocID="{D706630D-AE6F-4412-83D4-31C686AE510F}" presName="connectorText" presStyleLbl="sibTrans1D1" presStyleIdx="3" presStyleCnt="5"/>
      <dgm:spPr/>
    </dgm:pt>
    <dgm:pt modelId="{567FB021-D0E2-9D4E-B3BF-E4B63C962D28}" type="pres">
      <dgm:prSet presAssocID="{AD37AA56-77C5-493C-90DB-FDDE946297A3}" presName="node" presStyleLbl="node1" presStyleIdx="4" presStyleCnt="6">
        <dgm:presLayoutVars>
          <dgm:bulletEnabled val="1"/>
        </dgm:presLayoutVars>
      </dgm:prSet>
      <dgm:spPr/>
    </dgm:pt>
    <dgm:pt modelId="{103D2DFF-9473-F044-A26D-9DC69AFAADB2}" type="pres">
      <dgm:prSet presAssocID="{F21BBC49-0EA2-44A5-A36A-97F95597D32B}" presName="sibTrans" presStyleLbl="sibTrans1D1" presStyleIdx="4" presStyleCnt="5"/>
      <dgm:spPr/>
    </dgm:pt>
    <dgm:pt modelId="{DC24B3B1-CF6B-0F42-AB57-6264CD77500A}" type="pres">
      <dgm:prSet presAssocID="{F21BBC49-0EA2-44A5-A36A-97F95597D32B}" presName="connectorText" presStyleLbl="sibTrans1D1" presStyleIdx="4" presStyleCnt="5"/>
      <dgm:spPr/>
    </dgm:pt>
    <dgm:pt modelId="{AC3B57FE-619F-F141-91BA-9632EB773C6B}" type="pres">
      <dgm:prSet presAssocID="{09B9A5C6-2EAB-41F8-8A47-FAB0A1FF4881}" presName="node" presStyleLbl="node1" presStyleIdx="5" presStyleCnt="6">
        <dgm:presLayoutVars>
          <dgm:bulletEnabled val="1"/>
        </dgm:presLayoutVars>
      </dgm:prSet>
      <dgm:spPr/>
    </dgm:pt>
  </dgm:ptLst>
  <dgm:cxnLst>
    <dgm:cxn modelId="{94200410-89CD-084B-8EBC-8E2755CAD52C}" type="presOf" srcId="{9C4D3C0D-F041-4AC7-A952-BE06727A3749}" destId="{8BFD0BE1-94B6-1347-A228-659F26478FAC}" srcOrd="0" destOrd="0" presId="urn:microsoft.com/office/officeart/2016/7/layout/RepeatingBendingProcessNew"/>
    <dgm:cxn modelId="{4B5E8E2C-7BC0-4DCF-885F-D4AE098EAFDC}" srcId="{9C4D3C0D-F041-4AC7-A952-BE06727A3749}" destId="{813F4FF2-5B1B-403C-9A7A-5194984917E8}" srcOrd="3" destOrd="0" parTransId="{4F286347-6698-4B7C-98B1-B1E6FE72389B}" sibTransId="{D706630D-AE6F-4412-83D4-31C686AE510F}"/>
    <dgm:cxn modelId="{4E873632-09FC-7245-BB10-62C91731DAE2}" type="presOf" srcId="{B799A35C-D259-4A14-BBC1-5BD6547BF4F9}" destId="{344611F0-BA8C-504A-B653-E241B0C675F8}" srcOrd="0" destOrd="0" presId="urn:microsoft.com/office/officeart/2016/7/layout/RepeatingBendingProcessNew"/>
    <dgm:cxn modelId="{913F2F3B-1F0A-5347-AA12-AB522A587249}" type="presOf" srcId="{D706630D-AE6F-4412-83D4-31C686AE510F}" destId="{46C9B94B-4553-1E40-9CBA-AF9B9776C915}" srcOrd="0" destOrd="0" presId="urn:microsoft.com/office/officeart/2016/7/layout/RepeatingBendingProcessNew"/>
    <dgm:cxn modelId="{6AE50C71-F6DC-4094-9813-AD795CEF35C0}" srcId="{9C4D3C0D-F041-4AC7-A952-BE06727A3749}" destId="{D76E99F0-9914-431B-B590-3B1D91539081}" srcOrd="2" destOrd="0" parTransId="{DB5A40A0-014E-4AE6-ABB5-E499D899DB36}" sibTransId="{045FBD7F-40CA-4A4B-BBC6-5DB7ED7E1E0C}"/>
    <dgm:cxn modelId="{AB01BA7C-E777-F145-8351-2F4A5073EBF7}" type="presOf" srcId="{785CD5F6-B6C1-4BBF-9EDA-612F02330CFD}" destId="{CD941164-0550-C244-98F2-97828468E9FB}" srcOrd="0" destOrd="0" presId="urn:microsoft.com/office/officeart/2016/7/layout/RepeatingBendingProcessNew"/>
    <dgm:cxn modelId="{913D6199-31E8-4442-B00B-A2AE7079DACD}" type="presOf" srcId="{C15292DC-7451-46BE-A91D-1CDBEDF64C39}" destId="{38A5BF99-66A2-8F46-97DE-9642DDC5254A}" srcOrd="0" destOrd="0" presId="urn:microsoft.com/office/officeart/2016/7/layout/RepeatingBendingProcessNew"/>
    <dgm:cxn modelId="{10C76799-8E90-004B-97B9-4A48FA306CA8}" type="presOf" srcId="{D96C6368-A508-45BF-B85A-6B84604CD3BB}" destId="{93BF9320-6E13-634E-B107-D93A645861F6}" srcOrd="0" destOrd="0" presId="urn:microsoft.com/office/officeart/2016/7/layout/RepeatingBendingProcessNew"/>
    <dgm:cxn modelId="{A407F699-08EC-5E41-9792-F963CF87EB4B}" type="presOf" srcId="{F21BBC49-0EA2-44A5-A36A-97F95597D32B}" destId="{103D2DFF-9473-F044-A26D-9DC69AFAADB2}" srcOrd="0" destOrd="0" presId="urn:microsoft.com/office/officeart/2016/7/layout/RepeatingBendingProcessNew"/>
    <dgm:cxn modelId="{4668FAA1-9502-F042-AB5E-C6C1E4337628}" type="presOf" srcId="{D76E99F0-9914-431B-B590-3B1D91539081}" destId="{9A762B4C-9ED1-7244-B9E7-9680E11C0B96}" srcOrd="0" destOrd="0" presId="urn:microsoft.com/office/officeart/2016/7/layout/RepeatingBendingProcessNew"/>
    <dgm:cxn modelId="{2A95D0A4-1940-47D1-BBDF-068118A07C75}" srcId="{9C4D3C0D-F041-4AC7-A952-BE06727A3749}" destId="{09B9A5C6-2EAB-41F8-8A47-FAB0A1FF4881}" srcOrd="5" destOrd="0" parTransId="{01DB3A4E-1634-42CC-A11C-95C21E1970CD}" sibTransId="{39B379C7-B7DE-43C0-A0C9-1AA2FE47CD6D}"/>
    <dgm:cxn modelId="{3A6566A5-AF0F-7946-B39B-B282FA0C8541}" type="presOf" srcId="{B799A35C-D259-4A14-BBC1-5BD6547BF4F9}" destId="{963FD0EB-9172-784B-943B-E7F441E458AB}" srcOrd="1" destOrd="0" presId="urn:microsoft.com/office/officeart/2016/7/layout/RepeatingBendingProcessNew"/>
    <dgm:cxn modelId="{4EA354A7-945A-8440-B7E6-489AFF57064E}" type="presOf" srcId="{AD37AA56-77C5-493C-90DB-FDDE946297A3}" destId="{567FB021-D0E2-9D4E-B3BF-E4B63C962D28}" srcOrd="0" destOrd="0" presId="urn:microsoft.com/office/officeart/2016/7/layout/RepeatingBendingProcessNew"/>
    <dgm:cxn modelId="{12D84CB3-0790-3347-953A-9ADD437E69D8}" type="presOf" srcId="{09B9A5C6-2EAB-41F8-8A47-FAB0A1FF4881}" destId="{AC3B57FE-619F-F141-91BA-9632EB773C6B}" srcOrd="0" destOrd="0" presId="urn:microsoft.com/office/officeart/2016/7/layout/RepeatingBendingProcessNew"/>
    <dgm:cxn modelId="{C7B4C7B6-7FC4-4299-BE90-B1F3DD93CC44}" srcId="{9C4D3C0D-F041-4AC7-A952-BE06727A3749}" destId="{D96C6368-A508-45BF-B85A-6B84604CD3BB}" srcOrd="1" destOrd="0" parTransId="{7D35F6AC-F5AE-464D-A072-A1705443AE78}" sibTransId="{B799A35C-D259-4A14-BBC1-5BD6547BF4F9}"/>
    <dgm:cxn modelId="{560038C6-E489-4046-8E5D-D6F2FEDF590E}" type="presOf" srcId="{045FBD7F-40CA-4A4B-BBC6-5DB7ED7E1E0C}" destId="{B610AB3C-9F7F-0D48-9828-2A65744ED631}" srcOrd="0" destOrd="0" presId="urn:microsoft.com/office/officeart/2016/7/layout/RepeatingBendingProcessNew"/>
    <dgm:cxn modelId="{7CF827D0-BEF8-FF4E-BFDF-67D8B29EE4EF}" type="presOf" srcId="{C15292DC-7451-46BE-A91D-1CDBEDF64C39}" destId="{93B13A3E-665A-0643-8002-53A846ACF281}" srcOrd="1" destOrd="0" presId="urn:microsoft.com/office/officeart/2016/7/layout/RepeatingBendingProcessNew"/>
    <dgm:cxn modelId="{66B7B0D3-14CA-45D6-859C-D1BF45B08E66}" srcId="{9C4D3C0D-F041-4AC7-A952-BE06727A3749}" destId="{785CD5F6-B6C1-4BBF-9EDA-612F02330CFD}" srcOrd="0" destOrd="0" parTransId="{874C05D1-9486-40BE-A268-0A1483AFCEB8}" sibTransId="{C15292DC-7451-46BE-A91D-1CDBEDF64C39}"/>
    <dgm:cxn modelId="{8A37C0DD-761D-3D49-91CC-C4AA377ABA9A}" type="presOf" srcId="{813F4FF2-5B1B-403C-9A7A-5194984917E8}" destId="{21993766-B4BA-7C44-B6F7-68A30EA6C067}" srcOrd="0" destOrd="0" presId="urn:microsoft.com/office/officeart/2016/7/layout/RepeatingBendingProcessNew"/>
    <dgm:cxn modelId="{F7A6A3E4-F28D-9245-B232-0505CA957016}" type="presOf" srcId="{045FBD7F-40CA-4A4B-BBC6-5DB7ED7E1E0C}" destId="{4185D207-1A6A-2A4A-BDCD-9852CD35D5AA}" srcOrd="1" destOrd="0" presId="urn:microsoft.com/office/officeart/2016/7/layout/RepeatingBendingProcessNew"/>
    <dgm:cxn modelId="{05A8B4E6-095F-9946-BE86-35A1EE8080CE}" type="presOf" srcId="{D706630D-AE6F-4412-83D4-31C686AE510F}" destId="{9B54BC1E-FDB6-CD42-87E7-719D59B89D28}" srcOrd="1" destOrd="0" presId="urn:microsoft.com/office/officeart/2016/7/layout/RepeatingBendingProcessNew"/>
    <dgm:cxn modelId="{23CFA9F3-8D2B-428B-90F2-DB02D29616D0}" srcId="{9C4D3C0D-F041-4AC7-A952-BE06727A3749}" destId="{AD37AA56-77C5-493C-90DB-FDDE946297A3}" srcOrd="4" destOrd="0" parTransId="{630476A8-6ED8-4992-BE79-06FF58375744}" sibTransId="{F21BBC49-0EA2-44A5-A36A-97F95597D32B}"/>
    <dgm:cxn modelId="{6876E3FD-4F79-C344-8412-7CD7E91F803D}" type="presOf" srcId="{F21BBC49-0EA2-44A5-A36A-97F95597D32B}" destId="{DC24B3B1-CF6B-0F42-AB57-6264CD77500A}" srcOrd="1" destOrd="0" presId="urn:microsoft.com/office/officeart/2016/7/layout/RepeatingBendingProcessNew"/>
    <dgm:cxn modelId="{C151EBFB-DBDB-404B-B865-EFBB840E3740}" type="presParOf" srcId="{8BFD0BE1-94B6-1347-A228-659F26478FAC}" destId="{CD941164-0550-C244-98F2-97828468E9FB}" srcOrd="0" destOrd="0" presId="urn:microsoft.com/office/officeart/2016/7/layout/RepeatingBendingProcessNew"/>
    <dgm:cxn modelId="{DBECB093-BC42-4C44-BA80-205F47AF0DB3}" type="presParOf" srcId="{8BFD0BE1-94B6-1347-A228-659F26478FAC}" destId="{38A5BF99-66A2-8F46-97DE-9642DDC5254A}" srcOrd="1" destOrd="0" presId="urn:microsoft.com/office/officeart/2016/7/layout/RepeatingBendingProcessNew"/>
    <dgm:cxn modelId="{39F0EEFE-30DD-B648-98F0-83C8340CB956}" type="presParOf" srcId="{38A5BF99-66A2-8F46-97DE-9642DDC5254A}" destId="{93B13A3E-665A-0643-8002-53A846ACF281}" srcOrd="0" destOrd="0" presId="urn:microsoft.com/office/officeart/2016/7/layout/RepeatingBendingProcessNew"/>
    <dgm:cxn modelId="{2960FB8D-A5B9-F14A-9081-C47F27008EA5}" type="presParOf" srcId="{8BFD0BE1-94B6-1347-A228-659F26478FAC}" destId="{93BF9320-6E13-634E-B107-D93A645861F6}" srcOrd="2" destOrd="0" presId="urn:microsoft.com/office/officeart/2016/7/layout/RepeatingBendingProcessNew"/>
    <dgm:cxn modelId="{6C9F2FC8-8C7E-934F-BC37-7120E9A69505}" type="presParOf" srcId="{8BFD0BE1-94B6-1347-A228-659F26478FAC}" destId="{344611F0-BA8C-504A-B653-E241B0C675F8}" srcOrd="3" destOrd="0" presId="urn:microsoft.com/office/officeart/2016/7/layout/RepeatingBendingProcessNew"/>
    <dgm:cxn modelId="{B94B943E-543F-8043-B578-C0ADEBB98A59}" type="presParOf" srcId="{344611F0-BA8C-504A-B653-E241B0C675F8}" destId="{963FD0EB-9172-784B-943B-E7F441E458AB}" srcOrd="0" destOrd="0" presId="urn:microsoft.com/office/officeart/2016/7/layout/RepeatingBendingProcessNew"/>
    <dgm:cxn modelId="{B01983E5-335B-0749-9417-176EDB63DEEA}" type="presParOf" srcId="{8BFD0BE1-94B6-1347-A228-659F26478FAC}" destId="{9A762B4C-9ED1-7244-B9E7-9680E11C0B96}" srcOrd="4" destOrd="0" presId="urn:microsoft.com/office/officeart/2016/7/layout/RepeatingBendingProcessNew"/>
    <dgm:cxn modelId="{C3ED8575-A4A1-EE49-874E-7A412A99CA69}" type="presParOf" srcId="{8BFD0BE1-94B6-1347-A228-659F26478FAC}" destId="{B610AB3C-9F7F-0D48-9828-2A65744ED631}" srcOrd="5" destOrd="0" presId="urn:microsoft.com/office/officeart/2016/7/layout/RepeatingBendingProcessNew"/>
    <dgm:cxn modelId="{FE662CAA-7BA7-624E-A32D-C67D12BE48FD}" type="presParOf" srcId="{B610AB3C-9F7F-0D48-9828-2A65744ED631}" destId="{4185D207-1A6A-2A4A-BDCD-9852CD35D5AA}" srcOrd="0" destOrd="0" presId="urn:microsoft.com/office/officeart/2016/7/layout/RepeatingBendingProcessNew"/>
    <dgm:cxn modelId="{195B2C0C-1DCF-214E-BD76-DCD690A69833}" type="presParOf" srcId="{8BFD0BE1-94B6-1347-A228-659F26478FAC}" destId="{21993766-B4BA-7C44-B6F7-68A30EA6C067}" srcOrd="6" destOrd="0" presId="urn:microsoft.com/office/officeart/2016/7/layout/RepeatingBendingProcessNew"/>
    <dgm:cxn modelId="{5DB7136D-C121-424E-B77F-B868D0B7C8E8}" type="presParOf" srcId="{8BFD0BE1-94B6-1347-A228-659F26478FAC}" destId="{46C9B94B-4553-1E40-9CBA-AF9B9776C915}" srcOrd="7" destOrd="0" presId="urn:microsoft.com/office/officeart/2016/7/layout/RepeatingBendingProcessNew"/>
    <dgm:cxn modelId="{33BB7D81-F7F3-914B-A602-92B632578C75}" type="presParOf" srcId="{46C9B94B-4553-1E40-9CBA-AF9B9776C915}" destId="{9B54BC1E-FDB6-CD42-87E7-719D59B89D28}" srcOrd="0" destOrd="0" presId="urn:microsoft.com/office/officeart/2016/7/layout/RepeatingBendingProcessNew"/>
    <dgm:cxn modelId="{AF51DE71-E6B9-F14C-955E-09199110D4EC}" type="presParOf" srcId="{8BFD0BE1-94B6-1347-A228-659F26478FAC}" destId="{567FB021-D0E2-9D4E-B3BF-E4B63C962D28}" srcOrd="8" destOrd="0" presId="urn:microsoft.com/office/officeart/2016/7/layout/RepeatingBendingProcessNew"/>
    <dgm:cxn modelId="{5313E71F-D02A-E144-9894-2E7F612703E6}" type="presParOf" srcId="{8BFD0BE1-94B6-1347-A228-659F26478FAC}" destId="{103D2DFF-9473-F044-A26D-9DC69AFAADB2}" srcOrd="9" destOrd="0" presId="urn:microsoft.com/office/officeart/2016/7/layout/RepeatingBendingProcessNew"/>
    <dgm:cxn modelId="{FC174B88-D166-AC4E-BF0A-D95D08DFDCF5}" type="presParOf" srcId="{103D2DFF-9473-F044-A26D-9DC69AFAADB2}" destId="{DC24B3B1-CF6B-0F42-AB57-6264CD77500A}" srcOrd="0" destOrd="0" presId="urn:microsoft.com/office/officeart/2016/7/layout/RepeatingBendingProcessNew"/>
    <dgm:cxn modelId="{BE5263A6-AF7B-B64C-9300-DABFB72B3788}" type="presParOf" srcId="{8BFD0BE1-94B6-1347-A228-659F26478FAC}" destId="{AC3B57FE-619F-F141-91BA-9632EB773C6B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F23F41-91A9-4CD9-BC42-7B85DC13040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B8DA56C-9066-4F04-B600-3C400B3401DA}">
      <dgm:prSet/>
      <dgm:spPr/>
      <dgm:t>
        <a:bodyPr/>
        <a:lstStyle/>
        <a:p>
          <a:r>
            <a:rPr lang="en-US"/>
            <a:t>Periods from Jan 2020 to May 2021</a:t>
          </a:r>
        </a:p>
      </dgm:t>
    </dgm:pt>
    <dgm:pt modelId="{4D23BE59-B19B-4F57-88CD-AA6E4B1567AB}" type="parTrans" cxnId="{3E61F015-8E91-48A3-AE39-544D775B8D14}">
      <dgm:prSet/>
      <dgm:spPr/>
      <dgm:t>
        <a:bodyPr/>
        <a:lstStyle/>
        <a:p>
          <a:endParaRPr lang="en-US"/>
        </a:p>
      </dgm:t>
    </dgm:pt>
    <dgm:pt modelId="{C667174B-68FF-4C68-9BA0-D8542A665899}" type="sibTrans" cxnId="{3E61F015-8E91-48A3-AE39-544D775B8D14}">
      <dgm:prSet/>
      <dgm:spPr/>
      <dgm:t>
        <a:bodyPr/>
        <a:lstStyle/>
        <a:p>
          <a:endParaRPr lang="en-US"/>
        </a:p>
      </dgm:t>
    </dgm:pt>
    <dgm:pt modelId="{0022A646-0ECB-4ABA-8ED1-4B2FD20D8F19}">
      <dgm:prSet/>
      <dgm:spPr/>
      <dgm:t>
        <a:bodyPr/>
        <a:lstStyle/>
        <a:p>
          <a:r>
            <a:rPr lang="en-US"/>
            <a:t>Data sourced from 4 different data base</a:t>
          </a:r>
        </a:p>
      </dgm:t>
    </dgm:pt>
    <dgm:pt modelId="{248CEAFF-8931-497B-848E-0EFF9D62F573}" type="parTrans" cxnId="{6F9000D0-1125-497F-8C74-81371F07003D}">
      <dgm:prSet/>
      <dgm:spPr/>
      <dgm:t>
        <a:bodyPr/>
        <a:lstStyle/>
        <a:p>
          <a:endParaRPr lang="en-US"/>
        </a:p>
      </dgm:t>
    </dgm:pt>
    <dgm:pt modelId="{11D4426C-F0D4-4CDF-9C8B-1B4C0D69FE40}" type="sibTrans" cxnId="{6F9000D0-1125-497F-8C74-81371F07003D}">
      <dgm:prSet/>
      <dgm:spPr/>
      <dgm:t>
        <a:bodyPr/>
        <a:lstStyle/>
        <a:p>
          <a:endParaRPr lang="en-US"/>
        </a:p>
      </dgm:t>
    </dgm:pt>
    <dgm:pt modelId="{979CBEDD-E6D9-46DB-B803-5FF948EFB359}">
      <dgm:prSet/>
      <dgm:spPr/>
      <dgm:t>
        <a:bodyPr/>
        <a:lstStyle/>
        <a:p>
          <a:r>
            <a:rPr lang="en-US"/>
            <a:t>Twitter API  (tweepy)</a:t>
          </a:r>
        </a:p>
      </dgm:t>
    </dgm:pt>
    <dgm:pt modelId="{E4F773BF-51B0-4DC0-9BD2-6F5631EA1493}" type="parTrans" cxnId="{20B3CCC8-0273-4578-9F8F-7F4C49902DF8}">
      <dgm:prSet/>
      <dgm:spPr/>
      <dgm:t>
        <a:bodyPr/>
        <a:lstStyle/>
        <a:p>
          <a:endParaRPr lang="en-US"/>
        </a:p>
      </dgm:t>
    </dgm:pt>
    <dgm:pt modelId="{94A551B6-54E4-4DCF-A792-BCCF531449C7}" type="sibTrans" cxnId="{20B3CCC8-0273-4578-9F8F-7F4C49902DF8}">
      <dgm:prSet/>
      <dgm:spPr/>
      <dgm:t>
        <a:bodyPr/>
        <a:lstStyle/>
        <a:p>
          <a:endParaRPr lang="en-US"/>
        </a:p>
      </dgm:t>
    </dgm:pt>
    <dgm:pt modelId="{730B2D98-0AF4-481D-909E-A3BF3CC8A231}">
      <dgm:prSet/>
      <dgm:spPr/>
      <dgm:t>
        <a:bodyPr/>
        <a:lstStyle/>
        <a:p>
          <a:r>
            <a:rPr lang="en-US"/>
            <a:t>Obtain tweets from selected users who are highly influential in bitcoin.</a:t>
          </a:r>
        </a:p>
      </dgm:t>
    </dgm:pt>
    <dgm:pt modelId="{A43CA21E-7C32-4C5A-BA81-8565BB8FB715}" type="parTrans" cxnId="{F7E9CDB4-3E69-4A04-A47A-4314072A8003}">
      <dgm:prSet/>
      <dgm:spPr/>
      <dgm:t>
        <a:bodyPr/>
        <a:lstStyle/>
        <a:p>
          <a:endParaRPr lang="en-US"/>
        </a:p>
      </dgm:t>
    </dgm:pt>
    <dgm:pt modelId="{FF47A970-D71B-4B72-8590-F6636438F8C8}" type="sibTrans" cxnId="{F7E9CDB4-3E69-4A04-A47A-4314072A8003}">
      <dgm:prSet/>
      <dgm:spPr/>
      <dgm:t>
        <a:bodyPr/>
        <a:lstStyle/>
        <a:p>
          <a:endParaRPr lang="en-US"/>
        </a:p>
      </dgm:t>
    </dgm:pt>
    <dgm:pt modelId="{D6811894-04D2-459C-8551-03DE07D4CD5B}">
      <dgm:prSet/>
      <dgm:spPr/>
      <dgm:t>
        <a:bodyPr/>
        <a:lstStyle/>
        <a:p>
          <a:r>
            <a:rPr lang="en-US"/>
            <a:t>Google Trends (pytrends)</a:t>
          </a:r>
        </a:p>
      </dgm:t>
    </dgm:pt>
    <dgm:pt modelId="{C8C954F7-29E9-4734-8310-71BCCF15B389}" type="parTrans" cxnId="{2A92BB00-FF29-4716-827E-54E79BBED0C3}">
      <dgm:prSet/>
      <dgm:spPr/>
      <dgm:t>
        <a:bodyPr/>
        <a:lstStyle/>
        <a:p>
          <a:endParaRPr lang="en-US"/>
        </a:p>
      </dgm:t>
    </dgm:pt>
    <dgm:pt modelId="{7204DE08-ABE8-47C7-9AD2-20BC7585B533}" type="sibTrans" cxnId="{2A92BB00-FF29-4716-827E-54E79BBED0C3}">
      <dgm:prSet/>
      <dgm:spPr/>
      <dgm:t>
        <a:bodyPr/>
        <a:lstStyle/>
        <a:p>
          <a:endParaRPr lang="en-US"/>
        </a:p>
      </dgm:t>
    </dgm:pt>
    <dgm:pt modelId="{5FF8CC33-8FBC-43CA-970B-484979FA9655}">
      <dgm:prSet/>
      <dgm:spPr/>
      <dgm:t>
        <a:bodyPr/>
        <a:lstStyle/>
        <a:p>
          <a:r>
            <a:rPr lang="en-US"/>
            <a:t>Wikipedia page views (pageviewapi)</a:t>
          </a:r>
        </a:p>
      </dgm:t>
    </dgm:pt>
    <dgm:pt modelId="{C453A110-47FA-4165-A27E-5B24D531BD03}" type="parTrans" cxnId="{C5B318AF-6039-46FF-8EE7-0E9EBF932F4A}">
      <dgm:prSet/>
      <dgm:spPr/>
      <dgm:t>
        <a:bodyPr/>
        <a:lstStyle/>
        <a:p>
          <a:endParaRPr lang="en-US"/>
        </a:p>
      </dgm:t>
    </dgm:pt>
    <dgm:pt modelId="{F8C07149-1612-4B73-9286-C092E16CC4AE}" type="sibTrans" cxnId="{C5B318AF-6039-46FF-8EE7-0E9EBF932F4A}">
      <dgm:prSet/>
      <dgm:spPr/>
      <dgm:t>
        <a:bodyPr/>
        <a:lstStyle/>
        <a:p>
          <a:endParaRPr lang="en-US"/>
        </a:p>
      </dgm:t>
    </dgm:pt>
    <dgm:pt modelId="{109ABAC4-8A78-47EB-A4A9-830D2D058377}">
      <dgm:prSet/>
      <dgm:spPr/>
      <dgm:t>
        <a:bodyPr/>
        <a:lstStyle/>
        <a:p>
          <a:r>
            <a:rPr lang="en-US"/>
            <a:t>Bitcoin price (CoinBase API (Historic_Crypto))</a:t>
          </a:r>
        </a:p>
      </dgm:t>
    </dgm:pt>
    <dgm:pt modelId="{C8338A43-6D16-4454-BD8C-836F02365700}" type="parTrans" cxnId="{7522C487-1316-416F-817F-08B32563FFF7}">
      <dgm:prSet/>
      <dgm:spPr/>
      <dgm:t>
        <a:bodyPr/>
        <a:lstStyle/>
        <a:p>
          <a:endParaRPr lang="en-US"/>
        </a:p>
      </dgm:t>
    </dgm:pt>
    <dgm:pt modelId="{83F679DB-12FC-420A-8BED-CAC5E4D1675B}" type="sibTrans" cxnId="{7522C487-1316-416F-817F-08B32563FFF7}">
      <dgm:prSet/>
      <dgm:spPr/>
      <dgm:t>
        <a:bodyPr/>
        <a:lstStyle/>
        <a:p>
          <a:endParaRPr lang="en-US"/>
        </a:p>
      </dgm:t>
    </dgm:pt>
    <dgm:pt modelId="{67CA6542-98A1-8544-9E2D-6EB11FA0C76E}" type="pres">
      <dgm:prSet presAssocID="{5CF23F41-91A9-4CD9-BC42-7B85DC130403}" presName="diagram" presStyleCnt="0">
        <dgm:presLayoutVars>
          <dgm:dir/>
          <dgm:resizeHandles val="exact"/>
        </dgm:presLayoutVars>
      </dgm:prSet>
      <dgm:spPr/>
    </dgm:pt>
    <dgm:pt modelId="{C4D542C9-BECB-0444-BE2E-E19639A475B4}" type="pres">
      <dgm:prSet presAssocID="{3B8DA56C-9066-4F04-B600-3C400B3401DA}" presName="node" presStyleLbl="node1" presStyleIdx="0" presStyleCnt="6">
        <dgm:presLayoutVars>
          <dgm:bulletEnabled val="1"/>
        </dgm:presLayoutVars>
      </dgm:prSet>
      <dgm:spPr/>
    </dgm:pt>
    <dgm:pt modelId="{F70245A7-055A-994D-9923-1F3A75DE51EF}" type="pres">
      <dgm:prSet presAssocID="{C667174B-68FF-4C68-9BA0-D8542A665899}" presName="sibTrans" presStyleCnt="0"/>
      <dgm:spPr/>
    </dgm:pt>
    <dgm:pt modelId="{6FBCBC33-D983-0844-A5B4-6C37B6FD09AC}" type="pres">
      <dgm:prSet presAssocID="{0022A646-0ECB-4ABA-8ED1-4B2FD20D8F19}" presName="node" presStyleLbl="node1" presStyleIdx="1" presStyleCnt="6">
        <dgm:presLayoutVars>
          <dgm:bulletEnabled val="1"/>
        </dgm:presLayoutVars>
      </dgm:prSet>
      <dgm:spPr/>
    </dgm:pt>
    <dgm:pt modelId="{6AC15301-9E2E-6648-8042-C8DFB88CBEB4}" type="pres">
      <dgm:prSet presAssocID="{11D4426C-F0D4-4CDF-9C8B-1B4C0D69FE40}" presName="sibTrans" presStyleCnt="0"/>
      <dgm:spPr/>
    </dgm:pt>
    <dgm:pt modelId="{53521C4E-CDF0-9D49-ABC2-DE51E20DB029}" type="pres">
      <dgm:prSet presAssocID="{979CBEDD-E6D9-46DB-B803-5FF948EFB359}" presName="node" presStyleLbl="node1" presStyleIdx="2" presStyleCnt="6">
        <dgm:presLayoutVars>
          <dgm:bulletEnabled val="1"/>
        </dgm:presLayoutVars>
      </dgm:prSet>
      <dgm:spPr/>
    </dgm:pt>
    <dgm:pt modelId="{796AF50F-4635-DC48-B9C4-9A346A94482C}" type="pres">
      <dgm:prSet presAssocID="{94A551B6-54E4-4DCF-A792-BCCF531449C7}" presName="sibTrans" presStyleCnt="0"/>
      <dgm:spPr/>
    </dgm:pt>
    <dgm:pt modelId="{75AEE877-BA64-AB4F-967F-0E3485EACEC3}" type="pres">
      <dgm:prSet presAssocID="{D6811894-04D2-459C-8551-03DE07D4CD5B}" presName="node" presStyleLbl="node1" presStyleIdx="3" presStyleCnt="6">
        <dgm:presLayoutVars>
          <dgm:bulletEnabled val="1"/>
        </dgm:presLayoutVars>
      </dgm:prSet>
      <dgm:spPr/>
    </dgm:pt>
    <dgm:pt modelId="{977377F5-0A99-3948-BF9C-1CF4236273BD}" type="pres">
      <dgm:prSet presAssocID="{7204DE08-ABE8-47C7-9AD2-20BC7585B533}" presName="sibTrans" presStyleCnt="0"/>
      <dgm:spPr/>
    </dgm:pt>
    <dgm:pt modelId="{4BC4237D-7F51-2944-9836-5DF90B0D83E8}" type="pres">
      <dgm:prSet presAssocID="{5FF8CC33-8FBC-43CA-970B-484979FA9655}" presName="node" presStyleLbl="node1" presStyleIdx="4" presStyleCnt="6">
        <dgm:presLayoutVars>
          <dgm:bulletEnabled val="1"/>
        </dgm:presLayoutVars>
      </dgm:prSet>
      <dgm:spPr/>
    </dgm:pt>
    <dgm:pt modelId="{53E4E09B-494A-C547-88B9-E34269FBCDB5}" type="pres">
      <dgm:prSet presAssocID="{F8C07149-1612-4B73-9286-C092E16CC4AE}" presName="sibTrans" presStyleCnt="0"/>
      <dgm:spPr/>
    </dgm:pt>
    <dgm:pt modelId="{ED780F3B-AFBB-C546-977A-A76200EDD0F9}" type="pres">
      <dgm:prSet presAssocID="{109ABAC4-8A78-47EB-A4A9-830D2D058377}" presName="node" presStyleLbl="node1" presStyleIdx="5" presStyleCnt="6">
        <dgm:presLayoutVars>
          <dgm:bulletEnabled val="1"/>
        </dgm:presLayoutVars>
      </dgm:prSet>
      <dgm:spPr/>
    </dgm:pt>
  </dgm:ptLst>
  <dgm:cxnLst>
    <dgm:cxn modelId="{2A92BB00-FF29-4716-827E-54E79BBED0C3}" srcId="{5CF23F41-91A9-4CD9-BC42-7B85DC130403}" destId="{D6811894-04D2-459C-8551-03DE07D4CD5B}" srcOrd="3" destOrd="0" parTransId="{C8C954F7-29E9-4734-8310-71BCCF15B389}" sibTransId="{7204DE08-ABE8-47C7-9AD2-20BC7585B533}"/>
    <dgm:cxn modelId="{3E61F015-8E91-48A3-AE39-544D775B8D14}" srcId="{5CF23F41-91A9-4CD9-BC42-7B85DC130403}" destId="{3B8DA56C-9066-4F04-B600-3C400B3401DA}" srcOrd="0" destOrd="0" parTransId="{4D23BE59-B19B-4F57-88CD-AA6E4B1567AB}" sibTransId="{C667174B-68FF-4C68-9BA0-D8542A665899}"/>
    <dgm:cxn modelId="{EE487629-101B-E243-8ABB-B752560BBC7E}" type="presOf" srcId="{5CF23F41-91A9-4CD9-BC42-7B85DC130403}" destId="{67CA6542-98A1-8544-9E2D-6EB11FA0C76E}" srcOrd="0" destOrd="0" presId="urn:microsoft.com/office/officeart/2005/8/layout/default"/>
    <dgm:cxn modelId="{11F63F59-4E43-5841-B3F9-3CE0F8BB8EE5}" type="presOf" srcId="{730B2D98-0AF4-481D-909E-A3BF3CC8A231}" destId="{53521C4E-CDF0-9D49-ABC2-DE51E20DB029}" srcOrd="0" destOrd="1" presId="urn:microsoft.com/office/officeart/2005/8/layout/default"/>
    <dgm:cxn modelId="{7522C487-1316-416F-817F-08B32563FFF7}" srcId="{5CF23F41-91A9-4CD9-BC42-7B85DC130403}" destId="{109ABAC4-8A78-47EB-A4A9-830D2D058377}" srcOrd="5" destOrd="0" parTransId="{C8338A43-6D16-4454-BD8C-836F02365700}" sibTransId="{83F679DB-12FC-420A-8BED-CAC5E4D1675B}"/>
    <dgm:cxn modelId="{606CCF8A-568F-5E4D-866F-8920A2A37412}" type="presOf" srcId="{979CBEDD-E6D9-46DB-B803-5FF948EFB359}" destId="{53521C4E-CDF0-9D49-ABC2-DE51E20DB029}" srcOrd="0" destOrd="0" presId="urn:microsoft.com/office/officeart/2005/8/layout/default"/>
    <dgm:cxn modelId="{C5B318AF-6039-46FF-8EE7-0E9EBF932F4A}" srcId="{5CF23F41-91A9-4CD9-BC42-7B85DC130403}" destId="{5FF8CC33-8FBC-43CA-970B-484979FA9655}" srcOrd="4" destOrd="0" parTransId="{C453A110-47FA-4165-A27E-5B24D531BD03}" sibTransId="{F8C07149-1612-4B73-9286-C092E16CC4AE}"/>
    <dgm:cxn modelId="{F7E9CDB4-3E69-4A04-A47A-4314072A8003}" srcId="{979CBEDD-E6D9-46DB-B803-5FF948EFB359}" destId="{730B2D98-0AF4-481D-909E-A3BF3CC8A231}" srcOrd="0" destOrd="0" parTransId="{A43CA21E-7C32-4C5A-BA81-8565BB8FB715}" sibTransId="{FF47A970-D71B-4B72-8590-F6636438F8C8}"/>
    <dgm:cxn modelId="{E426A9C8-496A-D24D-9BD8-421270237081}" type="presOf" srcId="{5FF8CC33-8FBC-43CA-970B-484979FA9655}" destId="{4BC4237D-7F51-2944-9836-5DF90B0D83E8}" srcOrd="0" destOrd="0" presId="urn:microsoft.com/office/officeart/2005/8/layout/default"/>
    <dgm:cxn modelId="{20B3CCC8-0273-4578-9F8F-7F4C49902DF8}" srcId="{5CF23F41-91A9-4CD9-BC42-7B85DC130403}" destId="{979CBEDD-E6D9-46DB-B803-5FF948EFB359}" srcOrd="2" destOrd="0" parTransId="{E4F773BF-51B0-4DC0-9BD2-6F5631EA1493}" sibTransId="{94A551B6-54E4-4DCF-A792-BCCF531449C7}"/>
    <dgm:cxn modelId="{6F9000D0-1125-497F-8C74-81371F07003D}" srcId="{5CF23F41-91A9-4CD9-BC42-7B85DC130403}" destId="{0022A646-0ECB-4ABA-8ED1-4B2FD20D8F19}" srcOrd="1" destOrd="0" parTransId="{248CEAFF-8931-497B-848E-0EFF9D62F573}" sibTransId="{11D4426C-F0D4-4CDF-9C8B-1B4C0D69FE40}"/>
    <dgm:cxn modelId="{30B9C4DE-454E-5640-8276-B5C78209B368}" type="presOf" srcId="{D6811894-04D2-459C-8551-03DE07D4CD5B}" destId="{75AEE877-BA64-AB4F-967F-0E3485EACEC3}" srcOrd="0" destOrd="0" presId="urn:microsoft.com/office/officeart/2005/8/layout/default"/>
    <dgm:cxn modelId="{6CB674E4-541F-3B43-B906-A45F7BC4D51D}" type="presOf" srcId="{3B8DA56C-9066-4F04-B600-3C400B3401DA}" destId="{C4D542C9-BECB-0444-BE2E-E19639A475B4}" srcOrd="0" destOrd="0" presId="urn:microsoft.com/office/officeart/2005/8/layout/default"/>
    <dgm:cxn modelId="{BC937CE7-52B1-A746-BCBD-432A983907EB}" type="presOf" srcId="{109ABAC4-8A78-47EB-A4A9-830D2D058377}" destId="{ED780F3B-AFBB-C546-977A-A76200EDD0F9}" srcOrd="0" destOrd="0" presId="urn:microsoft.com/office/officeart/2005/8/layout/default"/>
    <dgm:cxn modelId="{92CC78FB-B0E8-CC49-A7B7-76C32D02F922}" type="presOf" srcId="{0022A646-0ECB-4ABA-8ED1-4B2FD20D8F19}" destId="{6FBCBC33-D983-0844-A5B4-6C37B6FD09AC}" srcOrd="0" destOrd="0" presId="urn:microsoft.com/office/officeart/2005/8/layout/default"/>
    <dgm:cxn modelId="{E8D75665-B905-2A45-9904-5AE894AD0008}" type="presParOf" srcId="{67CA6542-98A1-8544-9E2D-6EB11FA0C76E}" destId="{C4D542C9-BECB-0444-BE2E-E19639A475B4}" srcOrd="0" destOrd="0" presId="urn:microsoft.com/office/officeart/2005/8/layout/default"/>
    <dgm:cxn modelId="{07B1A6CB-7C21-2241-8587-160251976696}" type="presParOf" srcId="{67CA6542-98A1-8544-9E2D-6EB11FA0C76E}" destId="{F70245A7-055A-994D-9923-1F3A75DE51EF}" srcOrd="1" destOrd="0" presId="urn:microsoft.com/office/officeart/2005/8/layout/default"/>
    <dgm:cxn modelId="{DFB68024-46D8-9944-863B-CC04E13EA511}" type="presParOf" srcId="{67CA6542-98A1-8544-9E2D-6EB11FA0C76E}" destId="{6FBCBC33-D983-0844-A5B4-6C37B6FD09AC}" srcOrd="2" destOrd="0" presId="urn:microsoft.com/office/officeart/2005/8/layout/default"/>
    <dgm:cxn modelId="{B1AA0724-C612-744F-9892-57E2729E3B71}" type="presParOf" srcId="{67CA6542-98A1-8544-9E2D-6EB11FA0C76E}" destId="{6AC15301-9E2E-6648-8042-C8DFB88CBEB4}" srcOrd="3" destOrd="0" presId="urn:microsoft.com/office/officeart/2005/8/layout/default"/>
    <dgm:cxn modelId="{7D7B1379-187F-AF40-B303-46994B6C1B55}" type="presParOf" srcId="{67CA6542-98A1-8544-9E2D-6EB11FA0C76E}" destId="{53521C4E-CDF0-9D49-ABC2-DE51E20DB029}" srcOrd="4" destOrd="0" presId="urn:microsoft.com/office/officeart/2005/8/layout/default"/>
    <dgm:cxn modelId="{EE7A20EF-EE6A-E144-91F3-694458B471CD}" type="presParOf" srcId="{67CA6542-98A1-8544-9E2D-6EB11FA0C76E}" destId="{796AF50F-4635-DC48-B9C4-9A346A94482C}" srcOrd="5" destOrd="0" presId="urn:microsoft.com/office/officeart/2005/8/layout/default"/>
    <dgm:cxn modelId="{C8A3F041-C841-F142-8491-2CB53780D759}" type="presParOf" srcId="{67CA6542-98A1-8544-9E2D-6EB11FA0C76E}" destId="{75AEE877-BA64-AB4F-967F-0E3485EACEC3}" srcOrd="6" destOrd="0" presId="urn:microsoft.com/office/officeart/2005/8/layout/default"/>
    <dgm:cxn modelId="{7B766740-E217-C048-B3CB-3FCEF41DA29B}" type="presParOf" srcId="{67CA6542-98A1-8544-9E2D-6EB11FA0C76E}" destId="{977377F5-0A99-3948-BF9C-1CF4236273BD}" srcOrd="7" destOrd="0" presId="urn:microsoft.com/office/officeart/2005/8/layout/default"/>
    <dgm:cxn modelId="{2910638C-006E-E846-900B-C0BB30C33A2E}" type="presParOf" srcId="{67CA6542-98A1-8544-9E2D-6EB11FA0C76E}" destId="{4BC4237D-7F51-2944-9836-5DF90B0D83E8}" srcOrd="8" destOrd="0" presId="urn:microsoft.com/office/officeart/2005/8/layout/default"/>
    <dgm:cxn modelId="{4AD8A68B-0AB7-D647-98A8-4989FF3F3B89}" type="presParOf" srcId="{67CA6542-98A1-8544-9E2D-6EB11FA0C76E}" destId="{53E4E09B-494A-C547-88B9-E34269FBCDB5}" srcOrd="9" destOrd="0" presId="urn:microsoft.com/office/officeart/2005/8/layout/default"/>
    <dgm:cxn modelId="{3F15F7AA-5EDA-084F-8E41-B3B834EB0054}" type="presParOf" srcId="{67CA6542-98A1-8544-9E2D-6EB11FA0C76E}" destId="{ED780F3B-AFBB-C546-977A-A76200EDD0F9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A5BF99-66A2-8F46-97DE-9642DDC5254A}">
      <dsp:nvSpPr>
        <dsp:cNvPr id="0" name=""/>
        <dsp:cNvSpPr/>
      </dsp:nvSpPr>
      <dsp:spPr>
        <a:xfrm>
          <a:off x="3550459" y="628630"/>
          <a:ext cx="4851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154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0142" y="671771"/>
        <a:ext cx="25787" cy="5157"/>
      </dsp:txXfrm>
    </dsp:sp>
    <dsp:sp modelId="{CD941164-0550-C244-98F2-97828468E9FB}">
      <dsp:nvSpPr>
        <dsp:cNvPr id="0" name=""/>
        <dsp:cNvSpPr/>
      </dsp:nvSpPr>
      <dsp:spPr>
        <a:xfrm>
          <a:off x="1309847" y="1626"/>
          <a:ext cx="2242411" cy="13454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BIO</a:t>
          </a:r>
        </a:p>
      </dsp:txBody>
      <dsp:txXfrm>
        <a:off x="1309847" y="1626"/>
        <a:ext cx="2242411" cy="1345447"/>
      </dsp:txXfrm>
    </dsp:sp>
    <dsp:sp modelId="{344611F0-BA8C-504A-B653-E241B0C675F8}">
      <dsp:nvSpPr>
        <dsp:cNvPr id="0" name=""/>
        <dsp:cNvSpPr/>
      </dsp:nvSpPr>
      <dsp:spPr>
        <a:xfrm>
          <a:off x="6308625" y="628630"/>
          <a:ext cx="4851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154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38309" y="671771"/>
        <a:ext cx="25787" cy="5157"/>
      </dsp:txXfrm>
    </dsp:sp>
    <dsp:sp modelId="{93BF9320-6E13-634E-B107-D93A645861F6}">
      <dsp:nvSpPr>
        <dsp:cNvPr id="0" name=""/>
        <dsp:cNvSpPr/>
      </dsp:nvSpPr>
      <dsp:spPr>
        <a:xfrm>
          <a:off x="4068014" y="1626"/>
          <a:ext cx="2242411" cy="134544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PROJECT CONTEXT</a:t>
          </a:r>
        </a:p>
      </dsp:txBody>
      <dsp:txXfrm>
        <a:off x="4068014" y="1626"/>
        <a:ext cx="2242411" cy="1345447"/>
      </dsp:txXfrm>
    </dsp:sp>
    <dsp:sp modelId="{B610AB3C-9F7F-0D48-9828-2A65744ED631}">
      <dsp:nvSpPr>
        <dsp:cNvPr id="0" name=""/>
        <dsp:cNvSpPr/>
      </dsp:nvSpPr>
      <dsp:spPr>
        <a:xfrm>
          <a:off x="2431053" y="1345273"/>
          <a:ext cx="5516333" cy="485154"/>
        </a:xfrm>
        <a:custGeom>
          <a:avLst/>
          <a:gdLst/>
          <a:ahLst/>
          <a:cxnLst/>
          <a:rect l="0" t="0" r="0" b="0"/>
          <a:pathLst>
            <a:path>
              <a:moveTo>
                <a:pt x="5516333" y="0"/>
              </a:moveTo>
              <a:lnTo>
                <a:pt x="5516333" y="259677"/>
              </a:lnTo>
              <a:lnTo>
                <a:pt x="0" y="259677"/>
              </a:lnTo>
              <a:lnTo>
                <a:pt x="0" y="485154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710" y="1585272"/>
        <a:ext cx="277019" cy="5157"/>
      </dsp:txXfrm>
    </dsp:sp>
    <dsp:sp modelId="{9A762B4C-9ED1-7244-B9E7-9680E11C0B96}">
      <dsp:nvSpPr>
        <dsp:cNvPr id="0" name=""/>
        <dsp:cNvSpPr/>
      </dsp:nvSpPr>
      <dsp:spPr>
        <a:xfrm>
          <a:off x="6826180" y="1626"/>
          <a:ext cx="2242411" cy="134544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DEFINE</a:t>
          </a:r>
        </a:p>
      </dsp:txBody>
      <dsp:txXfrm>
        <a:off x="6826180" y="1626"/>
        <a:ext cx="2242411" cy="1345447"/>
      </dsp:txXfrm>
    </dsp:sp>
    <dsp:sp modelId="{46C9B94B-4553-1E40-9CBA-AF9B9776C915}">
      <dsp:nvSpPr>
        <dsp:cNvPr id="0" name=""/>
        <dsp:cNvSpPr/>
      </dsp:nvSpPr>
      <dsp:spPr>
        <a:xfrm>
          <a:off x="3550459" y="2489831"/>
          <a:ext cx="4851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154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0142" y="2532973"/>
        <a:ext cx="25787" cy="5157"/>
      </dsp:txXfrm>
    </dsp:sp>
    <dsp:sp modelId="{21993766-B4BA-7C44-B6F7-68A30EA6C067}">
      <dsp:nvSpPr>
        <dsp:cNvPr id="0" name=""/>
        <dsp:cNvSpPr/>
      </dsp:nvSpPr>
      <dsp:spPr>
        <a:xfrm>
          <a:off x="1309847" y="1862828"/>
          <a:ext cx="2242411" cy="134544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DESIGN</a:t>
          </a:r>
        </a:p>
      </dsp:txBody>
      <dsp:txXfrm>
        <a:off x="1309847" y="1862828"/>
        <a:ext cx="2242411" cy="1345447"/>
      </dsp:txXfrm>
    </dsp:sp>
    <dsp:sp modelId="{103D2DFF-9473-F044-A26D-9DC69AFAADB2}">
      <dsp:nvSpPr>
        <dsp:cNvPr id="0" name=""/>
        <dsp:cNvSpPr/>
      </dsp:nvSpPr>
      <dsp:spPr>
        <a:xfrm>
          <a:off x="6308625" y="2489831"/>
          <a:ext cx="4851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154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38309" y="2532973"/>
        <a:ext cx="25787" cy="5157"/>
      </dsp:txXfrm>
    </dsp:sp>
    <dsp:sp modelId="{567FB021-D0E2-9D4E-B3BF-E4B63C962D28}">
      <dsp:nvSpPr>
        <dsp:cNvPr id="0" name=""/>
        <dsp:cNvSpPr/>
      </dsp:nvSpPr>
      <dsp:spPr>
        <a:xfrm>
          <a:off x="4068014" y="1862828"/>
          <a:ext cx="2242411" cy="13454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DELIVER</a:t>
          </a:r>
        </a:p>
      </dsp:txBody>
      <dsp:txXfrm>
        <a:off x="4068014" y="1862828"/>
        <a:ext cx="2242411" cy="1345447"/>
      </dsp:txXfrm>
    </dsp:sp>
    <dsp:sp modelId="{AC3B57FE-619F-F141-91BA-9632EB773C6B}">
      <dsp:nvSpPr>
        <dsp:cNvPr id="0" name=""/>
        <dsp:cNvSpPr/>
      </dsp:nvSpPr>
      <dsp:spPr>
        <a:xfrm>
          <a:off x="6826180" y="1862828"/>
          <a:ext cx="2242411" cy="13454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SUMMARY, CONCLUSION AND NEXT STEPS</a:t>
          </a:r>
        </a:p>
      </dsp:txBody>
      <dsp:txXfrm>
        <a:off x="6826180" y="1862828"/>
        <a:ext cx="2242411" cy="13454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677D50-3187-7148-B3C4-34CFAC10AF8B}">
      <dsp:nvSpPr>
        <dsp:cNvPr id="0" name=""/>
        <dsp:cNvSpPr/>
      </dsp:nvSpPr>
      <dsp:spPr>
        <a:xfrm>
          <a:off x="0" y="233107"/>
          <a:ext cx="10378440" cy="9126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cryptocurrency market has grown significantly over the years. </a:t>
          </a:r>
        </a:p>
      </dsp:txBody>
      <dsp:txXfrm>
        <a:off x="44549" y="277656"/>
        <a:ext cx="10289342" cy="823502"/>
      </dsp:txXfrm>
    </dsp:sp>
    <dsp:sp modelId="{A18B3FAC-C53F-5A4B-BF99-3B17BE6EB56D}">
      <dsp:nvSpPr>
        <dsp:cNvPr id="0" name=""/>
        <dsp:cNvSpPr/>
      </dsp:nvSpPr>
      <dsp:spPr>
        <a:xfrm>
          <a:off x="0" y="1214828"/>
          <a:ext cx="10378440" cy="912600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”Bitcoin has been increasingly regarded as an investment asset” (Chen et al., 2020)</a:t>
          </a:r>
        </a:p>
      </dsp:txBody>
      <dsp:txXfrm>
        <a:off x="44549" y="1259377"/>
        <a:ext cx="10289342" cy="823502"/>
      </dsp:txXfrm>
    </dsp:sp>
    <dsp:sp modelId="{1948C41C-CE11-804E-838E-0B059DD1B403}">
      <dsp:nvSpPr>
        <dsp:cNvPr id="0" name=""/>
        <dsp:cNvSpPr/>
      </dsp:nvSpPr>
      <dsp:spPr>
        <a:xfrm>
          <a:off x="0" y="2196548"/>
          <a:ext cx="10378440" cy="912600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From $127.5 Billion in January 2019 to $1.75 Trillion in May 2021 (in USD) which has increased 13 times over 2 years (CoinMarketCap, 2021). </a:t>
          </a:r>
        </a:p>
      </dsp:txBody>
      <dsp:txXfrm>
        <a:off x="44549" y="2241097"/>
        <a:ext cx="10289342" cy="823502"/>
      </dsp:txXfrm>
    </dsp:sp>
    <dsp:sp modelId="{F1AA31EB-A8F9-5442-A921-F0DFC951A44A}">
      <dsp:nvSpPr>
        <dsp:cNvPr id="0" name=""/>
        <dsp:cNvSpPr/>
      </dsp:nvSpPr>
      <dsp:spPr>
        <a:xfrm>
          <a:off x="0" y="3178267"/>
          <a:ext cx="10378440" cy="91260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For U.S Equity Market Value (in USD), from $30 Trillion in 31/12/2018 to $49 Trillion in 31/3/2021. This is 1.6 times over 2 years (Siblis, 2021). </a:t>
          </a:r>
        </a:p>
      </dsp:txBody>
      <dsp:txXfrm>
        <a:off x="44549" y="3222816"/>
        <a:ext cx="10289342" cy="8235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725C6-A4C6-9C4D-92F6-E66D4C99E8BF}">
      <dsp:nvSpPr>
        <dsp:cNvPr id="0" name=""/>
        <dsp:cNvSpPr/>
      </dsp:nvSpPr>
      <dsp:spPr>
        <a:xfrm>
          <a:off x="0" y="6547"/>
          <a:ext cx="10378440" cy="104246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Cryptocurrency market is a great setting to investigate the market sentiment as there is no fundamental value to the currency. </a:t>
          </a:r>
        </a:p>
      </dsp:txBody>
      <dsp:txXfrm>
        <a:off x="50889" y="57436"/>
        <a:ext cx="10276662" cy="940691"/>
      </dsp:txXfrm>
    </dsp:sp>
    <dsp:sp modelId="{6356459C-F453-6B44-8C46-5CF9D8D5D46E}">
      <dsp:nvSpPr>
        <dsp:cNvPr id="0" name=""/>
        <dsp:cNvSpPr/>
      </dsp:nvSpPr>
      <dsp:spPr>
        <a:xfrm>
          <a:off x="0" y="1083577"/>
          <a:ext cx="10378440" cy="1042469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Bitcoin is a digital currency where no government or central bank backing have much affect on the value of bitcoin, including a nation’s monetary policies, macroeconomic conditions, and inflation and interest rates (Mai, et al., 2018)</a:t>
          </a:r>
        </a:p>
      </dsp:txBody>
      <dsp:txXfrm>
        <a:off x="50889" y="1134466"/>
        <a:ext cx="10276662" cy="940691"/>
      </dsp:txXfrm>
    </dsp:sp>
    <dsp:sp modelId="{F3119C01-DC8E-2F43-B69C-A7B53968682C}">
      <dsp:nvSpPr>
        <dsp:cNvPr id="0" name=""/>
        <dsp:cNvSpPr/>
      </dsp:nvSpPr>
      <dsp:spPr>
        <a:xfrm>
          <a:off x="0" y="2160607"/>
          <a:ext cx="10378440" cy="1042469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Prior studies finds that social media affects the bitcoin’s value (Mai et al., 2018). </a:t>
          </a:r>
        </a:p>
      </dsp:txBody>
      <dsp:txXfrm>
        <a:off x="50889" y="2211496"/>
        <a:ext cx="10276662" cy="940691"/>
      </dsp:txXfrm>
    </dsp:sp>
    <dsp:sp modelId="{9BFAC4C4-5B39-AD4D-94AE-32965CCB1B26}">
      <dsp:nvSpPr>
        <dsp:cNvPr id="0" name=""/>
        <dsp:cNvSpPr/>
      </dsp:nvSpPr>
      <dsp:spPr>
        <a:xfrm>
          <a:off x="0" y="3237636"/>
          <a:ext cx="10378440" cy="104246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Bitcoin is highly speculative investment (SEC, 2021). </a:t>
          </a:r>
        </a:p>
      </dsp:txBody>
      <dsp:txXfrm>
        <a:off x="50889" y="3288525"/>
        <a:ext cx="10276662" cy="9406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A5BF99-66A2-8F46-97DE-9642DDC5254A}">
      <dsp:nvSpPr>
        <dsp:cNvPr id="0" name=""/>
        <dsp:cNvSpPr/>
      </dsp:nvSpPr>
      <dsp:spPr>
        <a:xfrm>
          <a:off x="3550459" y="628630"/>
          <a:ext cx="4851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154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0142" y="671771"/>
        <a:ext cx="25787" cy="5157"/>
      </dsp:txXfrm>
    </dsp:sp>
    <dsp:sp modelId="{CD941164-0550-C244-98F2-97828468E9FB}">
      <dsp:nvSpPr>
        <dsp:cNvPr id="0" name=""/>
        <dsp:cNvSpPr/>
      </dsp:nvSpPr>
      <dsp:spPr>
        <a:xfrm>
          <a:off x="1309847" y="1626"/>
          <a:ext cx="2242411" cy="13454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BIO</a:t>
          </a:r>
        </a:p>
      </dsp:txBody>
      <dsp:txXfrm>
        <a:off x="1309847" y="1626"/>
        <a:ext cx="2242411" cy="1345447"/>
      </dsp:txXfrm>
    </dsp:sp>
    <dsp:sp modelId="{344611F0-BA8C-504A-B653-E241B0C675F8}">
      <dsp:nvSpPr>
        <dsp:cNvPr id="0" name=""/>
        <dsp:cNvSpPr/>
      </dsp:nvSpPr>
      <dsp:spPr>
        <a:xfrm>
          <a:off x="6308625" y="628630"/>
          <a:ext cx="4851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154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38309" y="671771"/>
        <a:ext cx="25787" cy="5157"/>
      </dsp:txXfrm>
    </dsp:sp>
    <dsp:sp modelId="{93BF9320-6E13-634E-B107-D93A645861F6}">
      <dsp:nvSpPr>
        <dsp:cNvPr id="0" name=""/>
        <dsp:cNvSpPr/>
      </dsp:nvSpPr>
      <dsp:spPr>
        <a:xfrm>
          <a:off x="4068014" y="1626"/>
          <a:ext cx="2242411" cy="134544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PROJECT CONTEXT</a:t>
          </a:r>
        </a:p>
      </dsp:txBody>
      <dsp:txXfrm>
        <a:off x="4068014" y="1626"/>
        <a:ext cx="2242411" cy="1345447"/>
      </dsp:txXfrm>
    </dsp:sp>
    <dsp:sp modelId="{B610AB3C-9F7F-0D48-9828-2A65744ED631}">
      <dsp:nvSpPr>
        <dsp:cNvPr id="0" name=""/>
        <dsp:cNvSpPr/>
      </dsp:nvSpPr>
      <dsp:spPr>
        <a:xfrm>
          <a:off x="2431053" y="1345273"/>
          <a:ext cx="5516333" cy="485154"/>
        </a:xfrm>
        <a:custGeom>
          <a:avLst/>
          <a:gdLst/>
          <a:ahLst/>
          <a:cxnLst/>
          <a:rect l="0" t="0" r="0" b="0"/>
          <a:pathLst>
            <a:path>
              <a:moveTo>
                <a:pt x="5516333" y="0"/>
              </a:moveTo>
              <a:lnTo>
                <a:pt x="5516333" y="259677"/>
              </a:lnTo>
              <a:lnTo>
                <a:pt x="0" y="259677"/>
              </a:lnTo>
              <a:lnTo>
                <a:pt x="0" y="485154"/>
              </a:lnTo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710" y="1585272"/>
        <a:ext cx="277019" cy="5157"/>
      </dsp:txXfrm>
    </dsp:sp>
    <dsp:sp modelId="{9A762B4C-9ED1-7244-B9E7-9680E11C0B96}">
      <dsp:nvSpPr>
        <dsp:cNvPr id="0" name=""/>
        <dsp:cNvSpPr/>
      </dsp:nvSpPr>
      <dsp:spPr>
        <a:xfrm>
          <a:off x="6826180" y="1626"/>
          <a:ext cx="2242411" cy="134544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DEFINE</a:t>
          </a:r>
        </a:p>
      </dsp:txBody>
      <dsp:txXfrm>
        <a:off x="6826180" y="1626"/>
        <a:ext cx="2242411" cy="1345447"/>
      </dsp:txXfrm>
    </dsp:sp>
    <dsp:sp modelId="{46C9B94B-4553-1E40-9CBA-AF9B9776C915}">
      <dsp:nvSpPr>
        <dsp:cNvPr id="0" name=""/>
        <dsp:cNvSpPr/>
      </dsp:nvSpPr>
      <dsp:spPr>
        <a:xfrm>
          <a:off x="3550459" y="2489831"/>
          <a:ext cx="4851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154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80142" y="2532973"/>
        <a:ext cx="25787" cy="5157"/>
      </dsp:txXfrm>
    </dsp:sp>
    <dsp:sp modelId="{21993766-B4BA-7C44-B6F7-68A30EA6C067}">
      <dsp:nvSpPr>
        <dsp:cNvPr id="0" name=""/>
        <dsp:cNvSpPr/>
      </dsp:nvSpPr>
      <dsp:spPr>
        <a:xfrm>
          <a:off x="1309847" y="1862828"/>
          <a:ext cx="2242411" cy="1345447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DESIGN</a:t>
          </a:r>
        </a:p>
      </dsp:txBody>
      <dsp:txXfrm>
        <a:off x="1309847" y="1862828"/>
        <a:ext cx="2242411" cy="1345447"/>
      </dsp:txXfrm>
    </dsp:sp>
    <dsp:sp modelId="{103D2DFF-9473-F044-A26D-9DC69AFAADB2}">
      <dsp:nvSpPr>
        <dsp:cNvPr id="0" name=""/>
        <dsp:cNvSpPr/>
      </dsp:nvSpPr>
      <dsp:spPr>
        <a:xfrm>
          <a:off x="6308625" y="2489831"/>
          <a:ext cx="4851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5154" y="45720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38309" y="2532973"/>
        <a:ext cx="25787" cy="5157"/>
      </dsp:txXfrm>
    </dsp:sp>
    <dsp:sp modelId="{567FB021-D0E2-9D4E-B3BF-E4B63C962D28}">
      <dsp:nvSpPr>
        <dsp:cNvPr id="0" name=""/>
        <dsp:cNvSpPr/>
      </dsp:nvSpPr>
      <dsp:spPr>
        <a:xfrm>
          <a:off x="4068014" y="1862828"/>
          <a:ext cx="2242411" cy="134544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DELIVER</a:t>
          </a:r>
        </a:p>
      </dsp:txBody>
      <dsp:txXfrm>
        <a:off x="4068014" y="1862828"/>
        <a:ext cx="2242411" cy="1345447"/>
      </dsp:txXfrm>
    </dsp:sp>
    <dsp:sp modelId="{AC3B57FE-619F-F141-91BA-9632EB773C6B}">
      <dsp:nvSpPr>
        <dsp:cNvPr id="0" name=""/>
        <dsp:cNvSpPr/>
      </dsp:nvSpPr>
      <dsp:spPr>
        <a:xfrm>
          <a:off x="6826180" y="1862828"/>
          <a:ext cx="2242411" cy="13454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880" tIns="115338" rIns="109880" bIns="115338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SUMMARY, CONCLUSION AND NEXT STEPS</a:t>
          </a:r>
        </a:p>
      </dsp:txBody>
      <dsp:txXfrm>
        <a:off x="6826180" y="1862828"/>
        <a:ext cx="2242411" cy="134544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D542C9-BECB-0444-BE2E-E19639A475B4}">
      <dsp:nvSpPr>
        <dsp:cNvPr id="0" name=""/>
        <dsp:cNvSpPr/>
      </dsp:nvSpPr>
      <dsp:spPr>
        <a:xfrm>
          <a:off x="402550" y="1992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Periods from Jan 2020 to May 2021</a:t>
          </a:r>
        </a:p>
      </dsp:txBody>
      <dsp:txXfrm>
        <a:off x="402550" y="1992"/>
        <a:ext cx="3034531" cy="1820718"/>
      </dsp:txXfrm>
    </dsp:sp>
    <dsp:sp modelId="{6FBCBC33-D983-0844-A5B4-6C37B6FD09AC}">
      <dsp:nvSpPr>
        <dsp:cNvPr id="0" name=""/>
        <dsp:cNvSpPr/>
      </dsp:nvSpPr>
      <dsp:spPr>
        <a:xfrm>
          <a:off x="3740534" y="1992"/>
          <a:ext cx="3034531" cy="1820718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 sourced from 4 different data base</a:t>
          </a:r>
        </a:p>
      </dsp:txBody>
      <dsp:txXfrm>
        <a:off x="3740534" y="1992"/>
        <a:ext cx="3034531" cy="1820718"/>
      </dsp:txXfrm>
    </dsp:sp>
    <dsp:sp modelId="{53521C4E-CDF0-9D49-ABC2-DE51E20DB029}">
      <dsp:nvSpPr>
        <dsp:cNvPr id="0" name=""/>
        <dsp:cNvSpPr/>
      </dsp:nvSpPr>
      <dsp:spPr>
        <a:xfrm>
          <a:off x="7078518" y="1992"/>
          <a:ext cx="3034531" cy="1820718"/>
        </a:xfrm>
        <a:prstGeom prst="rect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Twitter API  (tweepy)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Obtain tweets from selected users who are highly influential in bitcoin.</a:t>
          </a:r>
        </a:p>
      </dsp:txBody>
      <dsp:txXfrm>
        <a:off x="7078518" y="1992"/>
        <a:ext cx="3034531" cy="1820718"/>
      </dsp:txXfrm>
    </dsp:sp>
    <dsp:sp modelId="{75AEE877-BA64-AB4F-967F-0E3485EACEC3}">
      <dsp:nvSpPr>
        <dsp:cNvPr id="0" name=""/>
        <dsp:cNvSpPr/>
      </dsp:nvSpPr>
      <dsp:spPr>
        <a:xfrm>
          <a:off x="402550" y="2126164"/>
          <a:ext cx="3034531" cy="1820718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Google Trends (pytrends)</a:t>
          </a:r>
        </a:p>
      </dsp:txBody>
      <dsp:txXfrm>
        <a:off x="402550" y="2126164"/>
        <a:ext cx="3034531" cy="1820718"/>
      </dsp:txXfrm>
    </dsp:sp>
    <dsp:sp modelId="{4BC4237D-7F51-2944-9836-5DF90B0D83E8}">
      <dsp:nvSpPr>
        <dsp:cNvPr id="0" name=""/>
        <dsp:cNvSpPr/>
      </dsp:nvSpPr>
      <dsp:spPr>
        <a:xfrm>
          <a:off x="3740534" y="2126164"/>
          <a:ext cx="3034531" cy="1820718"/>
        </a:xfrm>
        <a:prstGeom prst="rect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Wikipedia page views (pageviewapi)</a:t>
          </a:r>
        </a:p>
      </dsp:txBody>
      <dsp:txXfrm>
        <a:off x="3740534" y="2126164"/>
        <a:ext cx="3034531" cy="1820718"/>
      </dsp:txXfrm>
    </dsp:sp>
    <dsp:sp modelId="{ED780F3B-AFBB-C546-977A-A76200EDD0F9}">
      <dsp:nvSpPr>
        <dsp:cNvPr id="0" name=""/>
        <dsp:cNvSpPr/>
      </dsp:nvSpPr>
      <dsp:spPr>
        <a:xfrm>
          <a:off x="7078518" y="2126164"/>
          <a:ext cx="3034531" cy="1820718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Bitcoin price (CoinBase API (Historic_Crypto))</a:t>
          </a:r>
        </a:p>
      </dsp:txBody>
      <dsp:txXfrm>
        <a:off x="7078518" y="2126164"/>
        <a:ext cx="3034531" cy="1820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970e921306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970e921306_1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970e921306_1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9bc51246fc_0_3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9bc51246fc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9bc51246f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9bc51246fc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9bc51246fc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25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9bc51246f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9bc51246fc_0_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9bc51246fc_0_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81882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9bc51246fc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9bc51246fc_0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9bc51246fc_0_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28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9bc51246fc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9bc51246fc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9bc51246fc_0_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33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/>
        </p:nvSpPr>
        <p:spPr>
          <a:xfrm>
            <a:off x="3735454" y="6356350"/>
            <a:ext cx="4721092" cy="3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© 2019 Institute of Data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1095219" y="6404313"/>
            <a:ext cx="258582" cy="26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 black 1-column">
  <p:cSld name="1_Title and Content black 1-colum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1267261" y="377099"/>
            <a:ext cx="10709835" cy="1016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>
                <a:solidFill>
                  <a:srgbClr val="1D1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1267261" y="1523224"/>
            <a:ext cx="10709835" cy="4721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•"/>
              <a:defRPr sz="2400">
                <a:solidFill>
                  <a:srgbClr val="595959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•"/>
              <a:defRPr sz="2400">
                <a:solidFill>
                  <a:srgbClr val="595959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•"/>
              <a:defRPr sz="2400">
                <a:solidFill>
                  <a:srgbClr val="595959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Char char="•"/>
              <a:defRPr sz="2400">
                <a:solidFill>
                  <a:srgbClr val="595959"/>
                </a:solidFill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167080" y="6334462"/>
            <a:ext cx="425942" cy="485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libri"/>
              <a:buNone/>
              <a:defRPr sz="2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 sz="1200">
              <a:solidFill>
                <a:srgbClr val="888888"/>
              </a:solidFill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159709" y="6244421"/>
            <a:ext cx="514307" cy="477054"/>
          </a:xfrm>
          <a:prstGeom prst="rect">
            <a:avLst/>
          </a:prstGeom>
          <a:solidFill>
            <a:srgbClr val="1D1F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6528"/>
            <a:ext cx="857680" cy="85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/>
        </p:nvSpPr>
        <p:spPr>
          <a:xfrm>
            <a:off x="3735454" y="6356350"/>
            <a:ext cx="4721092" cy="3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© 2019 Institute of Data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utline white 1-column">
  <p:cSld name="Outline white 1-column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50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  <a:defRPr>
                <a:solidFill>
                  <a:srgbClr val="1D1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50" cy="482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5pPr>
            <a:lvl6pPr marL="2743200" lvl="5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marL="3200400" lvl="6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marL="3657600" lvl="7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marL="4114800" lvl="8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>
            <a:endParaRPr/>
          </a:p>
        </p:txBody>
      </p:sp>
      <p:cxnSp>
        <p:nvCxnSpPr>
          <p:cNvPr id="28" name="Google Shape;28;p4"/>
          <p:cNvCxnSpPr/>
          <p:nvPr/>
        </p:nvCxnSpPr>
        <p:spPr>
          <a:xfrm flipH="1">
            <a:off x="2842477" y="276934"/>
            <a:ext cx="1" cy="6296300"/>
          </a:xfrm>
          <a:prstGeom prst="straightConnector1">
            <a:avLst/>
          </a:prstGeom>
          <a:noFill/>
          <a:ln w="38100" cap="flat" cmpd="sng">
            <a:solidFill>
              <a:srgbClr val="FF46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11095216" y="6404312"/>
            <a:ext cx="258585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159709" y="6244421"/>
            <a:ext cx="514307" cy="477054"/>
          </a:xfrm>
          <a:prstGeom prst="rect">
            <a:avLst/>
          </a:prstGeom>
          <a:solidFill>
            <a:srgbClr val="1D1FFF"/>
          </a:solidFill>
          <a:ln>
            <a:noFill/>
          </a:ln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 sz="25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5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39483" y="275093"/>
            <a:ext cx="3158750" cy="145788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735454" y="6356350"/>
            <a:ext cx="4721092" cy="3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© 2019 Institute of Data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1D1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6528"/>
            <a:ext cx="857680" cy="85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AU"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AU"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56528"/>
            <a:ext cx="857680" cy="85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ck Title black">
  <p:cSld name="Slide Deck Title black">
    <p:bg>
      <p:bgPr>
        <a:solidFill>
          <a:schemeClr val="dk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683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>
            <a:off x="924361" y="2743200"/>
            <a:ext cx="10709835" cy="383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400"/>
              <a:buNone/>
              <a:defRPr sz="2400">
                <a:solidFill>
                  <a:srgbClr val="A5A5A5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 sz="2400">
                <a:solidFill>
                  <a:srgbClr val="A5A5A5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 sz="2400">
                <a:solidFill>
                  <a:srgbClr val="A5A5A5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 sz="2400">
                <a:solidFill>
                  <a:srgbClr val="A5A5A5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 sz="2400">
                <a:solidFill>
                  <a:srgbClr val="A5A5A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white 1-column">
  <p:cSld name="Section Title white 1-column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49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49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5" name="Google Shape;95;p14"/>
          <p:cNvCxnSpPr/>
          <p:nvPr/>
        </p:nvCxnSpPr>
        <p:spPr>
          <a:xfrm>
            <a:off x="2842477" y="276934"/>
            <a:ext cx="0" cy="629629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4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black 1-column">
  <p:cSld name="Section Title black 1-column">
    <p:bg>
      <p:bgPr>
        <a:solidFill>
          <a:schemeClr val="dk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49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49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0" name="Google Shape;100;p15"/>
          <p:cNvCxnSpPr/>
          <p:nvPr/>
        </p:nvCxnSpPr>
        <p:spPr>
          <a:xfrm>
            <a:off x="2842477" y="276934"/>
            <a:ext cx="0" cy="6296299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01" name="Google Shape;10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747" y="275499"/>
            <a:ext cx="2152157" cy="201690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white 2-column">
  <p:cSld name="Section Title white 2-colum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49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49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6" name="Google Shape;106;p16"/>
          <p:cNvCxnSpPr/>
          <p:nvPr/>
        </p:nvCxnSpPr>
        <p:spPr>
          <a:xfrm>
            <a:off x="2842477" y="276934"/>
            <a:ext cx="0" cy="629629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black 2-column">
  <p:cSld name="Section Title black 2-column">
    <p:bg>
      <p:bgPr>
        <a:solidFill>
          <a:schemeClr val="dk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3142051" y="275499"/>
            <a:ext cx="8440349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3142051" y="1745524"/>
            <a:ext cx="8440349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11" name="Google Shape;111;p17"/>
          <p:cNvCxnSpPr/>
          <p:nvPr/>
        </p:nvCxnSpPr>
        <p:spPr>
          <a:xfrm>
            <a:off x="2842477" y="276934"/>
            <a:ext cx="0" cy="6296299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hite 1-column">
  <p:cSld name="Title and Content white 1-colum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hite 2-column">
  <p:cSld name="Title and Content white 2-colum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white 3-column">
  <p:cSld name="Title and Content white 3-column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924361" y="275499"/>
            <a:ext cx="10709835" cy="130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body" idx="1"/>
          </p:nvPr>
        </p:nvSpPr>
        <p:spPr>
          <a:xfrm>
            <a:off x="924361" y="1745524"/>
            <a:ext cx="10709835" cy="482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3pPr>
            <a:lvl4pPr marL="1828800" lvl="3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4pPr>
            <a:lvl5pPr marL="2286000" lvl="4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0"/>
          <p:cNvSpPr txBox="1">
            <a:spLocks noGrp="1"/>
          </p:cNvSpPr>
          <p:nvPr>
            <p:ph type="sldNum" idx="12"/>
          </p:nvPr>
        </p:nvSpPr>
        <p:spPr>
          <a:xfrm>
            <a:off x="39841" y="6462998"/>
            <a:ext cx="22576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c.gov/news/public-statement/staff-statement-investing-bitcoin-futures-market" TargetMode="External"/><Relationship Id="rId2" Type="http://schemas.openxmlformats.org/officeDocument/2006/relationships/hyperlink" Target="https://coinmarketcap.com/charts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iblisresearch.com/data/us-stock-market-value/" TargetMode="Externa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/>
        </p:nvSpPr>
        <p:spPr>
          <a:xfrm>
            <a:off x="3752267" y="4705060"/>
            <a:ext cx="4721093" cy="101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-AU" sz="6000">
                <a:solidFill>
                  <a:schemeClr val="dk1"/>
                </a:solidFill>
              </a:rPr>
              <a:t>21</a:t>
            </a:r>
            <a:endParaRPr sz="60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chemeClr val="dk1"/>
              </a:solidFill>
            </a:endParaRPr>
          </a:p>
        </p:txBody>
      </p:sp>
      <p:cxnSp>
        <p:nvCxnSpPr>
          <p:cNvPr id="130" name="Google Shape;130;p21"/>
          <p:cNvCxnSpPr/>
          <p:nvPr/>
        </p:nvCxnSpPr>
        <p:spPr>
          <a:xfrm>
            <a:off x="4044088" y="4565536"/>
            <a:ext cx="4149912" cy="13676"/>
          </a:xfrm>
          <a:prstGeom prst="straightConnector1">
            <a:avLst/>
          </a:prstGeom>
          <a:noFill/>
          <a:ln w="28575" cap="flat" cmpd="sng">
            <a:solidFill>
              <a:srgbClr val="FF460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1" name="Google Shape;131;p21"/>
          <p:cNvSpPr txBox="1"/>
          <p:nvPr/>
        </p:nvSpPr>
        <p:spPr>
          <a:xfrm>
            <a:off x="159707" y="6244421"/>
            <a:ext cx="524439" cy="485137"/>
          </a:xfrm>
          <a:prstGeom prst="rect">
            <a:avLst/>
          </a:prstGeom>
          <a:solidFill>
            <a:srgbClr val="1D1FFF"/>
          </a:solidFill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id="132" name="Google Shape;13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1800" y="1514960"/>
            <a:ext cx="5918414" cy="2731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body" idx="1"/>
          </p:nvPr>
        </p:nvSpPr>
        <p:spPr>
          <a:xfrm>
            <a:off x="3280626" y="899949"/>
            <a:ext cx="8440500" cy="48276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AU" sz="36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Biography</a:t>
            </a:r>
            <a:endParaRPr sz="36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36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endParaRPr lang="en-AU" dirty="0">
              <a:solidFill>
                <a:srgbClr val="0C0C0C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endParaRPr lang="en-AU" dirty="0">
              <a:solidFill>
                <a:srgbClr val="0C0C0C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endParaRPr lang="en-AU" dirty="0">
              <a:solidFill>
                <a:srgbClr val="0C0C0C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endParaRPr lang="en-AU" dirty="0">
              <a:solidFill>
                <a:srgbClr val="0C0C0C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endParaRPr lang="en-AU" dirty="0">
              <a:solidFill>
                <a:srgbClr val="0C0C0C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endParaRPr lang="en-AU" dirty="0">
              <a:solidFill>
                <a:srgbClr val="0C0C0C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endParaRPr lang="en-AU" dirty="0">
              <a:solidFill>
                <a:srgbClr val="0C0C0C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endParaRPr lang="en-AU" dirty="0">
              <a:solidFill>
                <a:srgbClr val="0C0C0C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r>
              <a:rPr lang="en-AU" dirty="0">
                <a:solidFill>
                  <a:srgbClr val="0C0C0C"/>
                </a:solidFill>
              </a:rPr>
              <a:t>Degree in Accounting and Finance</a:t>
            </a:r>
            <a:endParaRPr dirty="0">
              <a:solidFill>
                <a:srgbClr val="0C0C0C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Char char="●"/>
            </a:pPr>
            <a:r>
              <a:rPr lang="en-AU" dirty="0">
                <a:solidFill>
                  <a:srgbClr val="0C0C0C"/>
                </a:solidFill>
              </a:rPr>
              <a:t>Experience - data analyst and research analyst</a:t>
            </a:r>
            <a:endParaRPr dirty="0">
              <a:solidFill>
                <a:srgbClr val="0C0C0C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36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p30"/>
          <p:cNvSpPr txBox="1">
            <a:spLocks noGrp="1"/>
          </p:cNvSpPr>
          <p:nvPr>
            <p:ph type="sldNum" idx="12"/>
          </p:nvPr>
        </p:nvSpPr>
        <p:spPr>
          <a:xfrm>
            <a:off x="11095216" y="6404312"/>
            <a:ext cx="258600" cy="269100"/>
          </a:xfrm>
          <a:prstGeom prst="rect">
            <a:avLst/>
          </a:prstGeom>
        </p:spPr>
        <p:txBody>
          <a:bodyPr spcFirstLastPara="1" wrap="square" lIns="45675" tIns="45675" rIns="45675" bIns="456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AU"/>
              <a:t>2</a:t>
            </a:fld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3280625" y="4930750"/>
            <a:ext cx="63738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 descr="A picture containing sky, water, outdoor, person&#10;&#10;Description automatically generated">
            <a:extLst>
              <a:ext uri="{FF2B5EF4-FFF2-40B4-BE49-F238E27FC236}">
                <a16:creationId xmlns:a16="http://schemas.microsoft.com/office/drawing/2014/main" id="{46EEF939-9CC4-4344-8678-AF96AC230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826" y="1169100"/>
            <a:ext cx="2832100" cy="3492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>
            <a:spLocks noGrp="1"/>
          </p:cNvSpPr>
          <p:nvPr>
            <p:ph type="title"/>
          </p:nvPr>
        </p:nvSpPr>
        <p:spPr>
          <a:xfrm>
            <a:off x="729450" y="1835400"/>
            <a:ext cx="10733100" cy="31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6000" dirty="0">
                <a:solidFill>
                  <a:srgbClr val="0000FF"/>
                </a:solidFill>
              </a:rPr>
              <a:t>Prediction of Bitcoin price using social media</a:t>
            </a:r>
            <a:br>
              <a:rPr lang="en-AU" sz="6000" dirty="0">
                <a:solidFill>
                  <a:srgbClr val="0000FF"/>
                </a:solidFill>
              </a:rPr>
            </a:br>
            <a:endParaRPr sz="6000" dirty="0">
              <a:solidFill>
                <a:srgbClr val="0000FF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AU" sz="3200" dirty="0">
                <a:solidFill>
                  <a:srgbClr val="0000FF"/>
                </a:solidFill>
              </a:rPr>
              <a:t>Capstone Project</a:t>
            </a:r>
            <a:endParaRPr sz="3200" dirty="0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dirty="0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 dirty="0">
              <a:solidFill>
                <a:srgbClr val="0000FF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BADD"/>
              </a:buClr>
              <a:buSzPts val="4400"/>
              <a:buFont typeface="Calibri"/>
              <a:buNone/>
            </a:pPr>
            <a:r>
              <a:rPr lang="en-AU" sz="3200" dirty="0" err="1">
                <a:solidFill>
                  <a:srgbClr val="0000FF"/>
                </a:solidFill>
              </a:rPr>
              <a:t>Jin</a:t>
            </a:r>
            <a:r>
              <a:rPr lang="en-AU" sz="3200" dirty="0">
                <a:solidFill>
                  <a:srgbClr val="0000FF"/>
                </a:solidFill>
              </a:rPr>
              <a:t> Yang</a:t>
            </a: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1985-39F4-2A45-8E7D-5315CBBEE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AGENDA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57620415-D0E0-438C-A9AA-9A69B4C32D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3240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D602-3175-EB48-8C5A-0F0C251FB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PROJECT CONTEXT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47E455-603A-4F45-8B78-EA1D898303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3850400"/>
              </p:ext>
            </p:extLst>
          </p:nvPr>
        </p:nvGraphicFramePr>
        <p:xfrm>
          <a:off x="904602" y="1903445"/>
          <a:ext cx="10378440" cy="4323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8770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29276-8CF3-FE47-8978-6780F4C7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CONTEXT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B64D3-F5E3-3E4A-9E3F-7C5E2E6B0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4D93E-92F6-6E4C-A1FD-3E071F7CDA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6</a:t>
            </a:fld>
            <a:endParaRPr lang="en-AU"/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608449D-02AE-5A43-BD0C-47621A140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45" y="0"/>
            <a:ext cx="105933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260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04BC9-BBB4-1A4A-9DBC-A7116475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49916-BC0A-7C40-9999-66387674E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24D89-B9D7-CD42-A3B5-AB696AE10B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7</a:t>
            </a:fld>
            <a:endParaRPr lang="en-AU"/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46C47526-EB89-F146-BB2F-3AF1AE993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45" y="3287330"/>
            <a:ext cx="8158077" cy="1918800"/>
          </a:xfrm>
          <a:prstGeom prst="rect">
            <a:avLst/>
          </a:prstGeom>
        </p:spPr>
      </p:pic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BEE647B-232C-664C-8F4C-230CA9059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888" y="1955095"/>
            <a:ext cx="8242300" cy="1549400"/>
          </a:xfrm>
          <a:prstGeom prst="rect">
            <a:avLst/>
          </a:prstGeom>
        </p:spPr>
      </p:pic>
      <p:pic>
        <p:nvPicPr>
          <p:cNvPr id="10" name="Picture 9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471ECEB1-4287-624D-B96A-65D466C98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7901" y="5009813"/>
            <a:ext cx="8064500" cy="1663700"/>
          </a:xfrm>
          <a:prstGeom prst="rect">
            <a:avLst/>
          </a:prstGeom>
        </p:spPr>
      </p:pic>
      <p:pic>
        <p:nvPicPr>
          <p:cNvPr id="12" name="Picture 11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72CFDD07-3E6E-294E-8431-B71144460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5510" y="296147"/>
            <a:ext cx="8039100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112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04BC9-BBB4-1A4A-9DBC-A7116475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349916-BC0A-7C40-9999-66387674E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24D89-B9D7-CD42-A3B5-AB696AE10B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8</a:t>
            </a:fld>
            <a:endParaRPr lang="en-AU"/>
          </a:p>
        </p:txBody>
      </p:sp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B65FB56-7D14-CF4C-8193-A1D5CCDC4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58" y="1917883"/>
            <a:ext cx="8001000" cy="1676400"/>
          </a:xfrm>
          <a:prstGeom prst="rect">
            <a:avLst/>
          </a:prstGeom>
        </p:spPr>
      </p:pic>
      <p:pic>
        <p:nvPicPr>
          <p:cNvPr id="11" name="Picture 10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921128AE-9928-C441-B1A6-E5BB0DC68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99" y="3084987"/>
            <a:ext cx="7899400" cy="1574800"/>
          </a:xfrm>
          <a:prstGeom prst="rect">
            <a:avLst/>
          </a:prstGeom>
        </p:spPr>
      </p:pic>
      <p:pic>
        <p:nvPicPr>
          <p:cNvPr id="14" name="Picture 1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75126FE-3F41-FC4C-BCB9-A38F4C856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016" y="176235"/>
            <a:ext cx="8077200" cy="1879600"/>
          </a:xfrm>
          <a:prstGeom prst="rect">
            <a:avLst/>
          </a:prstGeom>
        </p:spPr>
      </p:pic>
      <p:pic>
        <p:nvPicPr>
          <p:cNvPr id="16" name="Picture 1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48679250-18DF-9841-893E-765B9FEF09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6430" y="3942509"/>
            <a:ext cx="8116364" cy="1674000"/>
          </a:xfrm>
          <a:prstGeom prst="rect">
            <a:avLst/>
          </a:prstGeom>
        </p:spPr>
      </p:pic>
      <p:pic>
        <p:nvPicPr>
          <p:cNvPr id="18" name="Picture 17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C566ACC7-391C-B544-B1AE-539B66AC6B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566" y="5114247"/>
            <a:ext cx="7988300" cy="16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732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E8AD5-A24D-B148-B074-815E1AC0D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PROJECT CONTEXT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C559A4-FD2C-4A4A-BCDC-2B157D4130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1596389"/>
              </p:ext>
            </p:extLst>
          </p:nvPr>
        </p:nvGraphicFramePr>
        <p:xfrm>
          <a:off x="904602" y="1940767"/>
          <a:ext cx="10378440" cy="4286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5483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0F66-9E96-8542-BFFC-F4CE35C52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QUESTION AND DATA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D4140-909D-AB47-996E-2B44C87D0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1" dirty="0"/>
              <a:t>Business Question: </a:t>
            </a:r>
          </a:p>
          <a:p>
            <a:r>
              <a:rPr lang="en-US" sz="2800" dirty="0"/>
              <a:t>Can we predict cryptocurrency price (Bitcoin) and improve investment risk management using social media? </a:t>
            </a:r>
          </a:p>
          <a:p>
            <a:endParaRPr lang="en-US" sz="2800" dirty="0"/>
          </a:p>
          <a:p>
            <a:r>
              <a:rPr lang="en-US" sz="2800" b="1" dirty="0"/>
              <a:t>Data Question:</a:t>
            </a:r>
          </a:p>
          <a:p>
            <a:r>
              <a:rPr lang="en-US" sz="2800" dirty="0"/>
              <a:t>Can we develop a model to predict Bitcoin price? Which of the information from different social media is better at explaining the variation in Bitcoin price? </a:t>
            </a:r>
          </a:p>
          <a:p>
            <a:endParaRPr lang="en-US" sz="2800" dirty="0"/>
          </a:p>
          <a:p>
            <a:r>
              <a:rPr lang="en-US" sz="2800" dirty="0"/>
              <a:t>The focus of this analysis is on bitcoin (BTC-USD)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EF03B-3F35-C84D-8BA2-148BB9EEF1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10</a:t>
            </a:fld>
            <a:endParaRPr lang="en-AU" sz="1200">
              <a:solidFill>
                <a:srgbClr val="88888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182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B1985-39F4-2A45-8E7D-5315CBBEE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AGENDA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57620415-D0E0-438C-A9AA-9A69B4C32D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21440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F68E-1E63-DC48-A486-48BF54C9A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DATA SOURCE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C92E35-D98B-462E-ACF5-5BC223ECB3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6466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A91A-E489-B74B-AE4F-AAE4C83CA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Twitter Sentiment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EB310-0872-834E-AF26-8CC16ABD4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33400" lvl="1" indent="0">
              <a:buNone/>
            </a:pPr>
            <a:endParaRPr lang="en-US" dirty="0"/>
          </a:p>
          <a:p>
            <a:pPr marL="533400" lvl="1" indent="0">
              <a:buNone/>
            </a:pPr>
            <a:endParaRPr lang="en-US" dirty="0"/>
          </a:p>
          <a:p>
            <a:pPr marL="533400" lvl="1" indent="0">
              <a:buNone/>
            </a:pPr>
            <a:endParaRPr lang="en-US" dirty="0"/>
          </a:p>
          <a:p>
            <a:pPr marL="533400" lvl="1" indent="0">
              <a:buNone/>
            </a:pPr>
            <a:endParaRPr lang="en-US" dirty="0"/>
          </a:p>
          <a:p>
            <a:pPr marL="533400" lvl="1" indent="0">
              <a:buNone/>
            </a:pPr>
            <a:endParaRPr lang="en-US" dirty="0"/>
          </a:p>
          <a:p>
            <a:pPr marL="533400" lvl="1" indent="0">
              <a:buNone/>
            </a:pPr>
            <a:endParaRPr lang="en-US" dirty="0"/>
          </a:p>
          <a:p>
            <a:pPr marL="533400" lvl="1" indent="0">
              <a:buNone/>
            </a:pPr>
            <a:endParaRPr lang="en-US" dirty="0"/>
          </a:p>
          <a:p>
            <a:pPr marL="533400" lvl="1" indent="0">
              <a:buNone/>
            </a:pPr>
            <a:endParaRPr lang="en-US" dirty="0"/>
          </a:p>
          <a:p>
            <a:pPr marL="533400" lvl="1" indent="0">
              <a:buNone/>
            </a:pPr>
            <a:endParaRPr lang="en-US" dirty="0"/>
          </a:p>
          <a:p>
            <a:pPr marL="533400" lvl="1" indent="0">
              <a:buNone/>
            </a:pPr>
            <a:r>
              <a:rPr lang="en-US" sz="1600" dirty="0"/>
              <a:t>Obtained 12,925 tweets from 8 users</a:t>
            </a:r>
          </a:p>
          <a:p>
            <a:pPr marL="533400" lvl="1" indent="0">
              <a:buNone/>
            </a:pPr>
            <a:r>
              <a:rPr lang="en-AU" sz="1600" dirty="0"/>
              <a:t>'</a:t>
            </a:r>
            <a:r>
              <a:rPr lang="en-AU" sz="1600" dirty="0" err="1"/>
              <a:t>APompliano</a:t>
            </a:r>
            <a:r>
              <a:rPr lang="en-AU" sz="1600" dirty="0"/>
              <a:t>', '</a:t>
            </a:r>
            <a:r>
              <a:rPr lang="en-AU" sz="1600" dirty="0" err="1"/>
              <a:t>DocumentingBTC</a:t>
            </a:r>
            <a:r>
              <a:rPr lang="en-AU" sz="1600" dirty="0"/>
              <a:t>', '</a:t>
            </a:r>
            <a:r>
              <a:rPr lang="en-AU" sz="1600" dirty="0" err="1"/>
              <a:t>scottmelker</a:t>
            </a:r>
            <a:r>
              <a:rPr lang="en-AU" sz="1600" dirty="0"/>
              <a:t>', '</a:t>
            </a:r>
            <a:r>
              <a:rPr lang="en-AU" sz="1600" dirty="0" err="1"/>
              <a:t>brian_armstrong</a:t>
            </a:r>
            <a:r>
              <a:rPr lang="en-AU" sz="1600" dirty="0"/>
              <a:t>', '</a:t>
            </a:r>
            <a:r>
              <a:rPr lang="en-AU" sz="1600" dirty="0" err="1"/>
              <a:t>cameron</a:t>
            </a:r>
            <a:r>
              <a:rPr lang="en-AU" sz="1600" dirty="0"/>
              <a:t>', '</a:t>
            </a:r>
            <a:r>
              <a:rPr lang="en-AU" sz="1600" dirty="0" err="1"/>
              <a:t>tyler</a:t>
            </a:r>
            <a:r>
              <a:rPr lang="en-AU" sz="1600" dirty="0"/>
              <a:t>', '</a:t>
            </a:r>
            <a:r>
              <a:rPr lang="en-AU" sz="1600" dirty="0" err="1"/>
              <a:t>michael_saylor</a:t>
            </a:r>
            <a:r>
              <a:rPr lang="en-AU" sz="1600" dirty="0"/>
              <a:t>', 'Bitcoin’</a:t>
            </a:r>
          </a:p>
          <a:p>
            <a:pPr marL="533400" lvl="1" indent="0">
              <a:buNone/>
            </a:pPr>
            <a:endParaRPr lang="en-US" sz="1600" dirty="0"/>
          </a:p>
          <a:p>
            <a:pPr marL="533400" lvl="1" indent="0">
              <a:buNone/>
            </a:pP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F458E-D3D0-284A-ADD5-AEF4A4173E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67080" y="5932936"/>
            <a:ext cx="425942" cy="485101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z="2800" smtClean="0"/>
              <a:t>13</a:t>
            </a:fld>
            <a:endParaRPr lang="en-AU" sz="1400">
              <a:solidFill>
                <a:srgbClr val="888888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3698820-E93A-6143-AA22-A6B484699B1C}"/>
              </a:ext>
            </a:extLst>
          </p:cNvPr>
          <p:cNvSpPr/>
          <p:nvPr/>
        </p:nvSpPr>
        <p:spPr>
          <a:xfrm>
            <a:off x="4646645" y="1393100"/>
            <a:ext cx="2911151" cy="3545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Text Processing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1F10B91-656F-1F46-862A-666E1838D65E}"/>
              </a:ext>
            </a:extLst>
          </p:cNvPr>
          <p:cNvSpPr/>
          <p:nvPr/>
        </p:nvSpPr>
        <p:spPr>
          <a:xfrm>
            <a:off x="1586202" y="2406282"/>
            <a:ext cx="2911151" cy="6299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Remove  URLs, retweets, hashtags &amp; punctuations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05E42E-A0D2-8947-B0FB-250C8166072A}"/>
              </a:ext>
            </a:extLst>
          </p:cNvPr>
          <p:cNvSpPr/>
          <p:nvPr/>
        </p:nvSpPr>
        <p:spPr>
          <a:xfrm>
            <a:off x="4727510" y="2406281"/>
            <a:ext cx="2911151" cy="47425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Remove emojis &amp; emoticons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825DB7-A3EB-B945-A133-50E1EEE09DE0}"/>
              </a:ext>
            </a:extLst>
          </p:cNvPr>
          <p:cNvSpPr/>
          <p:nvPr/>
        </p:nvSpPr>
        <p:spPr>
          <a:xfrm>
            <a:off x="8013588" y="2377582"/>
            <a:ext cx="2911151" cy="3545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Remove stop words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9E753CA-6EBB-724F-A104-88DCB420077B}"/>
              </a:ext>
            </a:extLst>
          </p:cNvPr>
          <p:cNvSpPr/>
          <p:nvPr/>
        </p:nvSpPr>
        <p:spPr>
          <a:xfrm>
            <a:off x="4727509" y="3311664"/>
            <a:ext cx="2911151" cy="3545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Lemmatization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10FD5B5-C306-5E4A-9D22-6D7BF5C61029}"/>
              </a:ext>
            </a:extLst>
          </p:cNvPr>
          <p:cNvSpPr/>
          <p:nvPr/>
        </p:nvSpPr>
        <p:spPr>
          <a:xfrm>
            <a:off x="4727509" y="4077877"/>
            <a:ext cx="2911151" cy="3545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Sentiment analysis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727CCE1-323F-EA46-A253-F26FE6B89C52}"/>
              </a:ext>
            </a:extLst>
          </p:cNvPr>
          <p:cNvSpPr/>
          <p:nvPr/>
        </p:nvSpPr>
        <p:spPr>
          <a:xfrm>
            <a:off x="4727508" y="4844090"/>
            <a:ext cx="2911151" cy="6299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Collapse to daily data for merging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623CDFA-270A-E64D-8BD1-A1B0EB0721EA}"/>
              </a:ext>
            </a:extLst>
          </p:cNvPr>
          <p:cNvCxnSpPr/>
          <p:nvPr/>
        </p:nvCxnSpPr>
        <p:spPr>
          <a:xfrm>
            <a:off x="6096000" y="1747663"/>
            <a:ext cx="0" cy="629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7BFE56-7CA0-DA40-9CD2-60EA008FB4C8}"/>
              </a:ext>
            </a:extLst>
          </p:cNvPr>
          <p:cNvCxnSpPr>
            <a:cxnSpLocks/>
          </p:cNvCxnSpPr>
          <p:nvPr/>
        </p:nvCxnSpPr>
        <p:spPr>
          <a:xfrm>
            <a:off x="6096000" y="2814011"/>
            <a:ext cx="0" cy="426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82DD56-2BDF-F64C-8E83-FD41125BE03B}"/>
              </a:ext>
            </a:extLst>
          </p:cNvPr>
          <p:cNvCxnSpPr>
            <a:cxnSpLocks/>
          </p:cNvCxnSpPr>
          <p:nvPr/>
        </p:nvCxnSpPr>
        <p:spPr>
          <a:xfrm>
            <a:off x="7536025" y="1776362"/>
            <a:ext cx="1328057" cy="6012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263E56B-0E12-3847-A6E2-D0F8415A2645}"/>
              </a:ext>
            </a:extLst>
          </p:cNvPr>
          <p:cNvCxnSpPr>
            <a:cxnSpLocks/>
          </p:cNvCxnSpPr>
          <p:nvPr/>
        </p:nvCxnSpPr>
        <p:spPr>
          <a:xfrm flipH="1">
            <a:off x="3881535" y="1747663"/>
            <a:ext cx="845973" cy="629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72DB513-F992-244A-B3B8-A411A46323DF}"/>
              </a:ext>
            </a:extLst>
          </p:cNvPr>
          <p:cNvCxnSpPr>
            <a:cxnSpLocks/>
          </p:cNvCxnSpPr>
          <p:nvPr/>
        </p:nvCxnSpPr>
        <p:spPr>
          <a:xfrm flipH="1">
            <a:off x="7638659" y="2681745"/>
            <a:ext cx="1222313" cy="629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7E63429-D075-A14E-ABEC-1DFC35E047C6}"/>
              </a:ext>
            </a:extLst>
          </p:cNvPr>
          <p:cNvCxnSpPr>
            <a:cxnSpLocks/>
          </p:cNvCxnSpPr>
          <p:nvPr/>
        </p:nvCxnSpPr>
        <p:spPr>
          <a:xfrm>
            <a:off x="3893976" y="2925977"/>
            <a:ext cx="752669" cy="516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210CD27-826E-B142-9D2A-9B98C1CEAACC}"/>
              </a:ext>
            </a:extLst>
          </p:cNvPr>
          <p:cNvCxnSpPr>
            <a:cxnSpLocks/>
          </p:cNvCxnSpPr>
          <p:nvPr/>
        </p:nvCxnSpPr>
        <p:spPr>
          <a:xfrm>
            <a:off x="6111551" y="3650951"/>
            <a:ext cx="0" cy="426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5B44FC-6803-9448-BE67-2D1FE9B801E4}"/>
              </a:ext>
            </a:extLst>
          </p:cNvPr>
          <p:cNvCxnSpPr>
            <a:cxnSpLocks/>
          </p:cNvCxnSpPr>
          <p:nvPr/>
        </p:nvCxnSpPr>
        <p:spPr>
          <a:xfrm>
            <a:off x="6111551" y="4417164"/>
            <a:ext cx="0" cy="426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909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CFBE6-4593-DB4D-8A1B-88D8FA51D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words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913CF-0F8B-804C-8117-5F5BD6490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1C74C-327C-E44B-B9B1-63FE9698D3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14</a:t>
            </a:fld>
            <a:endParaRPr lang="en-AU" sz="1200">
              <a:solidFill>
                <a:srgbClr val="888888"/>
              </a:solidFill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BC0C8938-7B0D-194D-858B-453308FC6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9807" y="1107557"/>
            <a:ext cx="8098989" cy="529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977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C251E-E03E-C941-B79B-293E3D89E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F0C3F-9E81-ED48-B5DD-D978D23AC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FCC66-3EB4-8140-9F64-E53D084859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15</a:t>
            </a:fld>
            <a:endParaRPr lang="en-AU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3C257B9-18E5-EB47-A712-559AF3445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143" y="365125"/>
            <a:ext cx="7874129" cy="639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633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303A-4F75-404C-8F4A-973CDDDF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9EE0E-3634-1447-960B-5256906AB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AAB4-1345-484A-8D05-CF38375D9D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16</a:t>
            </a:fld>
            <a:endParaRPr lang="en-AU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030E4CD-84A6-714B-8F3A-6E693C7D7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95250"/>
            <a:ext cx="9982200" cy="666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5478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303A-4F75-404C-8F4A-973CDDDF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9EE0E-3634-1447-960B-5256906AB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AAB4-1345-484A-8D05-CF38375D9D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17</a:t>
            </a:fld>
            <a:endParaRPr lang="en-AU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692F604-FCAF-5043-A170-18A470ACD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2350" y="228600"/>
            <a:ext cx="101473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396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303A-4F75-404C-8F4A-973CDDDF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9EE0E-3634-1447-960B-5256906AB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AAB4-1345-484A-8D05-CF38375D9D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18</a:t>
            </a:fld>
            <a:endParaRPr lang="en-AU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AEC40A6-DC39-7446-9847-583D76104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28600"/>
            <a:ext cx="100584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3006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A872-48C0-5248-A838-E27AEA58A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AEC9E-D83F-F04F-8892-FAB88AB79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 short-term memory (LSTM)</a:t>
            </a:r>
          </a:p>
          <a:p>
            <a:pPr lvl="1"/>
            <a:r>
              <a:rPr lang="en-US" dirty="0"/>
              <a:t>3 days timesteps</a:t>
            </a:r>
          </a:p>
          <a:p>
            <a:r>
              <a:rPr lang="en-US" dirty="0"/>
              <a:t>Other models</a:t>
            </a:r>
          </a:p>
          <a:p>
            <a:pPr lvl="1"/>
            <a:r>
              <a:rPr lang="en-US" dirty="0"/>
              <a:t>Random Forest</a:t>
            </a:r>
          </a:p>
          <a:p>
            <a:pPr lvl="1"/>
            <a:r>
              <a:rPr lang="en-US" dirty="0"/>
              <a:t>Linear regression</a:t>
            </a:r>
          </a:p>
          <a:p>
            <a:pPr lvl="1"/>
            <a:r>
              <a:rPr lang="en-US" dirty="0"/>
              <a:t>Lasso regression</a:t>
            </a:r>
          </a:p>
          <a:p>
            <a:pPr lvl="1"/>
            <a:r>
              <a:rPr lang="en-US" dirty="0"/>
              <a:t>Decision Tree Regressor</a:t>
            </a:r>
          </a:p>
          <a:p>
            <a:pPr lvl="1"/>
            <a:r>
              <a:rPr lang="en-US" dirty="0" err="1"/>
              <a:t>Kneighbors</a:t>
            </a:r>
            <a:r>
              <a:rPr lang="en-US" dirty="0"/>
              <a:t> Regressor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ABCB9-C978-C045-BC57-EFE48D90DE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8850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303A-4F75-404C-8F4A-973CDDDF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9EE0E-3634-1447-960B-5256906AB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AAB4-1345-484A-8D05-CF38375D9D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20</a:t>
            </a:fld>
            <a:endParaRPr lang="en-AU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811495BA-5FB9-5448-B009-CBBD7A76D8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413"/>
            <a:ext cx="12192000" cy="660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95275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303A-4F75-404C-8F4A-973CDDDF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9EE0E-3634-1447-960B-5256906AB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AAB4-1345-484A-8D05-CF38375D9D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21</a:t>
            </a:fld>
            <a:endParaRPr lang="en-AU"/>
          </a:p>
        </p:txBody>
      </p:sp>
      <p:pic>
        <p:nvPicPr>
          <p:cNvPr id="11270" name="Picture 6">
            <a:extLst>
              <a:ext uri="{FF2B5EF4-FFF2-40B4-BE49-F238E27FC236}">
                <a16:creationId xmlns:a16="http://schemas.microsoft.com/office/drawing/2014/main" id="{8362555A-1ED1-804B-B9A2-D9A64EE11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413"/>
            <a:ext cx="12192000" cy="660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716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B7D43-E623-1F4D-A010-2F7DDE074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LSTM predictions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46B806F-AB4B-8E4E-903F-C5E986ADD2C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rgbClr val="1D1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/>
              <a:t>LSTM predictions</a:t>
            </a:r>
            <a:endParaRPr lang="en-US" sz="54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27B00D7-BD51-1748-BF77-715EBA7B7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269880"/>
              </p:ext>
            </p:extLst>
          </p:nvPr>
        </p:nvGraphicFramePr>
        <p:xfrm>
          <a:off x="643467" y="1937567"/>
          <a:ext cx="10905069" cy="38695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5334">
                  <a:extLst>
                    <a:ext uri="{9D8B030D-6E8A-4147-A177-3AD203B41FA5}">
                      <a16:colId xmlns:a16="http://schemas.microsoft.com/office/drawing/2014/main" val="4219144379"/>
                    </a:ext>
                  </a:extLst>
                </a:gridCol>
                <a:gridCol w="1274350">
                  <a:extLst>
                    <a:ext uri="{9D8B030D-6E8A-4147-A177-3AD203B41FA5}">
                      <a16:colId xmlns:a16="http://schemas.microsoft.com/office/drawing/2014/main" val="2415256932"/>
                    </a:ext>
                  </a:extLst>
                </a:gridCol>
                <a:gridCol w="1162580">
                  <a:extLst>
                    <a:ext uri="{9D8B030D-6E8A-4147-A177-3AD203B41FA5}">
                      <a16:colId xmlns:a16="http://schemas.microsoft.com/office/drawing/2014/main" val="3230427797"/>
                    </a:ext>
                  </a:extLst>
                </a:gridCol>
                <a:gridCol w="2518619">
                  <a:extLst>
                    <a:ext uri="{9D8B030D-6E8A-4147-A177-3AD203B41FA5}">
                      <a16:colId xmlns:a16="http://schemas.microsoft.com/office/drawing/2014/main" val="214225989"/>
                    </a:ext>
                  </a:extLst>
                </a:gridCol>
                <a:gridCol w="1238062">
                  <a:extLst>
                    <a:ext uri="{9D8B030D-6E8A-4147-A177-3AD203B41FA5}">
                      <a16:colId xmlns:a16="http://schemas.microsoft.com/office/drawing/2014/main" val="1654467961"/>
                    </a:ext>
                  </a:extLst>
                </a:gridCol>
                <a:gridCol w="1238062">
                  <a:extLst>
                    <a:ext uri="{9D8B030D-6E8A-4147-A177-3AD203B41FA5}">
                      <a16:colId xmlns:a16="http://schemas.microsoft.com/office/drawing/2014/main" val="1796479389"/>
                    </a:ext>
                  </a:extLst>
                </a:gridCol>
                <a:gridCol w="1238062">
                  <a:extLst>
                    <a:ext uri="{9D8B030D-6E8A-4147-A177-3AD203B41FA5}">
                      <a16:colId xmlns:a16="http://schemas.microsoft.com/office/drawing/2014/main" val="1392349870"/>
                    </a:ext>
                  </a:extLst>
                </a:gridCol>
              </a:tblGrid>
              <a:tr h="328148">
                <a:tc>
                  <a:txBody>
                    <a:bodyPr/>
                    <a:lstStyle/>
                    <a:p>
                      <a:pPr algn="l" fontAlgn="b"/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Prediction price (3 outcomes)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6994493"/>
                  </a:ext>
                </a:extLst>
              </a:tr>
              <a:tr h="590229">
                <a:tc>
                  <a:txBody>
                    <a:bodyPr/>
                    <a:lstStyle/>
                    <a:p>
                      <a:pPr algn="l" fontAlgn="b"/>
                      <a:r>
                        <a:rPr lang="en-AU" sz="1700" u="none" strike="noStrike">
                          <a:effectLst/>
                        </a:rPr>
                        <a:t> 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Loss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Val_loss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1700" u="none" strike="noStrike">
                          <a:effectLst/>
                        </a:rPr>
                        <a:t>Prediction price tomorrow (1 outcome)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t+1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t+2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t+3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extLst>
                  <a:ext uri="{0D108BD9-81ED-4DB2-BD59-A6C34878D82A}">
                    <a16:rowId xmlns:a16="http://schemas.microsoft.com/office/drawing/2014/main" val="798298836"/>
                  </a:ext>
                </a:extLst>
              </a:tr>
              <a:tr h="590229">
                <a:tc>
                  <a:txBody>
                    <a:bodyPr/>
                    <a:lstStyle/>
                    <a:p>
                      <a:pPr algn="l" fontAlgn="b"/>
                      <a:r>
                        <a:rPr lang="en-AU" sz="1700" u="none" strike="noStrike" dirty="0">
                          <a:effectLst/>
                        </a:rPr>
                        <a:t>LSTM - All</a:t>
                      </a:r>
                      <a:endParaRPr lang="en-A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 dirty="0">
                          <a:effectLst/>
                        </a:rPr>
                        <a:t>0.004</a:t>
                      </a:r>
                      <a:endParaRPr lang="en-A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 dirty="0">
                          <a:effectLst/>
                        </a:rPr>
                        <a:t>0.0278</a:t>
                      </a:r>
                      <a:endParaRPr lang="en-A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 dirty="0">
                          <a:effectLst/>
                        </a:rPr>
                        <a:t>                                46,621 </a:t>
                      </a:r>
                      <a:endParaRPr lang="en-A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 dirty="0">
                          <a:effectLst/>
                        </a:rPr>
                        <a:t>        41,051 </a:t>
                      </a:r>
                      <a:endParaRPr lang="en-A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 dirty="0">
                          <a:effectLst/>
                        </a:rPr>
                        <a:t>        43,822 </a:t>
                      </a:r>
                      <a:endParaRPr lang="en-A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 dirty="0">
                          <a:effectLst/>
                        </a:rPr>
                        <a:t>        45,045 </a:t>
                      </a:r>
                      <a:endParaRPr lang="en-A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extLst>
                  <a:ext uri="{0D108BD9-81ED-4DB2-BD59-A6C34878D82A}">
                    <a16:rowId xmlns:a16="http://schemas.microsoft.com/office/drawing/2014/main" val="394210512"/>
                  </a:ext>
                </a:extLst>
              </a:tr>
              <a:tr h="590229">
                <a:tc>
                  <a:txBody>
                    <a:bodyPr/>
                    <a:lstStyle/>
                    <a:p>
                      <a:pPr algn="l" fontAlgn="b"/>
                      <a:r>
                        <a:rPr lang="en-AU" sz="1700" u="none" strike="noStrike">
                          <a:effectLst/>
                        </a:rPr>
                        <a:t>LSTM - No social media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0.0016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0.0091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                        45,886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43,981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47,386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49,765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extLst>
                  <a:ext uri="{0D108BD9-81ED-4DB2-BD59-A6C34878D82A}">
                    <a16:rowId xmlns:a16="http://schemas.microsoft.com/office/drawing/2014/main" val="294384647"/>
                  </a:ext>
                </a:extLst>
              </a:tr>
              <a:tr h="590229">
                <a:tc>
                  <a:txBody>
                    <a:bodyPr/>
                    <a:lstStyle/>
                    <a:p>
                      <a:pPr algn="l" fontAlgn="b"/>
                      <a:r>
                        <a:rPr lang="en-AU" sz="1700" u="none" strike="noStrike">
                          <a:effectLst/>
                        </a:rPr>
                        <a:t>LSTM - Tweeter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0.0024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0.0174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                        46,709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44,782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47,533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49,256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extLst>
                  <a:ext uri="{0D108BD9-81ED-4DB2-BD59-A6C34878D82A}">
                    <a16:rowId xmlns:a16="http://schemas.microsoft.com/office/drawing/2014/main" val="2897006771"/>
                  </a:ext>
                </a:extLst>
              </a:tr>
              <a:tr h="590229">
                <a:tc>
                  <a:txBody>
                    <a:bodyPr/>
                    <a:lstStyle/>
                    <a:p>
                      <a:pPr algn="l" fontAlgn="b"/>
                      <a:r>
                        <a:rPr lang="en-AU" sz="1700" u="none" strike="noStrike">
                          <a:effectLst/>
                        </a:rPr>
                        <a:t>LSTM - Google Trends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0.0015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0.0071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                        44,956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42,831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45,004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47,745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extLst>
                  <a:ext uri="{0D108BD9-81ED-4DB2-BD59-A6C34878D82A}">
                    <a16:rowId xmlns:a16="http://schemas.microsoft.com/office/drawing/2014/main" val="231350888"/>
                  </a:ext>
                </a:extLst>
              </a:tr>
              <a:tr h="590229">
                <a:tc>
                  <a:txBody>
                    <a:bodyPr/>
                    <a:lstStyle/>
                    <a:p>
                      <a:pPr algn="l" fontAlgn="b"/>
                      <a:r>
                        <a:rPr lang="en-AU" sz="1700" u="none" strike="noStrike">
                          <a:effectLst/>
                        </a:rPr>
                        <a:t>LSTM - Wikipedia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0.0015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0.0079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                        45,739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46,246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>
                          <a:effectLst/>
                        </a:rPr>
                        <a:t>        46,522 </a:t>
                      </a:r>
                      <a:endParaRPr lang="en-AU" sz="17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1700" u="none" strike="noStrike" dirty="0">
                          <a:effectLst/>
                        </a:rPr>
                        <a:t>        50,272 </a:t>
                      </a:r>
                      <a:endParaRPr lang="en-AU" sz="1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3650" marR="13650" marT="13650" marB="0" anchor="b"/>
                </a:tc>
                <a:extLst>
                  <a:ext uri="{0D108BD9-81ED-4DB2-BD59-A6C34878D82A}">
                    <a16:rowId xmlns:a16="http://schemas.microsoft.com/office/drawing/2014/main" val="3112245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635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303A-4F75-404C-8F4A-973CDDDF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9EE0E-3634-1447-960B-5256906AB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AAAB4-1345-484A-8D05-CF38375D9D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23</a:t>
            </a:fld>
            <a:endParaRPr lang="en-AU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1DE8EBAF-63D4-1347-8012-4C48B3F73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300" y="95250"/>
            <a:ext cx="9169400" cy="666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793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CC01104-A34F-8847-BCBA-616BAB35C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98067" y="68263"/>
            <a:ext cx="9395865" cy="67214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E9E44CBB-2AA2-8044-A36F-114A0EDCB04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AU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06136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36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Summary, Conclusions and Next Steps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6"/>
          <p:cNvSpPr txBox="1">
            <a:spLocks noGrp="1"/>
          </p:cNvSpPr>
          <p:nvPr>
            <p:ph type="body" idx="1"/>
          </p:nvPr>
        </p:nvSpPr>
        <p:spPr>
          <a:xfrm>
            <a:off x="690175" y="1525200"/>
            <a:ext cx="10963500" cy="287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 b="1" dirty="0">
                <a:solidFill>
                  <a:srgbClr val="0000FF"/>
                </a:solidFill>
              </a:rPr>
              <a:t>Summary</a:t>
            </a:r>
            <a:endParaRPr sz="2000" b="1" dirty="0">
              <a:solidFill>
                <a:srgbClr val="0000FF"/>
              </a:solidFill>
            </a:endParaRPr>
          </a:p>
          <a:p>
            <a:r>
              <a:rPr lang="en-GB" sz="2000" dirty="0"/>
              <a:t>Google Trends and Wikipedia page views have high positive correlation with bitcoin price. </a:t>
            </a:r>
            <a:endParaRPr lang="en-AU" sz="2000" dirty="0"/>
          </a:p>
          <a:p>
            <a:r>
              <a:rPr lang="en-GB" sz="2000" dirty="0"/>
              <a:t>Based on LSTM model using 3 days as the timesteps, LSTM with Google Trends has the lowest loss function compared to the other models. </a:t>
            </a:r>
          </a:p>
          <a:p>
            <a:r>
              <a:rPr lang="en-AU" sz="2000" dirty="0"/>
              <a:t>The prediction line including all social media is closest to the validation data when plotted in graph.</a:t>
            </a:r>
          </a:p>
          <a:p>
            <a:r>
              <a:rPr lang="en-GB" sz="2000" dirty="0"/>
              <a:t>Other models such as Linear regression and Lasso regression have high accuracy scores.</a:t>
            </a:r>
            <a:r>
              <a:rPr lang="en-AU" sz="2000" dirty="0"/>
              <a:t> </a:t>
            </a:r>
            <a:endParaRPr sz="2000" dirty="0">
              <a:solidFill>
                <a:srgbClr val="0C0C0C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>
              <a:spcBef>
                <a:spcPts val="0"/>
              </a:spcBef>
              <a:buNone/>
            </a:pPr>
            <a:r>
              <a:rPr lang="en-AU" sz="2400" b="1" dirty="0">
                <a:solidFill>
                  <a:srgbClr val="0000FF"/>
                </a:solidFill>
              </a:rPr>
              <a:t>Limitation</a:t>
            </a:r>
            <a:endParaRPr lang="en-AU" sz="2000" b="1" dirty="0">
              <a:solidFill>
                <a:srgbClr val="0000FF"/>
              </a:solidFill>
            </a:endParaRPr>
          </a:p>
          <a:p>
            <a:r>
              <a:rPr lang="en-AU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Sentiment analysis only on selected twitter users. </a:t>
            </a:r>
          </a:p>
          <a:p>
            <a:r>
              <a:rPr lang="en-AU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Analysed on daily data</a:t>
            </a:r>
          </a:p>
          <a:p>
            <a:r>
              <a:rPr lang="en-AU" sz="200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Short sample periods</a:t>
            </a:r>
            <a:endParaRPr sz="20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36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>
                <a:latin typeface="Roboto"/>
                <a:ea typeface="Roboto"/>
                <a:cs typeface="Roboto"/>
                <a:sym typeface="Roboto"/>
              </a:rPr>
              <a:t>Summary, Conclusions and Next Steps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6"/>
          <p:cNvSpPr txBox="1">
            <a:spLocks noGrp="1"/>
          </p:cNvSpPr>
          <p:nvPr>
            <p:ph type="body" idx="1"/>
          </p:nvPr>
        </p:nvSpPr>
        <p:spPr>
          <a:xfrm>
            <a:off x="690175" y="1525200"/>
            <a:ext cx="10963500" cy="287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 b="1" dirty="0">
                <a:solidFill>
                  <a:srgbClr val="0000FF"/>
                </a:solidFill>
              </a:rPr>
              <a:t>Conclusions</a:t>
            </a:r>
            <a:endParaRPr sz="2400" dirty="0">
              <a:solidFill>
                <a:srgbClr val="0C0C0C"/>
              </a:solidFill>
            </a:endParaRPr>
          </a:p>
          <a:p>
            <a:pPr>
              <a:lnSpc>
                <a:spcPct val="115000"/>
              </a:lnSpc>
              <a:spcBef>
                <a:spcPts val="0"/>
              </a:spcBef>
              <a:buClr>
                <a:srgbClr val="0C0C0C"/>
              </a:buClr>
              <a:buFont typeface="Calibri"/>
              <a:buChar char="●"/>
            </a:pPr>
            <a:r>
              <a:rPr lang="en-AU" sz="2400" dirty="0">
                <a:solidFill>
                  <a:srgbClr val="0C0C0C"/>
                </a:solidFill>
              </a:rPr>
              <a:t>Some evidence that social media information help us to explain the variation in bitcoin price and predict bitcoin price.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Calibri"/>
              <a:buChar char="●"/>
            </a:pPr>
            <a:r>
              <a:rPr lang="en-AU" sz="2400" dirty="0"/>
              <a:t>Some evidence that social media help to manage risk when investing bitcoin.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Calibri"/>
              <a:buChar char="●"/>
            </a:pPr>
            <a:r>
              <a:rPr lang="en-AU" sz="2400" dirty="0">
                <a:solidFill>
                  <a:srgbClr val="0C0C0C"/>
                </a:solidFill>
              </a:rPr>
              <a:t>Google trends has the highest correlation and explains the variation in the bitcoin price the most.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Font typeface="Calibri"/>
              <a:buChar char="●"/>
            </a:pPr>
            <a:endParaRPr sz="2400" dirty="0">
              <a:solidFill>
                <a:srgbClr val="0C0C0C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2400" b="1" dirty="0">
                <a:solidFill>
                  <a:srgbClr val="0000FF"/>
                </a:solidFill>
              </a:rPr>
              <a:t>Next steps</a:t>
            </a:r>
            <a:endParaRPr sz="2400" b="1" dirty="0">
              <a:solidFill>
                <a:srgbClr val="0000FF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00"/>
              <a:buChar char="●"/>
            </a:pPr>
            <a:r>
              <a:rPr lang="en-AU" sz="2400" dirty="0">
                <a:solidFill>
                  <a:srgbClr val="0C0C0C"/>
                </a:solidFill>
              </a:rPr>
              <a:t>Develop algorithmic trading strategy.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00"/>
              <a:buChar char="●"/>
            </a:pPr>
            <a:r>
              <a:rPr lang="en-AU" sz="2400" dirty="0">
                <a:solidFill>
                  <a:srgbClr val="0C0C0C"/>
                </a:solidFill>
              </a:rPr>
              <a:t>Extend the sample periods</a:t>
            </a:r>
            <a:r>
              <a:rPr lang="ko-KR" altLang="en-US" sz="2400" dirty="0">
                <a:solidFill>
                  <a:srgbClr val="0C0C0C"/>
                </a:solidFill>
              </a:rPr>
              <a:t> </a:t>
            </a:r>
            <a:r>
              <a:rPr lang="en-AU" altLang="ko-KR" sz="2400" dirty="0">
                <a:solidFill>
                  <a:srgbClr val="0C0C0C"/>
                </a:solidFill>
              </a:rPr>
              <a:t>and use </a:t>
            </a:r>
            <a:r>
              <a:rPr lang="en-AU" sz="2400" dirty="0">
                <a:solidFill>
                  <a:srgbClr val="0C0C0C"/>
                </a:solidFill>
              </a:rPr>
              <a:t>hourly/minutes data. </a:t>
            </a:r>
          </a:p>
          <a:p>
            <a:pPr indent="-330200">
              <a:spcBef>
                <a:spcPts val="0"/>
              </a:spcBef>
              <a:buClr>
                <a:srgbClr val="0C0C0C"/>
              </a:buClr>
              <a:buSzPts val="1600"/>
              <a:buFont typeface="Arial"/>
              <a:buChar char="●"/>
            </a:pPr>
            <a:r>
              <a:rPr lang="en-AU" sz="2400" dirty="0">
                <a:solidFill>
                  <a:srgbClr val="0C0C0C"/>
                </a:solidFill>
              </a:rPr>
              <a:t>Extend other twitter account users and hashtags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00"/>
              <a:buChar char="●"/>
            </a:pPr>
            <a:r>
              <a:rPr lang="en-AU" sz="2400" dirty="0">
                <a:solidFill>
                  <a:srgbClr val="0C0C0C"/>
                </a:solidFill>
              </a:rPr>
              <a:t>Further analysis on other cryptocurrencies and in stock market. 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AU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4350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68765-9E62-5842-B3D0-FBF0AA33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8F83B-CFCF-0E4C-BC50-7DFE25310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z="2000" dirty="0"/>
              <a:t>Chen, Z., Li, C. and Sun, W., 2020. Bitcoin price prediction using machine learning: An approach to sample dimension engineering. </a:t>
            </a:r>
            <a:r>
              <a:rPr lang="en-AU" sz="2000" i="1" dirty="0"/>
              <a:t>Journal of Computational and Applied Mathematics</a:t>
            </a:r>
            <a:r>
              <a:rPr lang="en-AU" sz="2000" dirty="0"/>
              <a:t>, </a:t>
            </a:r>
            <a:r>
              <a:rPr lang="en-AU" sz="2000" i="1" dirty="0"/>
              <a:t>365</a:t>
            </a:r>
            <a:r>
              <a:rPr lang="en-AU" sz="2000" dirty="0"/>
              <a:t>, p.112395.</a:t>
            </a:r>
          </a:p>
          <a:p>
            <a:r>
              <a:rPr lang="en-US" sz="2000" dirty="0" err="1"/>
              <a:t>Coinmarketcap</a:t>
            </a:r>
            <a:r>
              <a:rPr lang="en-US" sz="2000" dirty="0"/>
              <a:t> (2021),  </a:t>
            </a:r>
            <a:r>
              <a:rPr lang="en-US" sz="2000" dirty="0">
                <a:hlinkClick r:id="rId2"/>
              </a:rPr>
              <a:t>https://coinmarketcap.com/charts/</a:t>
            </a:r>
            <a:endParaRPr lang="en-US" sz="2000" dirty="0"/>
          </a:p>
          <a:p>
            <a:r>
              <a:rPr lang="en-AU" sz="2000" dirty="0"/>
              <a:t>Mai, F., Shan, Z., Bai, Q., Wang, X. and Chiang, R.H., 2018. How does social media impact Bitcoin value? A test of the silent majority hypothesis. </a:t>
            </a:r>
            <a:r>
              <a:rPr lang="en-AU" sz="2000" i="1" dirty="0"/>
              <a:t>Journal of management information systems</a:t>
            </a:r>
            <a:r>
              <a:rPr lang="en-AU" sz="2000" dirty="0"/>
              <a:t>, </a:t>
            </a:r>
            <a:r>
              <a:rPr lang="en-AU" sz="2000" i="1" dirty="0"/>
              <a:t>35</a:t>
            </a:r>
            <a:r>
              <a:rPr lang="en-AU" sz="2000" dirty="0"/>
              <a:t>(1), pp.19-52.</a:t>
            </a:r>
          </a:p>
          <a:p>
            <a:r>
              <a:rPr lang="en-US" sz="2000" dirty="0"/>
              <a:t>SEC, 2021. </a:t>
            </a:r>
            <a:r>
              <a:rPr lang="en-AU" sz="2000" dirty="0"/>
              <a:t>Staff Statement on Funds Registered Under the Investment Company Act Investing in the Bitcoin Futures Market, </a:t>
            </a:r>
            <a:r>
              <a:rPr lang="en-AU" sz="2000" i="1" dirty="0"/>
              <a:t>US Securities and Exchange </a:t>
            </a:r>
            <a:r>
              <a:rPr lang="en-AU" sz="2000" i="1" dirty="0" err="1"/>
              <a:t>Commision</a:t>
            </a:r>
            <a:r>
              <a:rPr lang="en-AU" sz="2000" i="1" dirty="0"/>
              <a:t>, </a:t>
            </a:r>
            <a:r>
              <a:rPr lang="en-AU" sz="2000" dirty="0"/>
              <a:t>&lt;</a:t>
            </a:r>
            <a:r>
              <a:rPr lang="en-US" sz="2000" dirty="0">
                <a:hlinkClick r:id="rId3"/>
              </a:rPr>
              <a:t>https://www.sec.gov/news/public-statement/staff-statement-investing-bitcoin-futures-market</a:t>
            </a:r>
            <a:r>
              <a:rPr lang="en-US" sz="2000" dirty="0"/>
              <a:t>&gt;</a:t>
            </a:r>
          </a:p>
          <a:p>
            <a:r>
              <a:rPr lang="en-US" sz="2000" dirty="0" err="1"/>
              <a:t>Siblis</a:t>
            </a:r>
            <a:r>
              <a:rPr lang="en-US" sz="2000" dirty="0"/>
              <a:t> (2021), </a:t>
            </a:r>
            <a:r>
              <a:rPr lang="en-US" sz="2000" dirty="0">
                <a:hlinkClick r:id="rId4"/>
              </a:rPr>
              <a:t>https://siblisresearch.com/data/us-stock-market-value/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366DD-A71A-014D-BA18-5B15FD0A43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06836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>
            <a:spLocks noGrp="1"/>
          </p:cNvSpPr>
          <p:nvPr>
            <p:ph type="body" idx="1"/>
          </p:nvPr>
        </p:nvSpPr>
        <p:spPr>
          <a:xfrm>
            <a:off x="5460950" y="2459750"/>
            <a:ext cx="5225700" cy="24516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9144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AU" sz="36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Appendices</a:t>
            </a:r>
            <a:endParaRPr sz="36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2B76E-1ACA-7249-8442-7A89D6128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Other models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C524170-5E2A-5E43-84C3-895985E7BC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77628" y="1948169"/>
          <a:ext cx="7436744" cy="4210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1986">
                  <a:extLst>
                    <a:ext uri="{9D8B030D-6E8A-4147-A177-3AD203B41FA5}">
                      <a16:colId xmlns:a16="http://schemas.microsoft.com/office/drawing/2014/main" val="2607472137"/>
                    </a:ext>
                  </a:extLst>
                </a:gridCol>
                <a:gridCol w="3183889">
                  <a:extLst>
                    <a:ext uri="{9D8B030D-6E8A-4147-A177-3AD203B41FA5}">
                      <a16:colId xmlns:a16="http://schemas.microsoft.com/office/drawing/2014/main" val="1880476646"/>
                    </a:ext>
                  </a:extLst>
                </a:gridCol>
                <a:gridCol w="1290869">
                  <a:extLst>
                    <a:ext uri="{9D8B030D-6E8A-4147-A177-3AD203B41FA5}">
                      <a16:colId xmlns:a16="http://schemas.microsoft.com/office/drawing/2014/main" val="3083577067"/>
                    </a:ext>
                  </a:extLst>
                </a:gridCol>
              </a:tblGrid>
              <a:tr h="395151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 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Prediction price tomorrow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Accuracy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b"/>
                </a:tc>
                <a:extLst>
                  <a:ext uri="{0D108BD9-81ED-4DB2-BD59-A6C34878D82A}">
                    <a16:rowId xmlns:a16="http://schemas.microsoft.com/office/drawing/2014/main" val="1293831585"/>
                  </a:ext>
                </a:extLst>
              </a:tr>
              <a:tr h="710746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Random Forest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100" u="none" strike="noStrike" dirty="0">
                          <a:effectLst/>
                        </a:rPr>
                        <a:t>                                40,413 </a:t>
                      </a:r>
                      <a:endParaRPr lang="en-A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>
                          <a:effectLst/>
                        </a:rPr>
                        <a:t>98.627%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b"/>
                </a:tc>
                <a:extLst>
                  <a:ext uri="{0D108BD9-81ED-4DB2-BD59-A6C34878D82A}">
                    <a16:rowId xmlns:a16="http://schemas.microsoft.com/office/drawing/2014/main" val="2956809118"/>
                  </a:ext>
                </a:extLst>
              </a:tr>
              <a:tr h="710746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Linear Regression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100" u="none" strike="noStrike">
                          <a:effectLst/>
                        </a:rPr>
                        <a:t>                                39,261 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>
                          <a:effectLst/>
                        </a:rPr>
                        <a:t>99.189%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b"/>
                </a:tc>
                <a:extLst>
                  <a:ext uri="{0D108BD9-81ED-4DB2-BD59-A6C34878D82A}">
                    <a16:rowId xmlns:a16="http://schemas.microsoft.com/office/drawing/2014/main" val="4284206768"/>
                  </a:ext>
                </a:extLst>
              </a:tr>
              <a:tr h="710746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Lasso Regression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100" u="none" strike="noStrike">
                          <a:effectLst/>
                        </a:rPr>
                        <a:t>                                39,267 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>
                          <a:effectLst/>
                        </a:rPr>
                        <a:t>99.192%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b"/>
                </a:tc>
                <a:extLst>
                  <a:ext uri="{0D108BD9-81ED-4DB2-BD59-A6C34878D82A}">
                    <a16:rowId xmlns:a16="http://schemas.microsoft.com/office/drawing/2014/main" val="66456662"/>
                  </a:ext>
                </a:extLst>
              </a:tr>
              <a:tr h="710746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DecisionTreeRegressor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100" u="none" strike="noStrike">
                          <a:effectLst/>
                        </a:rPr>
                        <a:t>                                46,448 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>
                          <a:effectLst/>
                        </a:rPr>
                        <a:t>98.548%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b"/>
                </a:tc>
                <a:extLst>
                  <a:ext uri="{0D108BD9-81ED-4DB2-BD59-A6C34878D82A}">
                    <a16:rowId xmlns:a16="http://schemas.microsoft.com/office/drawing/2014/main" val="3236852994"/>
                  </a:ext>
                </a:extLst>
              </a:tr>
              <a:tr h="710746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KNeighborsRegressor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b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100" u="none" strike="noStrike">
                          <a:effectLst/>
                        </a:rPr>
                        <a:t>                                37,650 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 dirty="0">
                          <a:effectLst/>
                        </a:rPr>
                        <a:t>97.566%</a:t>
                      </a:r>
                      <a:endParaRPr lang="en-A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37" marR="16437" marT="16437" marB="0" anchor="b"/>
                </a:tc>
                <a:extLst>
                  <a:ext uri="{0D108BD9-81ED-4DB2-BD59-A6C34878D82A}">
                    <a16:rowId xmlns:a16="http://schemas.microsoft.com/office/drawing/2014/main" val="2572981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4630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2B76E-1ACA-7249-8442-7A89D6128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Polarity means by Twitter users</a:t>
            </a:r>
          </a:p>
        </p:txBody>
      </p:sp>
      <p:graphicFrame>
        <p:nvGraphicFramePr>
          <p:cNvPr id="22" name="Content Placeholder 14">
            <a:extLst>
              <a:ext uri="{FF2B5EF4-FFF2-40B4-BE49-F238E27FC236}">
                <a16:creationId xmlns:a16="http://schemas.microsoft.com/office/drawing/2014/main" id="{E8C59374-4EF2-E447-8772-C5E1513D4DE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58374" y="2228087"/>
          <a:ext cx="8075253" cy="394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0288">
                  <a:extLst>
                    <a:ext uri="{9D8B030D-6E8A-4147-A177-3AD203B41FA5}">
                      <a16:colId xmlns:a16="http://schemas.microsoft.com/office/drawing/2014/main" val="1266835209"/>
                    </a:ext>
                  </a:extLst>
                </a:gridCol>
                <a:gridCol w="4134965">
                  <a:extLst>
                    <a:ext uri="{9D8B030D-6E8A-4147-A177-3AD203B41FA5}">
                      <a16:colId xmlns:a16="http://schemas.microsoft.com/office/drawing/2014/main" val="823191708"/>
                    </a:ext>
                  </a:extLst>
                </a:gridCol>
              </a:tblGrid>
              <a:tr h="394888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Twitter accounts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>
                          <a:effectLst/>
                        </a:rPr>
                        <a:t>Polarity Mean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extLst>
                  <a:ext uri="{0D108BD9-81ED-4DB2-BD59-A6C34878D82A}">
                    <a16:rowId xmlns:a16="http://schemas.microsoft.com/office/drawing/2014/main" val="1784567470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Apompliano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>
                          <a:effectLst/>
                        </a:rPr>
                        <a:t>0.125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extLst>
                  <a:ext uri="{0D108BD9-81ED-4DB2-BD59-A6C34878D82A}">
                    <a16:rowId xmlns:a16="http://schemas.microsoft.com/office/drawing/2014/main" val="2469424235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Bitcoin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>
                          <a:effectLst/>
                        </a:rPr>
                        <a:t>0.078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extLst>
                  <a:ext uri="{0D108BD9-81ED-4DB2-BD59-A6C34878D82A}">
                    <a16:rowId xmlns:a16="http://schemas.microsoft.com/office/drawing/2014/main" val="3922647268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DocumentingBTC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>
                          <a:effectLst/>
                        </a:rPr>
                        <a:t>0.074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extLst>
                  <a:ext uri="{0D108BD9-81ED-4DB2-BD59-A6C34878D82A}">
                    <a16:rowId xmlns:a16="http://schemas.microsoft.com/office/drawing/2014/main" val="2855459393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brian_armstrong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>
                          <a:effectLst/>
                        </a:rPr>
                        <a:t>0.162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extLst>
                  <a:ext uri="{0D108BD9-81ED-4DB2-BD59-A6C34878D82A}">
                    <a16:rowId xmlns:a16="http://schemas.microsoft.com/office/drawing/2014/main" val="2343935347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cameron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>
                          <a:effectLst/>
                        </a:rPr>
                        <a:t>0.112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extLst>
                  <a:ext uri="{0D108BD9-81ED-4DB2-BD59-A6C34878D82A}">
                    <a16:rowId xmlns:a16="http://schemas.microsoft.com/office/drawing/2014/main" val="162961336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michael_saylor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>
                          <a:effectLst/>
                        </a:rPr>
                        <a:t>0.090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extLst>
                  <a:ext uri="{0D108BD9-81ED-4DB2-BD59-A6C34878D82A}">
                    <a16:rowId xmlns:a16="http://schemas.microsoft.com/office/drawing/2014/main" val="3474487717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scottmelker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>
                          <a:effectLst/>
                        </a:rPr>
                        <a:t>0.090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extLst>
                  <a:ext uri="{0D108BD9-81ED-4DB2-BD59-A6C34878D82A}">
                    <a16:rowId xmlns:a16="http://schemas.microsoft.com/office/drawing/2014/main" val="2952226692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tyler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>
                          <a:effectLst/>
                        </a:rPr>
                        <a:t>0.084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extLst>
                  <a:ext uri="{0D108BD9-81ED-4DB2-BD59-A6C34878D82A}">
                    <a16:rowId xmlns:a16="http://schemas.microsoft.com/office/drawing/2014/main" val="1116658591"/>
                  </a:ext>
                </a:extLst>
              </a:tr>
              <a:tr h="394888">
                <a:tc>
                  <a:txBody>
                    <a:bodyPr/>
                    <a:lstStyle/>
                    <a:p>
                      <a:pPr algn="l" fontAlgn="b"/>
                      <a:r>
                        <a:rPr lang="en-AU" sz="2100" u="none" strike="noStrike">
                          <a:effectLst/>
                        </a:rPr>
                        <a:t>Total</a:t>
                      </a:r>
                      <a:endParaRPr lang="en-AU" sz="2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AU" sz="2100" u="none" strike="noStrike" dirty="0">
                          <a:effectLst/>
                        </a:rPr>
                        <a:t>0.095</a:t>
                      </a:r>
                      <a:endParaRPr lang="en-AU" sz="2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6426" marR="16426" marT="16426" marB="0" anchor="b"/>
                </a:tc>
                <a:extLst>
                  <a:ext uri="{0D108BD9-81ED-4DB2-BD59-A6C34878D82A}">
                    <a16:rowId xmlns:a16="http://schemas.microsoft.com/office/drawing/2014/main" val="2852878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8523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89EC0-BF87-B440-8639-0A9B6666F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6771F-49A5-9144-81E2-E491EEBDC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5A879-3092-EF44-895D-1C4028C4B4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AU" smtClean="0"/>
              <a:t>31</a:t>
            </a:fld>
            <a:endParaRPr lang="en-AU" sz="1200">
              <a:solidFill>
                <a:srgbClr val="888888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C003265-EFBA-054C-9A5D-62D3B09BD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7838" y="0"/>
            <a:ext cx="86947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5371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4464F-4724-CC49-A1B8-298F87AB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FC7D74A9-9902-6944-A0E4-8299501FE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88" y="0"/>
            <a:ext cx="1142699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924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2"/>
          <p:cNvSpPr txBox="1">
            <a:spLocks noGrp="1"/>
          </p:cNvSpPr>
          <p:nvPr>
            <p:ph type="body" idx="1"/>
          </p:nvPr>
        </p:nvSpPr>
        <p:spPr>
          <a:xfrm>
            <a:off x="4928100" y="2469625"/>
            <a:ext cx="5225700" cy="2451600"/>
          </a:xfrm>
          <a:prstGeom prst="rect">
            <a:avLst/>
          </a:prstGeom>
        </p:spPr>
        <p:txBody>
          <a:bodyPr spcFirstLastPara="1" wrap="square" lIns="45675" tIns="45675" rIns="45675" bIns="45675" anchor="t" anchorCtr="0">
            <a:noAutofit/>
          </a:bodyPr>
          <a:lstStyle/>
          <a:p>
            <a:pPr marL="9144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AU" sz="36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End of Presentation!</a:t>
            </a:r>
            <a:endParaRPr sz="36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71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993</Words>
  <Application>Microsoft Macintosh PowerPoint</Application>
  <PresentationFormat>Widescreen</PresentationFormat>
  <Paragraphs>245</Paragraphs>
  <Slides>33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Roboto</vt:lpstr>
      <vt:lpstr>Calibri</vt:lpstr>
      <vt:lpstr>Arial</vt:lpstr>
      <vt:lpstr>Custom Design</vt:lpstr>
      <vt:lpstr>PowerPoint Presentation</vt:lpstr>
      <vt:lpstr>PowerPoint Presentation</vt:lpstr>
      <vt:lpstr>Prediction of Bitcoin price using social media  Capstone Project   Jin Yang</vt:lpstr>
      <vt:lpstr>AGENDA</vt:lpstr>
      <vt:lpstr>PROJECT CONTEXT</vt:lpstr>
      <vt:lpstr>PROJECT CONTEXT</vt:lpstr>
      <vt:lpstr>PowerPoint Presentation</vt:lpstr>
      <vt:lpstr>PowerPoint Presentation</vt:lpstr>
      <vt:lpstr>PROJECT CONTEXT</vt:lpstr>
      <vt:lpstr>BUSINESS QUESTION AND DATA QUESTION</vt:lpstr>
      <vt:lpstr>AGENDA</vt:lpstr>
      <vt:lpstr>DATA SOURCE</vt:lpstr>
      <vt:lpstr>Twitter Sentiment Analysis</vt:lpstr>
      <vt:lpstr>All words</vt:lpstr>
      <vt:lpstr>PowerPoint Presentation</vt:lpstr>
      <vt:lpstr>PowerPoint Presentation</vt:lpstr>
      <vt:lpstr>PowerPoint Presentation</vt:lpstr>
      <vt:lpstr>PowerPoint Presentation</vt:lpstr>
      <vt:lpstr>Models</vt:lpstr>
      <vt:lpstr>PowerPoint Presentation</vt:lpstr>
      <vt:lpstr>PowerPoint Presentation</vt:lpstr>
      <vt:lpstr>LSTM predictions</vt:lpstr>
      <vt:lpstr>PowerPoint Presentation</vt:lpstr>
      <vt:lpstr>PowerPoint Presentation</vt:lpstr>
      <vt:lpstr>Summary, Conclusions and Next Steps</vt:lpstr>
      <vt:lpstr>Summary, Conclusions and Next Steps</vt:lpstr>
      <vt:lpstr>Reference</vt:lpstr>
      <vt:lpstr>PowerPoint Presentation</vt:lpstr>
      <vt:lpstr>Other models</vt:lpstr>
      <vt:lpstr>Polarity means by Twitter users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Jin Sug Yang</cp:lastModifiedBy>
  <cp:revision>48</cp:revision>
  <dcterms:modified xsi:type="dcterms:W3CDTF">2021-05-29T05:29:19Z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4f0713-8a76-46fc-9033-3e1b6c45971d_Enabled">
    <vt:lpwstr>true</vt:lpwstr>
  </property>
  <property fmtid="{D5CDD505-2E9C-101B-9397-08002B2CF9AE}" pid="3" name="MSIP_Label_ba4f0713-8a76-46fc-9033-3e1b6c45971d_SetDate">
    <vt:lpwstr>2021-05-28T00:10:52Z</vt:lpwstr>
  </property>
  <property fmtid="{D5CDD505-2E9C-101B-9397-08002B2CF9AE}" pid="4" name="MSIP_Label_ba4f0713-8a76-46fc-9033-3e1b6c45971d_Method">
    <vt:lpwstr>Privileged</vt:lpwstr>
  </property>
  <property fmtid="{D5CDD505-2E9C-101B-9397-08002B2CF9AE}" pid="5" name="MSIP_Label_ba4f0713-8a76-46fc-9033-3e1b6c45971d_Name">
    <vt:lpwstr>UTS-Public</vt:lpwstr>
  </property>
  <property fmtid="{D5CDD505-2E9C-101B-9397-08002B2CF9AE}" pid="6" name="MSIP_Label_ba4f0713-8a76-46fc-9033-3e1b6c45971d_SiteId">
    <vt:lpwstr>e8911c26-cf9f-4a9c-878e-527807be8791</vt:lpwstr>
  </property>
  <property fmtid="{D5CDD505-2E9C-101B-9397-08002B2CF9AE}" pid="7" name="MSIP_Label_ba4f0713-8a76-46fc-9033-3e1b6c45971d_ActionId">
    <vt:lpwstr>eaac7185-d2af-46a1-bab7-cd73f5985f07</vt:lpwstr>
  </property>
  <property fmtid="{D5CDD505-2E9C-101B-9397-08002B2CF9AE}" pid="8" name="MSIP_Label_ba4f0713-8a76-46fc-9033-3e1b6c45971d_ContentBits">
    <vt:lpwstr>0</vt:lpwstr>
  </property>
</Properties>
</file>