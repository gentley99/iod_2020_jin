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71" r:id="rId2"/>
  </p:sldMasterIdLst>
  <p:notesMasterIdLst>
    <p:notesMasterId r:id="rId4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8" r:id="rId39"/>
    <p:sldId id="293" r:id="rId40"/>
    <p:sldId id="294" r:id="rId41"/>
    <p:sldId id="295" r:id="rId42"/>
    <p:sldId id="296" r:id="rId43"/>
    <p:sldId id="297" r:id="rId4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hTdp5XlUNAAPjrFjP6yXh8oGh6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customschemas.google.com/relationships/presentationmetadata" Target="metadata"/><Relationship Id="rId8" Type="http://schemas.openxmlformats.org/officeDocument/2006/relationships/slide" Target="slides/slide6.xml"/><Relationship Id="rId51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image" Target="../media/image5.jpg"/><Relationship Id="rId1" Type="http://schemas.openxmlformats.org/officeDocument/2006/relationships/image" Target="../media/image4.jpg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11537"/>
          <c:y val="6.20022E-2"/>
          <c:w val="0.86585500000000004"/>
          <c:h val="0.7350809999999999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</c:v>
                </c:pt>
              </c:strCache>
            </c:strRef>
          </c:tx>
          <c:spPr>
            <a:ln w="12700" cap="flat">
              <a:noFill/>
              <a:miter lim="400000"/>
            </a:ln>
            <a:effectLst/>
          </c:spPr>
          <c:marker>
            <c:symbol val="circle"/>
            <c:size val="41"/>
            <c:spPr>
              <a:blipFill rotWithShape="1">
                <a:blip xmlns:r="http://schemas.openxmlformats.org/officeDocument/2006/relationships" r:embed="rId1"/>
                <a:srcRect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c:spPr>
          </c:marker>
          <c:xVal>
            <c:numRef>
              <c:f>Sheet1!$B$2:$B$25</c:f>
              <c:numCache>
                <c:formatCode>General</c:formatCode>
                <c:ptCount val="12"/>
                <c:pt idx="0">
                  <c:v>51</c:v>
                </c:pt>
                <c:pt idx="1">
                  <c:v>64</c:v>
                </c:pt>
                <c:pt idx="2">
                  <c:v>59.7</c:v>
                </c:pt>
                <c:pt idx="3">
                  <c:v>46</c:v>
                </c:pt>
                <c:pt idx="4">
                  <c:v>65</c:v>
                </c:pt>
                <c:pt idx="5">
                  <c:v>46.5</c:v>
                </c:pt>
                <c:pt idx="6">
                  <c:v>84.5</c:v>
                </c:pt>
                <c:pt idx="7">
                  <c:v>66</c:v>
                </c:pt>
                <c:pt idx="8">
                  <c:v>34</c:v>
                </c:pt>
                <c:pt idx="9">
                  <c:v>75</c:v>
                </c:pt>
                <c:pt idx="10">
                  <c:v>43</c:v>
                </c:pt>
                <c:pt idx="11">
                  <c:v>55</c:v>
                </c:pt>
              </c:numCache>
            </c:numRef>
          </c:xVal>
          <c:yVal>
            <c:numRef>
              <c:f>Sheet1!$C$2:$C$25</c:f>
              <c:numCache>
                <c:formatCode>General</c:formatCode>
                <c:ptCount val="12"/>
                <c:pt idx="0">
                  <c:v>14</c:v>
                </c:pt>
                <c:pt idx="1">
                  <c:v>14.7</c:v>
                </c:pt>
                <c:pt idx="2">
                  <c:v>16</c:v>
                </c:pt>
                <c:pt idx="3">
                  <c:v>16.5</c:v>
                </c:pt>
                <c:pt idx="4">
                  <c:v>17.100000000000001</c:v>
                </c:pt>
                <c:pt idx="5">
                  <c:v>17.8</c:v>
                </c:pt>
                <c:pt idx="6">
                  <c:v>18</c:v>
                </c:pt>
                <c:pt idx="7">
                  <c:v>18.5</c:v>
                </c:pt>
                <c:pt idx="8">
                  <c:v>18.7</c:v>
                </c:pt>
                <c:pt idx="9">
                  <c:v>19.5</c:v>
                </c:pt>
                <c:pt idx="10">
                  <c:v>20.5</c:v>
                </c:pt>
                <c:pt idx="11">
                  <c:v>21.9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B71-1E40-BAB3-4BC508D4AC2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June</c:v>
                </c:pt>
              </c:strCache>
            </c:strRef>
          </c:tx>
          <c:spPr>
            <a:ln w="12700" cap="flat">
              <a:noFill/>
              <a:miter lim="400000"/>
            </a:ln>
            <a:effectLst/>
          </c:spPr>
          <c:marker>
            <c:symbol val="circle"/>
            <c:size val="41"/>
            <c:spPr>
              <a:blipFill rotWithShape="1">
                <a:blip xmlns:r="http://schemas.openxmlformats.org/officeDocument/2006/relationships" r:embed="rId2"/>
                <a:srcRect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c:spPr>
          </c:marker>
          <c:xVal>
            <c:numRef>
              <c:f>Sheet1!$D$2:$D$25</c:f>
              <c:numCache>
                <c:formatCode>General</c:formatCode>
                <c:ptCount val="24"/>
                <c:pt idx="12">
                  <c:v>85.2</c:v>
                </c:pt>
                <c:pt idx="13">
                  <c:v>108</c:v>
                </c:pt>
                <c:pt idx="14">
                  <c:v>110</c:v>
                </c:pt>
                <c:pt idx="15">
                  <c:v>60</c:v>
                </c:pt>
                <c:pt idx="16">
                  <c:v>83</c:v>
                </c:pt>
                <c:pt idx="17">
                  <c:v>68</c:v>
                </c:pt>
                <c:pt idx="18">
                  <c:v>93</c:v>
                </c:pt>
                <c:pt idx="19">
                  <c:v>61</c:v>
                </c:pt>
                <c:pt idx="20">
                  <c:v>64</c:v>
                </c:pt>
                <c:pt idx="21">
                  <c:v>84</c:v>
                </c:pt>
                <c:pt idx="22">
                  <c:v>87</c:v>
                </c:pt>
                <c:pt idx="23">
                  <c:v>50</c:v>
                </c:pt>
              </c:numCache>
            </c:numRef>
          </c:xVal>
          <c:yVal>
            <c:numRef>
              <c:f>Sheet1!$E$2:$E$25</c:f>
              <c:numCache>
                <c:formatCode>General</c:formatCode>
                <c:ptCount val="24"/>
                <c:pt idx="12">
                  <c:v>16.8</c:v>
                </c:pt>
                <c:pt idx="13">
                  <c:v>17.7</c:v>
                </c:pt>
                <c:pt idx="14">
                  <c:v>19.100000000000001</c:v>
                </c:pt>
                <c:pt idx="15">
                  <c:v>18.5</c:v>
                </c:pt>
                <c:pt idx="16">
                  <c:v>20</c:v>
                </c:pt>
                <c:pt idx="17">
                  <c:v>20</c:v>
                </c:pt>
                <c:pt idx="18">
                  <c:v>20.8</c:v>
                </c:pt>
                <c:pt idx="19">
                  <c:v>20.8</c:v>
                </c:pt>
                <c:pt idx="20">
                  <c:v>21.9</c:v>
                </c:pt>
                <c:pt idx="21">
                  <c:v>22.4</c:v>
                </c:pt>
                <c:pt idx="22">
                  <c:v>23.5</c:v>
                </c:pt>
                <c:pt idx="23">
                  <c:v>22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B71-1E40-BAB3-4BC508D4AC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2"/>
        <c:axId val="2094734553"/>
      </c:scatterChart>
      <c:valAx>
        <c:axId val="2094734552"/>
        <c:scaling>
          <c:orientation val="minMax"/>
          <c:max val="115"/>
          <c:min val="25"/>
        </c:scaling>
        <c:delete val="0"/>
        <c:axPos val="b"/>
        <c:majorGridlines>
          <c:spPr>
            <a:ln w="12700" cap="flat">
              <a:solidFill>
                <a:srgbClr val="A6AAA9">
                  <a:alpha val="50000"/>
                </a:srgbClr>
              </a:solidFill>
              <a:prstDash val="solid"/>
              <a:miter lim="400000"/>
            </a:ln>
          </c:spPr>
        </c:majorGridlines>
        <c:title>
          <c:tx>
            <c:rich>
              <a:bodyPr rot="0"/>
              <a:lstStyle/>
              <a:p>
                <a:pPr>
                  <a:defRPr sz="2200" b="0" i="0" u="none" strike="noStrike">
                    <a:solidFill>
                      <a:srgbClr val="838787"/>
                    </a:solidFill>
                    <a:latin typeface="Calibri"/>
                  </a:defRPr>
                </a:pPr>
                <a:r>
                  <a:rPr lang="en-AU" sz="2200" b="0" i="0" u="none" strike="noStrike">
                    <a:solidFill>
                      <a:srgbClr val="838787"/>
                    </a:solidFill>
                    <a:latin typeface="Calibri"/>
                  </a:rPr>
                  <a:t>Weight</a:t>
                </a:r>
              </a:p>
            </c:rich>
          </c:tx>
          <c:overlay val="1"/>
        </c:title>
        <c:numFmt formatCode="0" sourceLinked="0"/>
        <c:majorTickMark val="none"/>
        <c:minorTickMark val="none"/>
        <c:tickLblPos val="nextTo"/>
        <c:spPr>
          <a:ln w="12700" cap="flat">
            <a:solidFill>
              <a:srgbClr val="838787"/>
            </a:solidFill>
            <a:prstDash val="solid"/>
            <a:miter lim="400000"/>
          </a:ln>
        </c:spPr>
        <c:txPr>
          <a:bodyPr rot="0"/>
          <a:lstStyle/>
          <a:p>
            <a:pPr>
              <a:defRPr sz="2000" b="0" i="0" u="none" strike="noStrike">
                <a:solidFill>
                  <a:srgbClr val="838787"/>
                </a:solidFill>
                <a:latin typeface="Calibri"/>
              </a:defRPr>
            </a:pPr>
            <a:endParaRPr lang="en-US"/>
          </a:p>
        </c:txPr>
        <c:crossAx val="2094734553"/>
        <c:crosses val="autoZero"/>
        <c:crossBetween val="between"/>
        <c:majorUnit val="10"/>
        <c:minorUnit val="5"/>
      </c:valAx>
      <c:valAx>
        <c:axId val="2094734553"/>
        <c:scaling>
          <c:orientation val="minMax"/>
          <c:max val="25"/>
          <c:min val="13"/>
        </c:scaling>
        <c:delete val="0"/>
        <c:axPos val="l"/>
        <c:majorGridlines>
          <c:spPr>
            <a:ln w="12700" cap="flat">
              <a:solidFill>
                <a:srgbClr val="A6AAA9">
                  <a:alpha val="50000"/>
                </a:srgbClr>
              </a:solidFill>
              <a:prstDash val="solid"/>
              <a:miter lim="400000"/>
            </a:ln>
          </c:spPr>
        </c:majorGridlines>
        <c:title>
          <c:tx>
            <c:rich>
              <a:bodyPr rot="-5400000"/>
              <a:lstStyle/>
              <a:p>
                <a:pPr>
                  <a:defRPr sz="2200" b="0" i="0" u="none" strike="noStrike">
                    <a:solidFill>
                      <a:srgbClr val="838787"/>
                    </a:solidFill>
                    <a:latin typeface="Calibri"/>
                  </a:defRPr>
                </a:pPr>
                <a:r>
                  <a:rPr lang="en-AU" sz="2200" b="0" i="0" u="none" strike="noStrike">
                    <a:solidFill>
                      <a:srgbClr val="838787"/>
                    </a:solidFill>
                    <a:latin typeface="Calibri"/>
                  </a:rPr>
                  <a:t>Juice</a:t>
                </a:r>
              </a:p>
            </c:rich>
          </c:tx>
          <c:overlay val="1"/>
        </c:title>
        <c:numFmt formatCode="0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sz="2000" b="0" i="0" u="none" strike="noStrike">
                <a:solidFill>
                  <a:srgbClr val="83878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crossBetween val="between"/>
        <c:majorUnit val="2"/>
        <c:minorUnit val="1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8.7507699999999994E-2"/>
          <c:y val="4.1404400000000001E-2"/>
          <c:w val="0.895903"/>
          <c:h val="0.82473799999999997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</c:v>
                </c:pt>
              </c:strCache>
            </c:strRef>
          </c:tx>
          <c:spPr>
            <a:ln w="12700" cap="flat">
              <a:noFill/>
              <a:miter lim="400000"/>
            </a:ln>
            <a:effectLst/>
          </c:spPr>
          <c:marker>
            <c:symbol val="circle"/>
            <c:size val="9"/>
            <c:spPr>
              <a:solidFill>
                <a:srgbClr val="000000">
                  <a:alpha val="0"/>
                </a:srgbClr>
              </a:solidFill>
              <a:ln w="38100" cap="flat">
                <a:solidFill>
                  <a:srgbClr val="E42832"/>
                </a:solidFill>
                <a:prstDash val="solid"/>
                <a:miter lim="400000"/>
              </a:ln>
              <a:effectLst/>
            </c:spPr>
          </c:marker>
          <c:xVal>
            <c:numRef>
              <c:f>Sheet1!$B$2:$B$25</c:f>
              <c:numCache>
                <c:formatCode>General</c:formatCode>
                <c:ptCount val="12"/>
                <c:pt idx="0">
                  <c:v>51</c:v>
                </c:pt>
                <c:pt idx="1">
                  <c:v>64</c:v>
                </c:pt>
                <c:pt idx="2">
                  <c:v>59.7</c:v>
                </c:pt>
                <c:pt idx="3">
                  <c:v>46</c:v>
                </c:pt>
                <c:pt idx="4">
                  <c:v>65</c:v>
                </c:pt>
                <c:pt idx="5">
                  <c:v>46.5</c:v>
                </c:pt>
                <c:pt idx="6">
                  <c:v>84.5</c:v>
                </c:pt>
                <c:pt idx="7">
                  <c:v>66</c:v>
                </c:pt>
                <c:pt idx="8">
                  <c:v>34</c:v>
                </c:pt>
                <c:pt idx="9">
                  <c:v>75</c:v>
                </c:pt>
                <c:pt idx="10">
                  <c:v>43</c:v>
                </c:pt>
                <c:pt idx="11">
                  <c:v>54</c:v>
                </c:pt>
              </c:numCache>
            </c:numRef>
          </c:xVal>
          <c:yVal>
            <c:numRef>
              <c:f>Sheet1!$C$2:$C$25</c:f>
              <c:numCache>
                <c:formatCode>General</c:formatCode>
                <c:ptCount val="12"/>
                <c:pt idx="0">
                  <c:v>14</c:v>
                </c:pt>
                <c:pt idx="1">
                  <c:v>14.7</c:v>
                </c:pt>
                <c:pt idx="2">
                  <c:v>16</c:v>
                </c:pt>
                <c:pt idx="3">
                  <c:v>16.5</c:v>
                </c:pt>
                <c:pt idx="4">
                  <c:v>17.100000000000001</c:v>
                </c:pt>
                <c:pt idx="5">
                  <c:v>17.8</c:v>
                </c:pt>
                <c:pt idx="6">
                  <c:v>17.5</c:v>
                </c:pt>
                <c:pt idx="7">
                  <c:v>18.5</c:v>
                </c:pt>
                <c:pt idx="8">
                  <c:v>18.7</c:v>
                </c:pt>
                <c:pt idx="9">
                  <c:v>19.5</c:v>
                </c:pt>
                <c:pt idx="10">
                  <c:v>20.5</c:v>
                </c:pt>
                <c:pt idx="11">
                  <c:v>21.9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4C7-7441-AB9A-D1895E73225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June</c:v>
                </c:pt>
              </c:strCache>
            </c:strRef>
          </c:tx>
          <c:spPr>
            <a:ln w="12700" cap="flat">
              <a:noFill/>
              <a:miter lim="400000"/>
            </a:ln>
            <a:effectLst/>
          </c:spPr>
          <c:marker>
            <c:symbol val="circle"/>
            <c:size val="9"/>
            <c:spPr>
              <a:solidFill>
                <a:srgbClr val="000000">
                  <a:alpha val="0"/>
                </a:srgbClr>
              </a:solidFill>
              <a:ln w="38100" cap="flat">
                <a:solidFill>
                  <a:srgbClr val="8ABE5E"/>
                </a:solidFill>
                <a:prstDash val="solid"/>
                <a:miter lim="400000"/>
              </a:ln>
              <a:effectLst/>
            </c:spPr>
          </c:marker>
          <c:xVal>
            <c:numRef>
              <c:f>Sheet1!$D$2:$D$25</c:f>
              <c:numCache>
                <c:formatCode>General</c:formatCode>
                <c:ptCount val="24"/>
                <c:pt idx="12">
                  <c:v>85.2</c:v>
                </c:pt>
                <c:pt idx="13">
                  <c:v>108</c:v>
                </c:pt>
                <c:pt idx="14">
                  <c:v>110</c:v>
                </c:pt>
                <c:pt idx="15">
                  <c:v>60</c:v>
                </c:pt>
                <c:pt idx="16">
                  <c:v>83</c:v>
                </c:pt>
                <c:pt idx="17">
                  <c:v>68</c:v>
                </c:pt>
                <c:pt idx="18">
                  <c:v>93</c:v>
                </c:pt>
                <c:pt idx="19">
                  <c:v>61</c:v>
                </c:pt>
                <c:pt idx="20">
                  <c:v>64</c:v>
                </c:pt>
                <c:pt idx="21">
                  <c:v>84</c:v>
                </c:pt>
                <c:pt idx="22">
                  <c:v>87</c:v>
                </c:pt>
                <c:pt idx="23">
                  <c:v>51</c:v>
                </c:pt>
              </c:numCache>
            </c:numRef>
          </c:xVal>
          <c:yVal>
            <c:numRef>
              <c:f>Sheet1!$E$2:$E$25</c:f>
              <c:numCache>
                <c:formatCode>General</c:formatCode>
                <c:ptCount val="24"/>
                <c:pt idx="12">
                  <c:v>16.8</c:v>
                </c:pt>
                <c:pt idx="13">
                  <c:v>17.7</c:v>
                </c:pt>
                <c:pt idx="14">
                  <c:v>19.100000000000001</c:v>
                </c:pt>
                <c:pt idx="15">
                  <c:v>18.5</c:v>
                </c:pt>
                <c:pt idx="16">
                  <c:v>20</c:v>
                </c:pt>
                <c:pt idx="17">
                  <c:v>20</c:v>
                </c:pt>
                <c:pt idx="18">
                  <c:v>20.8</c:v>
                </c:pt>
                <c:pt idx="19">
                  <c:v>20.8</c:v>
                </c:pt>
                <c:pt idx="20">
                  <c:v>21.9</c:v>
                </c:pt>
                <c:pt idx="21">
                  <c:v>22.4</c:v>
                </c:pt>
                <c:pt idx="22">
                  <c:v>23.5</c:v>
                </c:pt>
                <c:pt idx="23">
                  <c:v>22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4C7-7441-AB9A-D1895E7322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2"/>
        <c:axId val="2094734553"/>
      </c:scatterChart>
      <c:valAx>
        <c:axId val="2094734552"/>
        <c:scaling>
          <c:orientation val="minMax"/>
          <c:max val="115"/>
          <c:min val="25"/>
        </c:scaling>
        <c:delete val="0"/>
        <c:axPos val="b"/>
        <c:majorGridlines>
          <c:spPr>
            <a:ln w="12700" cap="flat">
              <a:solidFill>
                <a:srgbClr val="A6AAA9">
                  <a:alpha val="50000"/>
                </a:srgbClr>
              </a:solidFill>
              <a:prstDash val="solid"/>
              <a:miter lim="400000"/>
            </a:ln>
          </c:spPr>
        </c:majorGridlines>
        <c:title>
          <c:tx>
            <c:rich>
              <a:bodyPr rot="0"/>
              <a:lstStyle/>
              <a:p>
                <a:pPr>
                  <a:defRPr sz="1200" b="0" i="0" u="none" strike="noStrike">
                    <a:solidFill>
                      <a:srgbClr val="838787"/>
                    </a:solidFill>
                    <a:latin typeface="Calibri"/>
                  </a:defRPr>
                </a:pPr>
                <a:r>
                  <a:rPr lang="en-AU" sz="1200" b="0" i="0" u="none" strike="noStrike">
                    <a:solidFill>
                      <a:srgbClr val="838787"/>
                    </a:solidFill>
                    <a:latin typeface="Calibri"/>
                  </a:rPr>
                  <a:t>Weight</a:t>
                </a:r>
              </a:p>
            </c:rich>
          </c:tx>
          <c:overlay val="1"/>
        </c:title>
        <c:numFmt formatCode="0" sourceLinked="0"/>
        <c:majorTickMark val="none"/>
        <c:minorTickMark val="none"/>
        <c:tickLblPos val="nextTo"/>
        <c:spPr>
          <a:ln w="12700" cap="flat">
            <a:solidFill>
              <a:srgbClr val="838787"/>
            </a:solidFill>
            <a:prstDash val="solid"/>
            <a:miter lim="400000"/>
          </a:ln>
        </c:spPr>
        <c:txPr>
          <a:bodyPr rot="0"/>
          <a:lstStyle/>
          <a:p>
            <a:pPr>
              <a:defRPr sz="1000" b="0" i="0" u="none" strike="noStrike">
                <a:solidFill>
                  <a:srgbClr val="838787"/>
                </a:solidFill>
                <a:latin typeface="Calibri"/>
              </a:defRPr>
            </a:pPr>
            <a:endParaRPr lang="en-US"/>
          </a:p>
        </c:txPr>
        <c:crossAx val="2094734553"/>
        <c:crosses val="autoZero"/>
        <c:crossBetween val="between"/>
        <c:majorUnit val="10"/>
        <c:minorUnit val="5"/>
      </c:valAx>
      <c:valAx>
        <c:axId val="2094734553"/>
        <c:scaling>
          <c:orientation val="minMax"/>
          <c:max val="25"/>
          <c:min val="13"/>
        </c:scaling>
        <c:delete val="0"/>
        <c:axPos val="l"/>
        <c:majorGridlines>
          <c:spPr>
            <a:ln w="12700" cap="flat">
              <a:solidFill>
                <a:srgbClr val="A6AAA9">
                  <a:alpha val="50000"/>
                </a:srgbClr>
              </a:solidFill>
              <a:prstDash val="solid"/>
              <a:miter lim="400000"/>
            </a:ln>
          </c:spPr>
        </c:majorGridlines>
        <c:title>
          <c:tx>
            <c:rich>
              <a:bodyPr rot="-5400000"/>
              <a:lstStyle/>
              <a:p>
                <a:pPr>
                  <a:defRPr sz="1200" b="0" i="0" u="none" strike="noStrike">
                    <a:solidFill>
                      <a:srgbClr val="838787"/>
                    </a:solidFill>
                    <a:latin typeface="Calibri"/>
                  </a:defRPr>
                </a:pPr>
                <a:r>
                  <a:rPr lang="en-AU" sz="1200" b="0" i="0" u="none" strike="noStrike">
                    <a:solidFill>
                      <a:srgbClr val="838787"/>
                    </a:solidFill>
                    <a:latin typeface="Calibri"/>
                  </a:rPr>
                  <a:t>Juice</a:t>
                </a:r>
              </a:p>
            </c:rich>
          </c:tx>
          <c:overlay val="1"/>
        </c:title>
        <c:numFmt formatCode="0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sz="1000" b="0" i="0" u="none" strike="noStrike">
                <a:solidFill>
                  <a:srgbClr val="83878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crossBetween val="between"/>
        <c:majorUnit val="2"/>
        <c:minorUnit val="1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/>
          </a:p>
        </p:txBody>
      </p:sp>
      <p:sp>
        <p:nvSpPr>
          <p:cNvPr id="267" name="Google Shape;26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A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/>
          </a:p>
        </p:txBody>
      </p:sp>
      <p:sp>
        <p:nvSpPr>
          <p:cNvPr id="479" name="Google Shape;479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A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5" name="Google Shape;48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/>
          </a:p>
        </p:txBody>
      </p:sp>
      <p:sp>
        <p:nvSpPr>
          <p:cNvPr id="486" name="Google Shape;486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A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8" name="Google Shape;49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/>
          </a:p>
        </p:txBody>
      </p:sp>
      <p:sp>
        <p:nvSpPr>
          <p:cNvPr id="499" name="Google Shape;499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A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5" name="Google Shape;50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/>
          </a:p>
        </p:txBody>
      </p:sp>
      <p:sp>
        <p:nvSpPr>
          <p:cNvPr id="506" name="Google Shape;506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A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2" name="Google Shape;51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/>
          </a:p>
        </p:txBody>
      </p:sp>
      <p:sp>
        <p:nvSpPr>
          <p:cNvPr id="513" name="Google Shape;513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A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2" name="Google Shape;562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/>
          </a:p>
        </p:txBody>
      </p:sp>
      <p:sp>
        <p:nvSpPr>
          <p:cNvPr id="563" name="Google Shape;563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A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/>
          </a:p>
        </p:txBody>
      </p:sp>
      <p:sp>
        <p:nvSpPr>
          <p:cNvPr id="575" name="Google Shape;57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/>
          </a:p>
        </p:txBody>
      </p:sp>
      <p:sp>
        <p:nvSpPr>
          <p:cNvPr id="581" name="Google Shape;58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7" name="Google Shape;587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/>
          </a:p>
        </p:txBody>
      </p:sp>
      <p:sp>
        <p:nvSpPr>
          <p:cNvPr id="588" name="Google Shape;588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A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3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600054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4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/>
          </a:p>
        </p:txBody>
      </p:sp>
      <p:sp>
        <p:nvSpPr>
          <p:cNvPr id="777" name="Google Shape;77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tx">
  <p:cSld name="TITLE_AND_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4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AU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44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AU" sz="1400" b="0" i="0" u="none" strike="noStrike" cap="none" dirty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2021 Institute of </a:t>
            </a:r>
            <a:r>
              <a:rPr lang="en-AU" dirty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black 1-column">
  <p:cSld name="Title and Content black 1-column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5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5"/>
          <p:cNvSpPr txBox="1">
            <a:spLocks noGrp="1"/>
          </p:cNvSpPr>
          <p:nvPr>
            <p:ph type="body" idx="1"/>
          </p:nvPr>
        </p:nvSpPr>
        <p:spPr>
          <a:xfrm>
            <a:off x="1267261" y="1523223"/>
            <a:ext cx="10709835" cy="5164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>
                <a:solidFill>
                  <a:srgbClr val="1EBAD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utline black 1-column">
  <p:cSld name="Outline black 1-colum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3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50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3"/>
          <p:cNvSpPr txBox="1">
            <a:spLocks noGrp="1"/>
          </p:cNvSpPr>
          <p:nvPr>
            <p:ph type="body" idx="1"/>
          </p:nvPr>
        </p:nvSpPr>
        <p:spPr>
          <a:xfrm>
            <a:off x="3142051" y="1745524"/>
            <a:ext cx="8440350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/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/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/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/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cxnSp>
        <p:nvCxnSpPr>
          <p:cNvPr id="26" name="Google Shape;26;p53"/>
          <p:cNvCxnSpPr/>
          <p:nvPr/>
        </p:nvCxnSpPr>
        <p:spPr>
          <a:xfrm flipH="1">
            <a:off x="2842477" y="276933"/>
            <a:ext cx="1" cy="6296302"/>
          </a:xfrm>
          <a:prstGeom prst="straightConnector1">
            <a:avLst/>
          </a:prstGeom>
          <a:noFill/>
          <a:ln w="38100" cap="flat" cmpd="sng">
            <a:solidFill>
              <a:srgbClr val="1EBADD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7" name="Google Shape;27;p53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AU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28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39483" y="275093"/>
            <a:ext cx="3158750" cy="145788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53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AU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Institute of </a:t>
            </a:r>
            <a:r>
              <a:rPr lang="en-AU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>
  <p:cSld name="TITLE 2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4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4"/>
          <p:cNvSpPr txBox="1">
            <a:spLocks noGrp="1"/>
          </p:cNvSpPr>
          <p:nvPr>
            <p:ph type="body" idx="1"/>
          </p:nvPr>
        </p:nvSpPr>
        <p:spPr>
          <a:xfrm>
            <a:off x="1524000" y="3602037"/>
            <a:ext cx="9144000" cy="1655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>
                <a:solidFill>
                  <a:srgbClr val="000000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>
                <a:solidFill>
                  <a:srgbClr val="000000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>
                <a:solidFill>
                  <a:srgbClr val="000000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>
                <a:solidFill>
                  <a:srgbClr val="000000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>
                <a:solidFill>
                  <a:srgbClr val="000000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4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AU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4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AU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Institute of </a:t>
            </a:r>
            <a:r>
              <a:rPr lang="en-AU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BJECT">
  <p:cSld name="OBJECT 2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Calibri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5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AU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5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AU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Institute of </a:t>
            </a:r>
            <a:r>
              <a:rPr lang="en-AU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_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6"/>
          <p:cNvSpPr txBox="1">
            <a:spLocks noGrp="1"/>
          </p:cNvSpPr>
          <p:nvPr>
            <p:ph type="body" idx="1"/>
          </p:nvPr>
        </p:nvSpPr>
        <p:spPr>
          <a:xfrm>
            <a:off x="831850" y="4589462"/>
            <a:ext cx="10515600" cy="15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56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AU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6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AU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Institute of </a:t>
            </a:r>
            <a:r>
              <a:rPr lang="en-AU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_OBJECTS_WITH_TEXT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7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7"/>
          <p:cNvSpPr txBox="1">
            <a:spLocks noGrp="1"/>
          </p:cNvSpPr>
          <p:nvPr>
            <p:ph type="body" idx="1"/>
          </p:nvPr>
        </p:nvSpPr>
        <p:spPr>
          <a:xfrm>
            <a:off x="839787" y="1681163"/>
            <a:ext cx="5157790" cy="82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>
                <a:solidFill>
                  <a:srgbClr val="000000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>
                <a:solidFill>
                  <a:srgbClr val="000000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>
                <a:solidFill>
                  <a:srgbClr val="000000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>
                <a:solidFill>
                  <a:srgbClr val="000000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7"/>
          <p:cNvSpPr txBox="1">
            <a:spLocks noGrp="1"/>
          </p:cNvSpPr>
          <p:nvPr>
            <p:ph type="body" idx="2"/>
          </p:nvPr>
        </p:nvSpPr>
        <p:spPr>
          <a:xfrm>
            <a:off x="839787" y="2505075"/>
            <a:ext cx="515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57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AU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" name="Google Shape;52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56528"/>
            <a:ext cx="857679" cy="857679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57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AU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Institute of </a:t>
            </a:r>
            <a:r>
              <a:rPr lang="en-AU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_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Calibri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8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AU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8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AU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Institute of </a:t>
            </a:r>
            <a:r>
              <a:rPr lang="en-AU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BJECT_WITH_CAPTION_TEXT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9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9"/>
          <p:cNvSpPr txBox="1">
            <a:spLocks noGrp="1"/>
          </p:cNvSpPr>
          <p:nvPr>
            <p:ph type="body" idx="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</a:defRPr>
            </a:lvl1pPr>
            <a:lvl2pPr marL="914400" lvl="1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</a:defRPr>
            </a:lvl2pPr>
            <a:lvl3pPr marL="1371600" lvl="2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</a:defRPr>
            </a:lvl3pPr>
            <a:lvl4pPr marL="1828800" lvl="3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</a:defRPr>
            </a:lvl4pPr>
            <a:lvl5pPr marL="2286000" lvl="4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59"/>
          <p:cNvSpPr txBox="1">
            <a:spLocks noGrp="1"/>
          </p:cNvSpPr>
          <p:nvPr>
            <p:ph type="body" idx="2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59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AU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9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AU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Institute of </a:t>
            </a:r>
            <a:r>
              <a:rPr lang="en-AU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_WITH_CAPTION_TEXT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0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0"/>
          <p:cNvSpPr>
            <a:spLocks noGrp="1"/>
          </p:cNvSpPr>
          <p:nvPr>
            <p:ph type="pic" idx="2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60"/>
          <p:cNvSpPr txBox="1">
            <a:spLocks noGrp="1"/>
          </p:cNvSpPr>
          <p:nvPr>
            <p:ph type="body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60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AU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0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AU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Institute of </a:t>
            </a:r>
            <a:r>
              <a:rPr lang="en-AU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_TEXT" type="vertTx">
  <p:cSld name="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61"/>
          <p:cNvSpPr txBox="1">
            <a:spLocks noGrp="1"/>
          </p:cNvSpPr>
          <p:nvPr>
            <p:ph type="body" idx="1"/>
          </p:nvPr>
        </p:nvSpPr>
        <p:spPr>
          <a:xfrm rot="5400000">
            <a:off x="3920330" y="-1256506"/>
            <a:ext cx="4351340" cy="1051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61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AU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1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AU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Institute of </a:t>
            </a:r>
            <a:r>
              <a:rPr lang="en-AU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_TITLE_AND_VERTICAL_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2"/>
          <p:cNvSpPr txBox="1">
            <a:spLocks noGrp="1"/>
          </p:cNvSpPr>
          <p:nvPr>
            <p:ph type="title"/>
          </p:nvPr>
        </p:nvSpPr>
        <p:spPr>
          <a:xfrm rot="5400000">
            <a:off x="7133431" y="1956592"/>
            <a:ext cx="5811840" cy="2628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Calibri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7"/>
            <a:ext cx="5811838" cy="7734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62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AU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2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AU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Institute of </a:t>
            </a:r>
            <a:r>
              <a:rPr lang="en-AU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Deck Title black">
  <p:cSld name="Slide Deck Title black">
    <p:bg>
      <p:bgPr>
        <a:solidFill>
          <a:srgbClr val="000000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3"/>
          <p:cNvSpPr txBox="1">
            <a:spLocks noGrp="1"/>
          </p:cNvSpPr>
          <p:nvPr>
            <p:ph type="title"/>
          </p:nvPr>
        </p:nvSpPr>
        <p:spPr>
          <a:xfrm>
            <a:off x="924361" y="275499"/>
            <a:ext cx="10709835" cy="1683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libri"/>
              <a:buNone/>
              <a:defRPr sz="720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3"/>
          <p:cNvSpPr txBox="1">
            <a:spLocks noGrp="1"/>
          </p:cNvSpPr>
          <p:nvPr>
            <p:ph type="body" idx="1"/>
          </p:nvPr>
        </p:nvSpPr>
        <p:spPr>
          <a:xfrm>
            <a:off x="924361" y="2743200"/>
            <a:ext cx="10709835" cy="383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alibri"/>
              <a:buChar char="•"/>
              <a:defRPr>
                <a:solidFill>
                  <a:schemeClr val="accent3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alibri"/>
              <a:buChar char="•"/>
              <a:defRPr>
                <a:solidFill>
                  <a:schemeClr val="accent3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alibri"/>
              <a:buChar char="•"/>
              <a:defRPr>
                <a:solidFill>
                  <a:schemeClr val="accent3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alibri"/>
              <a:buChar char="•"/>
              <a:defRPr>
                <a:solidFill>
                  <a:schemeClr val="accent3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63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AU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3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AU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Institute of </a:t>
            </a:r>
            <a:r>
              <a:rPr lang="en-AU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white 1-column">
  <p:cSld name="Section Title white 1-colum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4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50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Calibri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64"/>
          <p:cNvSpPr txBox="1">
            <a:spLocks noGrp="1"/>
          </p:cNvSpPr>
          <p:nvPr>
            <p:ph type="body" idx="1"/>
          </p:nvPr>
        </p:nvSpPr>
        <p:spPr>
          <a:xfrm>
            <a:off x="3142051" y="1745524"/>
            <a:ext cx="8440350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cxnSp>
        <p:nvCxnSpPr>
          <p:cNvPr id="88" name="Google Shape;88;p64"/>
          <p:cNvCxnSpPr/>
          <p:nvPr/>
        </p:nvCxnSpPr>
        <p:spPr>
          <a:xfrm flipH="1">
            <a:off x="2842477" y="276933"/>
            <a:ext cx="1" cy="6296302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9" name="Google Shape;89;p64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AU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4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AU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Institute of </a:t>
            </a:r>
            <a:r>
              <a:rPr lang="en-AU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black 1-column">
  <p:cSld name="Section Title black 1-column">
    <p:bg>
      <p:bgPr>
        <a:solidFill>
          <a:srgbClr val="000000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5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50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65"/>
          <p:cNvSpPr txBox="1">
            <a:spLocks noGrp="1"/>
          </p:cNvSpPr>
          <p:nvPr>
            <p:ph type="body" idx="1"/>
          </p:nvPr>
        </p:nvSpPr>
        <p:spPr>
          <a:xfrm>
            <a:off x="3142051" y="1745524"/>
            <a:ext cx="8440350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cxnSp>
        <p:nvCxnSpPr>
          <p:cNvPr id="94" name="Google Shape;94;p65"/>
          <p:cNvCxnSpPr/>
          <p:nvPr/>
        </p:nvCxnSpPr>
        <p:spPr>
          <a:xfrm flipH="1">
            <a:off x="2842477" y="276933"/>
            <a:ext cx="1" cy="6296302"/>
          </a:xfrm>
          <a:prstGeom prst="straightConnector1">
            <a:avLst/>
          </a:prstGeom>
          <a:noFill/>
          <a:ln w="127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95" name="Google Shape;95;p65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AU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5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AU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Institute of </a:t>
            </a:r>
            <a:r>
              <a:rPr lang="en-AU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white 2-column">
  <p:cSld name="Section Title white 2-column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6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50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Calibri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6"/>
          <p:cNvSpPr txBox="1">
            <a:spLocks noGrp="1"/>
          </p:cNvSpPr>
          <p:nvPr>
            <p:ph type="body" idx="1"/>
          </p:nvPr>
        </p:nvSpPr>
        <p:spPr>
          <a:xfrm>
            <a:off x="3142051" y="1745524"/>
            <a:ext cx="8440350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cxnSp>
        <p:nvCxnSpPr>
          <p:cNvPr id="100" name="Google Shape;100;p66"/>
          <p:cNvCxnSpPr/>
          <p:nvPr/>
        </p:nvCxnSpPr>
        <p:spPr>
          <a:xfrm flipH="1">
            <a:off x="2842477" y="276933"/>
            <a:ext cx="1" cy="6296302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1" name="Google Shape;101;p66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AU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6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AU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Institute of </a:t>
            </a:r>
            <a:r>
              <a:rPr lang="en-AU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black 2-column">
  <p:cSld name="Section Title black 2-column">
    <p:bg>
      <p:bgPr>
        <a:solidFill>
          <a:srgbClr val="000000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7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50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67"/>
          <p:cNvSpPr txBox="1">
            <a:spLocks noGrp="1"/>
          </p:cNvSpPr>
          <p:nvPr>
            <p:ph type="body" idx="1"/>
          </p:nvPr>
        </p:nvSpPr>
        <p:spPr>
          <a:xfrm>
            <a:off x="3142051" y="1745524"/>
            <a:ext cx="8440350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cxnSp>
        <p:nvCxnSpPr>
          <p:cNvPr id="106" name="Google Shape;106;p67"/>
          <p:cNvCxnSpPr/>
          <p:nvPr/>
        </p:nvCxnSpPr>
        <p:spPr>
          <a:xfrm flipH="1">
            <a:off x="2842477" y="276933"/>
            <a:ext cx="1" cy="6296302"/>
          </a:xfrm>
          <a:prstGeom prst="straightConnector1">
            <a:avLst/>
          </a:prstGeom>
          <a:noFill/>
          <a:ln w="127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7" name="Google Shape;107;p67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AU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7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AU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Institute of </a:t>
            </a:r>
            <a:r>
              <a:rPr lang="en-AU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 white 1-column">
  <p:cSld name="Title and Content white 1-column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8"/>
          <p:cNvSpPr txBox="1">
            <a:spLocks noGrp="1"/>
          </p:cNvSpPr>
          <p:nvPr>
            <p:ph type="title"/>
          </p:nvPr>
        </p:nvSpPr>
        <p:spPr>
          <a:xfrm>
            <a:off x="924361" y="275499"/>
            <a:ext cx="10709835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Calibri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68"/>
          <p:cNvSpPr txBox="1">
            <a:spLocks noGrp="1"/>
          </p:cNvSpPr>
          <p:nvPr>
            <p:ph type="body" idx="1"/>
          </p:nvPr>
        </p:nvSpPr>
        <p:spPr>
          <a:xfrm>
            <a:off x="924361" y="1745524"/>
            <a:ext cx="10709835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68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AU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8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AU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Institute of </a:t>
            </a:r>
            <a:r>
              <a:rPr lang="en-AU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 white 2-column">
  <p:cSld name="Title and Content white 2-column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9"/>
          <p:cNvSpPr txBox="1">
            <a:spLocks noGrp="1"/>
          </p:cNvSpPr>
          <p:nvPr>
            <p:ph type="title"/>
          </p:nvPr>
        </p:nvSpPr>
        <p:spPr>
          <a:xfrm>
            <a:off x="924361" y="275499"/>
            <a:ext cx="10709835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Calibri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69"/>
          <p:cNvSpPr txBox="1">
            <a:spLocks noGrp="1"/>
          </p:cNvSpPr>
          <p:nvPr>
            <p:ph type="body" idx="1"/>
          </p:nvPr>
        </p:nvSpPr>
        <p:spPr>
          <a:xfrm>
            <a:off x="924361" y="1745524"/>
            <a:ext cx="10709835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69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AU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9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AU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Institute of </a:t>
            </a:r>
            <a:r>
              <a:rPr lang="en-AU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 white 3-column">
  <p:cSld name="Title and Content white 3-column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0"/>
          <p:cNvSpPr txBox="1">
            <a:spLocks noGrp="1"/>
          </p:cNvSpPr>
          <p:nvPr>
            <p:ph type="title"/>
          </p:nvPr>
        </p:nvSpPr>
        <p:spPr>
          <a:xfrm>
            <a:off x="924361" y="275499"/>
            <a:ext cx="10709835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Calibri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70"/>
          <p:cNvSpPr txBox="1">
            <a:spLocks noGrp="1"/>
          </p:cNvSpPr>
          <p:nvPr>
            <p:ph type="body" idx="1"/>
          </p:nvPr>
        </p:nvSpPr>
        <p:spPr>
          <a:xfrm>
            <a:off x="924361" y="1745524"/>
            <a:ext cx="10709835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70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AU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0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AU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Institute of </a:t>
            </a:r>
            <a:r>
              <a:rPr lang="en-AU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utline white 1-column" type="tx">
  <p:cSld name="TITLE_AND_BODY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7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50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None/>
              <a:defRPr>
                <a:solidFill>
                  <a:srgbClr val="0000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47"/>
          <p:cNvSpPr txBox="1">
            <a:spLocks noGrp="1"/>
          </p:cNvSpPr>
          <p:nvPr>
            <p:ph type="body" idx="1"/>
          </p:nvPr>
        </p:nvSpPr>
        <p:spPr>
          <a:xfrm>
            <a:off x="3142051" y="1745524"/>
            <a:ext cx="8440350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cxnSp>
        <p:nvCxnSpPr>
          <p:cNvPr id="133" name="Google Shape;133;p47"/>
          <p:cNvCxnSpPr/>
          <p:nvPr/>
        </p:nvCxnSpPr>
        <p:spPr>
          <a:xfrm flipH="1">
            <a:off x="2842477" y="276933"/>
            <a:ext cx="1" cy="6296302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4" name="Google Shape;134;p47"/>
          <p:cNvSpPr txBox="1"/>
          <p:nvPr/>
        </p:nvSpPr>
        <p:spPr>
          <a:xfrm>
            <a:off x="3735454" y="6356350"/>
            <a:ext cx="4721092" cy="3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AU" sz="1400" b="0" i="0" u="none" strike="noStrike" cap="none" dirty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2021 Institute of </a:t>
            </a:r>
            <a:r>
              <a:rPr lang="en-AU" dirty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dirty="0"/>
          </a:p>
        </p:txBody>
      </p:sp>
      <p:sp>
        <p:nvSpPr>
          <p:cNvPr id="135" name="Google Shape;135;p47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AU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39483" y="275093"/>
            <a:ext cx="3158750" cy="1457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Calibri"/>
              <a:buNone/>
              <a:defRPr>
                <a:solidFill>
                  <a:srgbClr val="0000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4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-column">
  <p:cSld name="Title and Content 1-column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9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None/>
              <a:defRPr>
                <a:solidFill>
                  <a:srgbClr val="0000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49"/>
          <p:cNvSpPr txBox="1">
            <a:spLocks noGrp="1"/>
          </p:cNvSpPr>
          <p:nvPr>
            <p:ph type="body" idx="1"/>
          </p:nvPr>
        </p:nvSpPr>
        <p:spPr>
          <a:xfrm>
            <a:off x="1267261" y="1524000"/>
            <a:ext cx="10709835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black 1-column">
  <p:cSld name="Title and Content black 1-column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0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None/>
              <a:defRPr>
                <a:solidFill>
                  <a:srgbClr val="0000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50"/>
          <p:cNvSpPr txBox="1">
            <a:spLocks noGrp="1"/>
          </p:cNvSpPr>
          <p:nvPr>
            <p:ph type="body" idx="1"/>
          </p:nvPr>
        </p:nvSpPr>
        <p:spPr>
          <a:xfrm>
            <a:off x="1267261" y="1523223"/>
            <a:ext cx="10709700" cy="51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50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1"/>
          <p:cNvSpPr txBox="1"/>
          <p:nvPr/>
        </p:nvSpPr>
        <p:spPr>
          <a:xfrm>
            <a:off x="3735454" y="6356350"/>
            <a:ext cx="4721092" cy="3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AU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Data Science Institute of Australia</a:t>
            </a:r>
            <a:endParaRPr/>
          </a:p>
        </p:txBody>
      </p:sp>
      <p:sp>
        <p:nvSpPr>
          <p:cNvPr id="149" name="Google Shape;149;p71"/>
          <p:cNvSpPr/>
          <p:nvPr/>
        </p:nvSpPr>
        <p:spPr>
          <a:xfrm>
            <a:off x="159709" y="6244421"/>
            <a:ext cx="514307" cy="477055"/>
          </a:xfrm>
          <a:prstGeom prst="rect">
            <a:avLst/>
          </a:prstGeom>
          <a:solidFill>
            <a:srgbClr val="1DBBD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1"/>
          <p:cNvSpPr txBox="1">
            <a:spLocks noGrp="1"/>
          </p:cNvSpPr>
          <p:nvPr>
            <p:ph type="sldNum" idx="12"/>
          </p:nvPr>
        </p:nvSpPr>
        <p:spPr>
          <a:xfrm>
            <a:off x="209287" y="6254750"/>
            <a:ext cx="413066" cy="459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FAFF"/>
              </a:buClr>
              <a:buSzPts val="2400"/>
              <a:buFont typeface="Calibri"/>
              <a:buNone/>
              <a:defRPr>
                <a:solidFill>
                  <a:srgbClr val="FCFAFF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FAFF"/>
              </a:buClr>
              <a:buSzPts val="2400"/>
              <a:buFont typeface="Calibri"/>
              <a:buNone/>
              <a:defRPr>
                <a:solidFill>
                  <a:srgbClr val="FCFAFF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FAFF"/>
              </a:buClr>
              <a:buSzPts val="2400"/>
              <a:buFont typeface="Calibri"/>
              <a:buNone/>
              <a:defRPr>
                <a:solidFill>
                  <a:srgbClr val="FCFAFF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FAFF"/>
              </a:buClr>
              <a:buSzPts val="2400"/>
              <a:buFont typeface="Calibri"/>
              <a:buNone/>
              <a:defRPr>
                <a:solidFill>
                  <a:srgbClr val="FCFAFF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FAFF"/>
              </a:buClr>
              <a:buSzPts val="2400"/>
              <a:buFont typeface="Calibri"/>
              <a:buNone/>
              <a:defRPr>
                <a:solidFill>
                  <a:srgbClr val="FCFAFF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FAFF"/>
              </a:buClr>
              <a:buSzPts val="2400"/>
              <a:buFont typeface="Calibri"/>
              <a:buNone/>
              <a:defRPr>
                <a:solidFill>
                  <a:srgbClr val="FCFAFF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FAFF"/>
              </a:buClr>
              <a:buSzPts val="2400"/>
              <a:buFont typeface="Calibri"/>
              <a:buNone/>
              <a:defRPr>
                <a:solidFill>
                  <a:srgbClr val="FCFAFF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FAFF"/>
              </a:buClr>
              <a:buSzPts val="2400"/>
              <a:buFont typeface="Calibri"/>
              <a:buNone/>
              <a:defRPr>
                <a:solidFill>
                  <a:srgbClr val="FCFAFF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FAFF"/>
              </a:buClr>
              <a:buSzPts val="2400"/>
              <a:buFont typeface="Calibri"/>
              <a:buNone/>
              <a:defRPr>
                <a:solidFill>
                  <a:srgbClr val="FCFA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 sz="24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" type="twoObj">
  <p:cSld name="TWO_OBJECTS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2"/>
          <p:cNvSpPr txBox="1">
            <a:spLocks noGrp="1"/>
          </p:cNvSpPr>
          <p:nvPr>
            <p:ph type="title"/>
          </p:nvPr>
        </p:nvSpPr>
        <p:spPr>
          <a:xfrm>
            <a:off x="1270000" y="377825"/>
            <a:ext cx="1051560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72"/>
          <p:cNvSpPr txBox="1">
            <a:spLocks noGrp="1"/>
          </p:cNvSpPr>
          <p:nvPr>
            <p:ph type="body" idx="1"/>
          </p:nvPr>
        </p:nvSpPr>
        <p:spPr>
          <a:xfrm>
            <a:off x="1270000" y="1524000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72"/>
          <p:cNvSpPr txBox="1">
            <a:spLocks noGrp="1"/>
          </p:cNvSpPr>
          <p:nvPr>
            <p:ph type="body" idx="2"/>
          </p:nvPr>
        </p:nvSpPr>
        <p:spPr>
          <a:xfrm>
            <a:off x="6172200" y="1524000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72"/>
          <p:cNvSpPr txBox="1">
            <a:spLocks noGrp="1"/>
          </p:cNvSpPr>
          <p:nvPr>
            <p:ph type="sldNum" idx="12"/>
          </p:nvPr>
        </p:nvSpPr>
        <p:spPr>
          <a:xfrm>
            <a:off x="209287" y="6254750"/>
            <a:ext cx="413066" cy="459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>
                <a:solidFill>
                  <a:srgbClr val="FFFFFF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>
                <a:solidFill>
                  <a:srgbClr val="FFFFFF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>
                <a:solidFill>
                  <a:srgbClr val="FFFFFF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>
                <a:solidFill>
                  <a:srgbClr val="FFFFFF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>
                <a:solidFill>
                  <a:srgbClr val="FFFFFF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>
                <a:solidFill>
                  <a:srgbClr val="FFFFFF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>
                <a:solidFill>
                  <a:srgbClr val="FFFFFF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>
                <a:solidFill>
                  <a:srgbClr val="FFFFFF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utline black 1-column">
  <p:cSld name="Outline black 1-column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3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50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73"/>
          <p:cNvSpPr txBox="1">
            <a:spLocks noGrp="1"/>
          </p:cNvSpPr>
          <p:nvPr>
            <p:ph type="body" idx="1"/>
          </p:nvPr>
        </p:nvSpPr>
        <p:spPr>
          <a:xfrm>
            <a:off x="3142051" y="1745524"/>
            <a:ext cx="8440350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/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/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/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/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cxnSp>
        <p:nvCxnSpPr>
          <p:cNvPr id="159" name="Google Shape;159;p73"/>
          <p:cNvCxnSpPr/>
          <p:nvPr/>
        </p:nvCxnSpPr>
        <p:spPr>
          <a:xfrm flipH="1">
            <a:off x="2842477" y="276933"/>
            <a:ext cx="1" cy="6296302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60" name="Google Shape;160;p73"/>
          <p:cNvSpPr txBox="1"/>
          <p:nvPr/>
        </p:nvSpPr>
        <p:spPr>
          <a:xfrm>
            <a:off x="3735454" y="6356350"/>
            <a:ext cx="4721092" cy="3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AU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Institute of </a:t>
            </a:r>
            <a:r>
              <a:rPr lang="en-AU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pic>
        <p:nvPicPr>
          <p:cNvPr id="161" name="Google Shape;161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39483" y="275093"/>
            <a:ext cx="3158750" cy="145788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3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AU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 type="title">
  <p:cSld name="TITLE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4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74"/>
          <p:cNvSpPr txBox="1">
            <a:spLocks noGrp="1"/>
          </p:cNvSpPr>
          <p:nvPr>
            <p:ph type="body" idx="1"/>
          </p:nvPr>
        </p:nvSpPr>
        <p:spPr>
          <a:xfrm>
            <a:off x="1524000" y="3602037"/>
            <a:ext cx="9144000" cy="1655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>
                <a:solidFill>
                  <a:srgbClr val="000000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>
                <a:solidFill>
                  <a:srgbClr val="000000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>
                <a:solidFill>
                  <a:srgbClr val="000000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>
                <a:solidFill>
                  <a:srgbClr val="000000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>
                <a:solidFill>
                  <a:srgbClr val="000000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74"/>
          <p:cNvSpPr txBox="1">
            <a:spLocks noGrp="1"/>
          </p:cNvSpPr>
          <p:nvPr>
            <p:ph type="sldNum" idx="12"/>
          </p:nvPr>
        </p:nvSpPr>
        <p:spPr>
          <a:xfrm>
            <a:off x="11095219" y="6404313"/>
            <a:ext cx="258582" cy="26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BJECT">
  <p:cSld name="OBJECT 2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7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75"/>
          <p:cNvSpPr txBox="1">
            <a:spLocks noGrp="1"/>
          </p:cNvSpPr>
          <p:nvPr>
            <p:ph type="sldNum" idx="12"/>
          </p:nvPr>
        </p:nvSpPr>
        <p:spPr>
          <a:xfrm>
            <a:off x="11095219" y="6404313"/>
            <a:ext cx="258582" cy="26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_HEADER" type="secHead">
  <p:cSld name="SECTION_HEADER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76"/>
          <p:cNvSpPr txBox="1">
            <a:spLocks noGrp="1"/>
          </p:cNvSpPr>
          <p:nvPr>
            <p:ph type="body" idx="1"/>
          </p:nvPr>
        </p:nvSpPr>
        <p:spPr>
          <a:xfrm>
            <a:off x="831850" y="4589462"/>
            <a:ext cx="10515600" cy="15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76"/>
          <p:cNvSpPr txBox="1">
            <a:spLocks noGrp="1"/>
          </p:cNvSpPr>
          <p:nvPr>
            <p:ph type="sldNum" idx="12"/>
          </p:nvPr>
        </p:nvSpPr>
        <p:spPr>
          <a:xfrm>
            <a:off x="11095219" y="6404313"/>
            <a:ext cx="258582" cy="26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_OBJECTS_WITH_TEXT" type="twoTxTwoObj">
  <p:cSld name="TWO_OBJECTS_WITH_TEXT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7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77"/>
          <p:cNvSpPr txBox="1">
            <a:spLocks noGrp="1"/>
          </p:cNvSpPr>
          <p:nvPr>
            <p:ph type="body" idx="1"/>
          </p:nvPr>
        </p:nvSpPr>
        <p:spPr>
          <a:xfrm>
            <a:off x="839787" y="1681163"/>
            <a:ext cx="5157790" cy="82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>
                <a:solidFill>
                  <a:srgbClr val="000000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>
                <a:solidFill>
                  <a:srgbClr val="000000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>
                <a:solidFill>
                  <a:srgbClr val="000000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>
                <a:solidFill>
                  <a:srgbClr val="000000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77"/>
          <p:cNvSpPr txBox="1">
            <a:spLocks noGrp="1"/>
          </p:cNvSpPr>
          <p:nvPr>
            <p:ph type="body" idx="2"/>
          </p:nvPr>
        </p:nvSpPr>
        <p:spPr>
          <a:xfrm>
            <a:off x="839787" y="2505075"/>
            <a:ext cx="515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7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7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77"/>
          <p:cNvSpPr txBox="1">
            <a:spLocks noGrp="1"/>
          </p:cNvSpPr>
          <p:nvPr>
            <p:ph type="sldNum" idx="12"/>
          </p:nvPr>
        </p:nvSpPr>
        <p:spPr>
          <a:xfrm>
            <a:off x="39841" y="6457966"/>
            <a:ext cx="386624" cy="375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 b="0" i="0" u="none" strike="noStrike" cap="none"/>
          </a:p>
        </p:txBody>
      </p:sp>
      <p:pic>
        <p:nvPicPr>
          <p:cNvPr id="182" name="Google Shape;182;p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56528"/>
            <a:ext cx="857679" cy="857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_ONLY" type="titleOnly">
  <p:cSld name="TITLE_ONLY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78"/>
          <p:cNvSpPr txBox="1">
            <a:spLocks noGrp="1"/>
          </p:cNvSpPr>
          <p:nvPr>
            <p:ph type="sldNum" idx="12"/>
          </p:nvPr>
        </p:nvSpPr>
        <p:spPr>
          <a:xfrm>
            <a:off x="11095219" y="6404313"/>
            <a:ext cx="258582" cy="26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BJECT_WITH_CAPTION_TEXT" type="objTx">
  <p:cSld name="OBJECT_WITH_CAPTION_TEXT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9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79"/>
          <p:cNvSpPr txBox="1">
            <a:spLocks noGrp="1"/>
          </p:cNvSpPr>
          <p:nvPr>
            <p:ph type="body" idx="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</a:defRPr>
            </a:lvl1pPr>
            <a:lvl2pPr marL="914400" lvl="1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</a:defRPr>
            </a:lvl2pPr>
            <a:lvl3pPr marL="1371600" lvl="2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</a:defRPr>
            </a:lvl3pPr>
            <a:lvl4pPr marL="1828800" lvl="3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</a:defRPr>
            </a:lvl4pPr>
            <a:lvl5pPr marL="2286000" lvl="4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79"/>
          <p:cNvSpPr txBox="1">
            <a:spLocks noGrp="1"/>
          </p:cNvSpPr>
          <p:nvPr>
            <p:ph type="body" idx="2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79"/>
          <p:cNvSpPr txBox="1">
            <a:spLocks noGrp="1"/>
          </p:cNvSpPr>
          <p:nvPr>
            <p:ph type="sldNum" idx="12"/>
          </p:nvPr>
        </p:nvSpPr>
        <p:spPr>
          <a:xfrm>
            <a:off x="11095219" y="6404313"/>
            <a:ext cx="258582" cy="26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_WITH_CAPTION_TEXT" type="picTx">
  <p:cSld name="PICTURE_WITH_CAPTION_TEXT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0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80"/>
          <p:cNvSpPr>
            <a:spLocks noGrp="1"/>
          </p:cNvSpPr>
          <p:nvPr>
            <p:ph type="pic" idx="2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4" name="Google Shape;194;p80"/>
          <p:cNvSpPr txBox="1">
            <a:spLocks noGrp="1"/>
          </p:cNvSpPr>
          <p:nvPr>
            <p:ph type="body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95" name="Google Shape;195;p80"/>
          <p:cNvSpPr txBox="1">
            <a:spLocks noGrp="1"/>
          </p:cNvSpPr>
          <p:nvPr>
            <p:ph type="sldNum" idx="12"/>
          </p:nvPr>
        </p:nvSpPr>
        <p:spPr>
          <a:xfrm>
            <a:off x="11095219" y="6404313"/>
            <a:ext cx="258582" cy="26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_TEXT" type="vertTx">
  <p:cSld name="VERTICAL_TEXT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81"/>
          <p:cNvSpPr txBox="1">
            <a:spLocks noGrp="1"/>
          </p:cNvSpPr>
          <p:nvPr>
            <p:ph type="body" idx="1"/>
          </p:nvPr>
        </p:nvSpPr>
        <p:spPr>
          <a:xfrm rot="5400000">
            <a:off x="3920330" y="-1256506"/>
            <a:ext cx="4351340" cy="1051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99" name="Google Shape;199;p81"/>
          <p:cNvSpPr txBox="1">
            <a:spLocks noGrp="1"/>
          </p:cNvSpPr>
          <p:nvPr>
            <p:ph type="sldNum" idx="12"/>
          </p:nvPr>
        </p:nvSpPr>
        <p:spPr>
          <a:xfrm>
            <a:off x="11095219" y="6404313"/>
            <a:ext cx="258582" cy="26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_TITLE_AND_VERTICAL_TEXT" type="vertTitleAndTx">
  <p:cSld name="VERTICAL_TITLE_AND_VERTICAL_TEXT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2"/>
          <p:cNvSpPr txBox="1">
            <a:spLocks noGrp="1"/>
          </p:cNvSpPr>
          <p:nvPr>
            <p:ph type="title"/>
          </p:nvPr>
        </p:nvSpPr>
        <p:spPr>
          <a:xfrm rot="5400000">
            <a:off x="7133431" y="1956592"/>
            <a:ext cx="5811840" cy="2628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8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7"/>
            <a:ext cx="5811838" cy="7734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03" name="Google Shape;203;p82"/>
          <p:cNvSpPr txBox="1">
            <a:spLocks noGrp="1"/>
          </p:cNvSpPr>
          <p:nvPr>
            <p:ph type="sldNum" idx="12"/>
          </p:nvPr>
        </p:nvSpPr>
        <p:spPr>
          <a:xfrm>
            <a:off x="11095219" y="6404313"/>
            <a:ext cx="258582" cy="26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Deck Title black">
  <p:cSld name="Slide Deck Title black">
    <p:bg>
      <p:bgPr>
        <a:solidFill>
          <a:srgbClr val="000000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3"/>
          <p:cNvSpPr txBox="1">
            <a:spLocks noGrp="1"/>
          </p:cNvSpPr>
          <p:nvPr>
            <p:ph type="title"/>
          </p:nvPr>
        </p:nvSpPr>
        <p:spPr>
          <a:xfrm>
            <a:off x="924361" y="275499"/>
            <a:ext cx="10709835" cy="1683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libri"/>
              <a:buNone/>
              <a:defRPr sz="720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83"/>
          <p:cNvSpPr txBox="1">
            <a:spLocks noGrp="1"/>
          </p:cNvSpPr>
          <p:nvPr>
            <p:ph type="body" idx="1"/>
          </p:nvPr>
        </p:nvSpPr>
        <p:spPr>
          <a:xfrm>
            <a:off x="924361" y="2743200"/>
            <a:ext cx="10709835" cy="383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alibri"/>
              <a:buChar char="•"/>
              <a:defRPr>
                <a:solidFill>
                  <a:schemeClr val="accent3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alibri"/>
              <a:buChar char="•"/>
              <a:defRPr>
                <a:solidFill>
                  <a:schemeClr val="accent3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alibri"/>
              <a:buChar char="•"/>
              <a:defRPr>
                <a:solidFill>
                  <a:schemeClr val="accent3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alibri"/>
              <a:buChar char="•"/>
              <a:defRPr>
                <a:solidFill>
                  <a:schemeClr val="accent3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83"/>
          <p:cNvSpPr txBox="1">
            <a:spLocks noGrp="1"/>
          </p:cNvSpPr>
          <p:nvPr>
            <p:ph type="sldNum" idx="12"/>
          </p:nvPr>
        </p:nvSpPr>
        <p:spPr>
          <a:xfrm>
            <a:off x="8479018" y="6221751"/>
            <a:ext cx="258582" cy="26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white 1-column">
  <p:cSld name="Section Title white 1-column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4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50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84"/>
          <p:cNvSpPr txBox="1">
            <a:spLocks noGrp="1"/>
          </p:cNvSpPr>
          <p:nvPr>
            <p:ph type="body" idx="1"/>
          </p:nvPr>
        </p:nvSpPr>
        <p:spPr>
          <a:xfrm>
            <a:off x="3142051" y="1745524"/>
            <a:ext cx="8440350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cxnSp>
        <p:nvCxnSpPr>
          <p:cNvPr id="211" name="Google Shape;211;p84"/>
          <p:cNvCxnSpPr/>
          <p:nvPr/>
        </p:nvCxnSpPr>
        <p:spPr>
          <a:xfrm flipH="1">
            <a:off x="2842477" y="276933"/>
            <a:ext cx="1" cy="6296302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12" name="Google Shape;212;p84"/>
          <p:cNvSpPr txBox="1">
            <a:spLocks noGrp="1"/>
          </p:cNvSpPr>
          <p:nvPr>
            <p:ph type="sldNum" idx="12"/>
          </p:nvPr>
        </p:nvSpPr>
        <p:spPr>
          <a:xfrm>
            <a:off x="39841" y="6457966"/>
            <a:ext cx="386624" cy="375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 b="0" i="0" u="none" strike="noStrike" cap="none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black 1-column">
  <p:cSld name="Section Title black 1-column">
    <p:bg>
      <p:bgPr>
        <a:solidFill>
          <a:srgbClr val="000000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5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50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85"/>
          <p:cNvSpPr txBox="1">
            <a:spLocks noGrp="1"/>
          </p:cNvSpPr>
          <p:nvPr>
            <p:ph type="body" idx="1"/>
          </p:nvPr>
        </p:nvSpPr>
        <p:spPr>
          <a:xfrm>
            <a:off x="3142051" y="1745524"/>
            <a:ext cx="8440350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cxnSp>
        <p:nvCxnSpPr>
          <p:cNvPr id="216" name="Google Shape;216;p85"/>
          <p:cNvCxnSpPr/>
          <p:nvPr/>
        </p:nvCxnSpPr>
        <p:spPr>
          <a:xfrm flipH="1">
            <a:off x="2842477" y="276933"/>
            <a:ext cx="1" cy="6296302"/>
          </a:xfrm>
          <a:prstGeom prst="straightConnector1">
            <a:avLst/>
          </a:prstGeom>
          <a:noFill/>
          <a:ln w="127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17" name="Google Shape;217;p85"/>
          <p:cNvSpPr txBox="1">
            <a:spLocks noGrp="1"/>
          </p:cNvSpPr>
          <p:nvPr>
            <p:ph type="sldNum" idx="12"/>
          </p:nvPr>
        </p:nvSpPr>
        <p:spPr>
          <a:xfrm>
            <a:off x="39841" y="6457966"/>
            <a:ext cx="386624" cy="375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 b="0" i="0" u="none" strike="noStrike" cap="none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white 2-column">
  <p:cSld name="Section Title white 2-column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6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50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86"/>
          <p:cNvSpPr txBox="1">
            <a:spLocks noGrp="1"/>
          </p:cNvSpPr>
          <p:nvPr>
            <p:ph type="body" idx="1"/>
          </p:nvPr>
        </p:nvSpPr>
        <p:spPr>
          <a:xfrm>
            <a:off x="3142051" y="1745524"/>
            <a:ext cx="8440350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cxnSp>
        <p:nvCxnSpPr>
          <p:cNvPr id="221" name="Google Shape;221;p86"/>
          <p:cNvCxnSpPr/>
          <p:nvPr/>
        </p:nvCxnSpPr>
        <p:spPr>
          <a:xfrm flipH="1">
            <a:off x="2842477" y="276933"/>
            <a:ext cx="1" cy="6296302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22" name="Google Shape;222;p86"/>
          <p:cNvSpPr txBox="1">
            <a:spLocks noGrp="1"/>
          </p:cNvSpPr>
          <p:nvPr>
            <p:ph type="sldNum" idx="12"/>
          </p:nvPr>
        </p:nvSpPr>
        <p:spPr>
          <a:xfrm>
            <a:off x="39841" y="6457966"/>
            <a:ext cx="386624" cy="375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 b="0" i="0" u="none" strike="noStrike" cap="none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black 2-column">
  <p:cSld name="Section Title black 2-column">
    <p:bg>
      <p:bgPr>
        <a:solidFill>
          <a:srgbClr val="000000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7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50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87"/>
          <p:cNvSpPr txBox="1">
            <a:spLocks noGrp="1"/>
          </p:cNvSpPr>
          <p:nvPr>
            <p:ph type="body" idx="1"/>
          </p:nvPr>
        </p:nvSpPr>
        <p:spPr>
          <a:xfrm>
            <a:off x="3142051" y="1745524"/>
            <a:ext cx="8440350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cxnSp>
        <p:nvCxnSpPr>
          <p:cNvPr id="226" name="Google Shape;226;p87"/>
          <p:cNvCxnSpPr/>
          <p:nvPr/>
        </p:nvCxnSpPr>
        <p:spPr>
          <a:xfrm flipH="1">
            <a:off x="2842477" y="276933"/>
            <a:ext cx="1" cy="6296302"/>
          </a:xfrm>
          <a:prstGeom prst="straightConnector1">
            <a:avLst/>
          </a:prstGeom>
          <a:noFill/>
          <a:ln w="127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27" name="Google Shape;227;p87"/>
          <p:cNvSpPr txBox="1">
            <a:spLocks noGrp="1"/>
          </p:cNvSpPr>
          <p:nvPr>
            <p:ph type="sldNum" idx="12"/>
          </p:nvPr>
        </p:nvSpPr>
        <p:spPr>
          <a:xfrm>
            <a:off x="39841" y="6457966"/>
            <a:ext cx="386624" cy="375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 b="0" i="0" u="none" strike="noStrike" cap="none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 white 1-column">
  <p:cSld name="Title and Content white 1-column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8"/>
          <p:cNvSpPr txBox="1">
            <a:spLocks noGrp="1"/>
          </p:cNvSpPr>
          <p:nvPr>
            <p:ph type="title"/>
          </p:nvPr>
        </p:nvSpPr>
        <p:spPr>
          <a:xfrm>
            <a:off x="924361" y="275499"/>
            <a:ext cx="10709835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88"/>
          <p:cNvSpPr txBox="1">
            <a:spLocks noGrp="1"/>
          </p:cNvSpPr>
          <p:nvPr>
            <p:ph type="body" idx="1"/>
          </p:nvPr>
        </p:nvSpPr>
        <p:spPr>
          <a:xfrm>
            <a:off x="924361" y="1745524"/>
            <a:ext cx="10709835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p88"/>
          <p:cNvSpPr txBox="1">
            <a:spLocks noGrp="1"/>
          </p:cNvSpPr>
          <p:nvPr>
            <p:ph type="sldNum" idx="12"/>
          </p:nvPr>
        </p:nvSpPr>
        <p:spPr>
          <a:xfrm>
            <a:off x="39841" y="6457966"/>
            <a:ext cx="386624" cy="375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 b="0" i="0" u="none" strike="noStrike" cap="none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 white 2-column">
  <p:cSld name="Title and Content white 2-column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9"/>
          <p:cNvSpPr txBox="1">
            <a:spLocks noGrp="1"/>
          </p:cNvSpPr>
          <p:nvPr>
            <p:ph type="title"/>
          </p:nvPr>
        </p:nvSpPr>
        <p:spPr>
          <a:xfrm>
            <a:off x="924361" y="275499"/>
            <a:ext cx="10709835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89"/>
          <p:cNvSpPr txBox="1">
            <a:spLocks noGrp="1"/>
          </p:cNvSpPr>
          <p:nvPr>
            <p:ph type="body" idx="1"/>
          </p:nvPr>
        </p:nvSpPr>
        <p:spPr>
          <a:xfrm>
            <a:off x="924361" y="1745524"/>
            <a:ext cx="10709835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35" name="Google Shape;235;p89"/>
          <p:cNvSpPr txBox="1">
            <a:spLocks noGrp="1"/>
          </p:cNvSpPr>
          <p:nvPr>
            <p:ph type="sldNum" idx="12"/>
          </p:nvPr>
        </p:nvSpPr>
        <p:spPr>
          <a:xfrm>
            <a:off x="39841" y="6457966"/>
            <a:ext cx="386624" cy="375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 b="0" i="0" u="none" strike="noStrike" cap="none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 white 3-column">
  <p:cSld name="Title and Content white 3-column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0"/>
          <p:cNvSpPr txBox="1">
            <a:spLocks noGrp="1"/>
          </p:cNvSpPr>
          <p:nvPr>
            <p:ph type="title"/>
          </p:nvPr>
        </p:nvSpPr>
        <p:spPr>
          <a:xfrm>
            <a:off x="924361" y="275499"/>
            <a:ext cx="10709835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90"/>
          <p:cNvSpPr txBox="1">
            <a:spLocks noGrp="1"/>
          </p:cNvSpPr>
          <p:nvPr>
            <p:ph type="body" idx="1"/>
          </p:nvPr>
        </p:nvSpPr>
        <p:spPr>
          <a:xfrm>
            <a:off x="924361" y="1745524"/>
            <a:ext cx="10709835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39" name="Google Shape;239;p90"/>
          <p:cNvSpPr txBox="1">
            <a:spLocks noGrp="1"/>
          </p:cNvSpPr>
          <p:nvPr>
            <p:ph type="sldNum" idx="12"/>
          </p:nvPr>
        </p:nvSpPr>
        <p:spPr>
          <a:xfrm>
            <a:off x="39841" y="6457966"/>
            <a:ext cx="386624" cy="375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 b="0" i="0" u="none" strike="noStrike" cap="none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9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5" Type="http://schemas.openxmlformats.org/officeDocument/2006/relationships/slideLayout" Target="../slideLayouts/slideLayout47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46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3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1EBADD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1EBADD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1EBADD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1EBADD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1EBADD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1EBADD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1EBADD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1EBADD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3"/>
          <p:cNvSpPr txBox="1">
            <a:spLocks noGrp="1"/>
          </p:cNvSpPr>
          <p:nvPr>
            <p:ph type="body" idx="1"/>
          </p:nvPr>
        </p:nvSpPr>
        <p:spPr>
          <a:xfrm>
            <a:off x="1267261" y="1523223"/>
            <a:ext cx="10709835" cy="5164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3"/>
          <p:cNvSpPr txBox="1"/>
          <p:nvPr/>
        </p:nvSpPr>
        <p:spPr>
          <a:xfrm>
            <a:off x="3735454" y="6356350"/>
            <a:ext cx="4721092" cy="3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AU" sz="1400" b="0" i="0" u="none" strike="noStrike" cap="none" dirty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2021 Institute of </a:t>
            </a:r>
            <a:r>
              <a:rPr lang="en-AU" dirty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dirty="0"/>
          </a:p>
        </p:txBody>
      </p:sp>
      <p:sp>
        <p:nvSpPr>
          <p:cNvPr id="9" name="Google Shape;9;p43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AU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0;p43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0" y="156528"/>
            <a:ext cx="857679" cy="85767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6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7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1EBADD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1EBADD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1EBADD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1EBADD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1EBADD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1EBADD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1EBADD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1EBADD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6" name="Google Shape;126;p46"/>
          <p:cNvSpPr txBox="1">
            <a:spLocks noGrp="1"/>
          </p:cNvSpPr>
          <p:nvPr>
            <p:ph type="body" idx="1"/>
          </p:nvPr>
        </p:nvSpPr>
        <p:spPr>
          <a:xfrm>
            <a:off x="1267261" y="1523223"/>
            <a:ext cx="10709700" cy="51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7" name="Google Shape;127;p46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AU" sz="1400" b="0" i="0" u="none" strike="noStrike" cap="none" dirty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2021 Institute of </a:t>
            </a:r>
            <a:r>
              <a:rPr lang="en-AU" dirty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dirty="0"/>
          </a:p>
        </p:txBody>
      </p:sp>
      <p:sp>
        <p:nvSpPr>
          <p:cNvPr id="128" name="Google Shape;128;p46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46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0" y="156528"/>
            <a:ext cx="857679" cy="85767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  <p:sldLayoutId id="2147483695" r:id="rId24"/>
    <p:sldLayoutId id="2147483696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"/>
          <p:cNvSpPr txBox="1"/>
          <p:nvPr/>
        </p:nvSpPr>
        <p:spPr>
          <a:xfrm>
            <a:off x="3752267" y="4705060"/>
            <a:ext cx="4721093" cy="101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000"/>
              <a:buFont typeface="Calibri"/>
              <a:buNone/>
            </a:pPr>
            <a:r>
              <a:rPr lang="en-AU" sz="6000" b="0" i="0" u="none" strike="noStrike" cap="none" dirty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2021</a:t>
            </a:r>
            <a:endParaRPr dirty="0"/>
          </a:p>
        </p:txBody>
      </p:sp>
      <p:cxnSp>
        <p:nvCxnSpPr>
          <p:cNvPr id="248" name="Google Shape;248;p1"/>
          <p:cNvCxnSpPr/>
          <p:nvPr/>
        </p:nvCxnSpPr>
        <p:spPr>
          <a:xfrm>
            <a:off x="4044088" y="4565536"/>
            <a:ext cx="4149912" cy="13676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249" name="Google Shape;24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1800" y="1514960"/>
            <a:ext cx="5918413" cy="2731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"/>
          <p:cNvSpPr txBox="1">
            <a:spLocks noGrp="1"/>
          </p:cNvSpPr>
          <p:nvPr>
            <p:ph type="title"/>
          </p:nvPr>
        </p:nvSpPr>
        <p:spPr>
          <a:xfrm>
            <a:off x="991596" y="275498"/>
            <a:ext cx="10709835" cy="1758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7200"/>
              <a:buFont typeface="Cambria"/>
              <a:buNone/>
            </a:pPr>
            <a:r>
              <a:rPr lang="en-AU" sz="7200">
                <a:latin typeface="Cambria"/>
                <a:ea typeface="Cambria"/>
                <a:cs typeface="Cambria"/>
                <a:sym typeface="Cambria"/>
              </a:rPr>
              <a:t>Data Science and AI</a:t>
            </a:r>
            <a:endParaRPr/>
          </a:p>
        </p:txBody>
      </p:sp>
      <p:sp>
        <p:nvSpPr>
          <p:cNvPr id="255" name="Google Shape;255;p2"/>
          <p:cNvSpPr txBox="1">
            <a:spLocks noGrp="1"/>
          </p:cNvSpPr>
          <p:nvPr>
            <p:ph type="body" idx="1"/>
          </p:nvPr>
        </p:nvSpPr>
        <p:spPr>
          <a:xfrm>
            <a:off x="1040108" y="2324268"/>
            <a:ext cx="10709835" cy="3820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AU" sz="4400">
                <a:latin typeface="Cambria"/>
                <a:ea typeface="Cambria"/>
                <a:cs typeface="Cambria"/>
                <a:sym typeface="Cambria"/>
              </a:rPr>
              <a:t>Module 7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</a:pPr>
            <a:endParaRPr sz="4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</a:pPr>
            <a:r>
              <a:rPr lang="en-AU" sz="4400"/>
              <a:t>Decision Trees</a:t>
            </a:r>
            <a:endParaRPr sz="4400"/>
          </a:p>
        </p:txBody>
      </p:sp>
      <p:cxnSp>
        <p:nvCxnSpPr>
          <p:cNvPr id="256" name="Google Shape;256;p2"/>
          <p:cNvCxnSpPr/>
          <p:nvPr/>
        </p:nvCxnSpPr>
        <p:spPr>
          <a:xfrm>
            <a:off x="1145401" y="5215479"/>
            <a:ext cx="6156353" cy="20285"/>
          </a:xfrm>
          <a:prstGeom prst="straightConnector1">
            <a:avLst/>
          </a:prstGeom>
          <a:noFill/>
          <a:ln w="28575" cap="flat" cmpd="sng">
            <a:solidFill>
              <a:srgbClr val="DD4755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57" name="Google Shape;257;p2"/>
          <p:cNvCxnSpPr/>
          <p:nvPr/>
        </p:nvCxnSpPr>
        <p:spPr>
          <a:xfrm>
            <a:off x="1145401" y="4009725"/>
            <a:ext cx="6156353" cy="20286"/>
          </a:xfrm>
          <a:prstGeom prst="straightConnector1">
            <a:avLst/>
          </a:prstGeom>
          <a:noFill/>
          <a:ln w="28575" cap="flat" cmpd="sng">
            <a:solidFill>
              <a:srgbClr val="DD4755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50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AU" b="1"/>
              <a:t>Agenda: Module 7</a:t>
            </a:r>
            <a:endParaRPr/>
          </a:p>
        </p:txBody>
      </p:sp>
      <p:sp>
        <p:nvSpPr>
          <p:cNvPr id="263" name="Google Shape;263;p3"/>
          <p:cNvSpPr txBox="1">
            <a:spLocks noGrp="1"/>
          </p:cNvSpPr>
          <p:nvPr>
            <p:ph type="body" idx="1"/>
          </p:nvPr>
        </p:nvSpPr>
        <p:spPr>
          <a:xfrm>
            <a:off x="3142051" y="1745523"/>
            <a:ext cx="8440350" cy="482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AU" sz="2000" b="1">
                <a:solidFill>
                  <a:srgbClr val="0000FF"/>
                </a:solidFill>
              </a:rPr>
              <a:t>Overview</a:t>
            </a:r>
            <a:endParaRPr>
              <a:solidFill>
                <a:srgbClr val="0000FF"/>
              </a:solidFill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AU" sz="2000" b="1">
                <a:solidFill>
                  <a:srgbClr val="0000FF"/>
                </a:solidFill>
              </a:rPr>
              <a:t>Decision Trees</a:t>
            </a:r>
            <a:endParaRPr sz="2000" b="1">
              <a:solidFill>
                <a:srgbClr val="0000FF"/>
              </a:solidFill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1800">
                <a:solidFill>
                  <a:srgbClr val="000000"/>
                </a:solidFill>
              </a:rPr>
              <a:t>Advantages and Disadvantages</a:t>
            </a:r>
            <a:endParaRPr>
              <a:solidFill>
                <a:srgbClr val="000000"/>
              </a:solidFill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1800">
                <a:solidFill>
                  <a:srgbClr val="000000"/>
                </a:solidFill>
              </a:rPr>
              <a:t>Decision trees in Scikit Learn</a:t>
            </a:r>
            <a:endParaRPr>
              <a:solidFill>
                <a:srgbClr val="000000"/>
              </a:solidFill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1800">
                <a:solidFill>
                  <a:srgbClr val="000000"/>
                </a:solidFill>
              </a:rPr>
              <a:t>Setting hyperparameters</a:t>
            </a:r>
            <a:endParaRPr sz="1800">
              <a:solidFill>
                <a:srgbClr val="000000"/>
              </a:solidFill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AU" sz="2000" b="1">
                <a:solidFill>
                  <a:srgbClr val="0000FF"/>
                </a:solidFill>
              </a:rPr>
              <a:t>Random Forests</a:t>
            </a: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500" cy="13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AU"/>
              <a:t>Decision Trees</a:t>
            </a:r>
            <a:endParaRPr/>
          </a:p>
        </p:txBody>
      </p:sp>
      <p:sp>
        <p:nvSpPr>
          <p:cNvPr id="270" name="Google Shape;270;p4"/>
          <p:cNvSpPr txBox="1">
            <a:spLocks noGrp="1"/>
          </p:cNvSpPr>
          <p:nvPr>
            <p:ph type="body" idx="1"/>
          </p:nvPr>
        </p:nvSpPr>
        <p:spPr>
          <a:xfrm>
            <a:off x="3142051" y="1745524"/>
            <a:ext cx="8440500" cy="48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2000">
                <a:solidFill>
                  <a:srgbClr val="0C0C0C"/>
                </a:solidFill>
              </a:rPr>
              <a:t>A type of </a:t>
            </a:r>
            <a:r>
              <a:rPr lang="en-AU" sz="2000" b="1">
                <a:solidFill>
                  <a:srgbClr val="0000FF"/>
                </a:solidFill>
              </a:rPr>
              <a:t>supervised</a:t>
            </a:r>
            <a:r>
              <a:rPr lang="en-AU" sz="2000">
                <a:solidFill>
                  <a:srgbClr val="0000FF"/>
                </a:solidFill>
              </a:rPr>
              <a:t> </a:t>
            </a:r>
            <a:r>
              <a:rPr lang="en-AU" sz="2000">
                <a:solidFill>
                  <a:srgbClr val="0C0C0C"/>
                </a:solidFill>
              </a:rPr>
              <a:t>Machine Learning algorithm.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2000">
                <a:solidFill>
                  <a:srgbClr val="0C0C0C"/>
                </a:solidFill>
              </a:rPr>
              <a:t>It is one of the </a:t>
            </a:r>
            <a:r>
              <a:rPr lang="en-AU" sz="2000" b="1">
                <a:solidFill>
                  <a:srgbClr val="0000FF"/>
                </a:solidFill>
              </a:rPr>
              <a:t>most widely used</a:t>
            </a:r>
            <a:r>
              <a:rPr lang="en-AU" sz="2000" b="1">
                <a:solidFill>
                  <a:srgbClr val="1DBBDD"/>
                </a:solidFill>
              </a:rPr>
              <a:t> </a:t>
            </a:r>
            <a:r>
              <a:rPr lang="en-AU" sz="2000">
                <a:solidFill>
                  <a:srgbClr val="0C0C0C"/>
                </a:solidFill>
              </a:rPr>
              <a:t>and practical methods for classification. It is the </a:t>
            </a:r>
            <a:r>
              <a:rPr lang="en-AU" sz="2000" b="1">
                <a:solidFill>
                  <a:srgbClr val="0000FF"/>
                </a:solidFill>
              </a:rPr>
              <a:t>simplest</a:t>
            </a:r>
            <a:r>
              <a:rPr lang="en-AU" sz="2000">
                <a:solidFill>
                  <a:srgbClr val="0000FF"/>
                </a:solidFill>
              </a:rPr>
              <a:t> </a:t>
            </a:r>
            <a:r>
              <a:rPr lang="en-AU" sz="2000">
                <a:solidFill>
                  <a:srgbClr val="0C0C0C"/>
                </a:solidFill>
              </a:rPr>
              <a:t>and yet the </a:t>
            </a:r>
            <a:r>
              <a:rPr lang="en-AU" sz="2000" b="1">
                <a:solidFill>
                  <a:srgbClr val="0000FF"/>
                </a:solidFill>
              </a:rPr>
              <a:t>most powerful</a:t>
            </a:r>
            <a:r>
              <a:rPr lang="en-AU" sz="2000" b="1">
                <a:solidFill>
                  <a:srgbClr val="1DBBDD"/>
                </a:solidFill>
              </a:rPr>
              <a:t> </a:t>
            </a:r>
            <a:r>
              <a:rPr lang="en-AU" sz="2000">
                <a:solidFill>
                  <a:srgbClr val="0C0C0C"/>
                </a:solidFill>
              </a:rPr>
              <a:t>algorithm!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2000">
                <a:solidFill>
                  <a:srgbClr val="0C0C0C"/>
                </a:solidFill>
              </a:rPr>
              <a:t>A decision tree is a tree in which each branch node represents </a:t>
            </a:r>
            <a:r>
              <a:rPr lang="en-AU" sz="2000" b="1">
                <a:solidFill>
                  <a:srgbClr val="0000FF"/>
                </a:solidFill>
              </a:rPr>
              <a:t>a choice between a number of alternatives</a:t>
            </a:r>
            <a:r>
              <a:rPr lang="en-AU" sz="2000">
                <a:solidFill>
                  <a:srgbClr val="0C0C0C"/>
                </a:solidFill>
              </a:rPr>
              <a:t>, and each </a:t>
            </a:r>
            <a:r>
              <a:rPr lang="en-AU" sz="2000" b="1">
                <a:solidFill>
                  <a:srgbClr val="0000FF"/>
                </a:solidFill>
              </a:rPr>
              <a:t>leaf node</a:t>
            </a:r>
            <a:r>
              <a:rPr lang="en-AU" sz="2000" b="1">
                <a:solidFill>
                  <a:srgbClr val="1DBBDD"/>
                </a:solidFill>
              </a:rPr>
              <a:t> </a:t>
            </a:r>
            <a:r>
              <a:rPr lang="en-AU" sz="2000">
                <a:solidFill>
                  <a:srgbClr val="0C0C0C"/>
                </a:solidFill>
              </a:rPr>
              <a:t>represents an </a:t>
            </a:r>
            <a:r>
              <a:rPr lang="en-AU" sz="2000" b="1">
                <a:solidFill>
                  <a:srgbClr val="0000FF"/>
                </a:solidFill>
              </a:rPr>
              <a:t>outcome</a:t>
            </a:r>
            <a:r>
              <a:rPr lang="en-AU" sz="2000">
                <a:solidFill>
                  <a:srgbClr val="0C0C0C"/>
                </a:solidFill>
              </a:rPr>
              <a:t>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2000">
                <a:solidFill>
                  <a:srgbClr val="0C0C0C"/>
                </a:solidFill>
              </a:rPr>
              <a:t>The type of the </a:t>
            </a:r>
            <a:r>
              <a:rPr lang="en-AU" sz="2000" b="1">
                <a:solidFill>
                  <a:srgbClr val="0000FF"/>
                </a:solidFill>
              </a:rPr>
              <a:t>target variable</a:t>
            </a:r>
            <a:r>
              <a:rPr lang="en-AU" sz="2000" b="1">
                <a:solidFill>
                  <a:srgbClr val="1DBBDD"/>
                </a:solidFill>
              </a:rPr>
              <a:t> </a:t>
            </a:r>
            <a:r>
              <a:rPr lang="en-AU" sz="2000">
                <a:solidFill>
                  <a:srgbClr val="0C0C0C"/>
                </a:solidFill>
              </a:rPr>
              <a:t>defines the type of Decision Tree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AU" sz="1800" b="1">
                <a:solidFill>
                  <a:srgbClr val="0000FF"/>
                </a:solidFill>
              </a:rPr>
              <a:t>Categorical</a:t>
            </a:r>
            <a:r>
              <a:rPr lang="en-AU" sz="1800" b="1">
                <a:solidFill>
                  <a:srgbClr val="1DBBDD"/>
                </a:solidFill>
              </a:rPr>
              <a:t> </a:t>
            </a:r>
            <a:r>
              <a:rPr lang="en-AU" sz="1800">
                <a:solidFill>
                  <a:srgbClr val="0C0C0C"/>
                </a:solidFill>
              </a:rPr>
              <a:t>variable Decision Tree: Has categorical target variable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AU" sz="1800" b="1">
                <a:solidFill>
                  <a:srgbClr val="0000FF"/>
                </a:solidFill>
              </a:rPr>
              <a:t>Continuous</a:t>
            </a:r>
            <a:r>
              <a:rPr lang="en-AU" sz="1800">
                <a:solidFill>
                  <a:srgbClr val="0000FF"/>
                </a:solidFill>
              </a:rPr>
              <a:t> </a:t>
            </a:r>
            <a:r>
              <a:rPr lang="en-AU" sz="1800">
                <a:solidFill>
                  <a:srgbClr val="0C0C0C"/>
                </a:solidFill>
              </a:rPr>
              <a:t>variable Decision Tree: Has continuous target variable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000">
              <a:solidFill>
                <a:srgbClr val="0C0C0C"/>
              </a:solidFill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0C0C0C"/>
              </a:solidFill>
            </a:endParaRPr>
          </a:p>
          <a:p>
            <a: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0C0C0C"/>
              </a:solidFill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AU"/>
              <a:t>	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0C0C0C"/>
              </a:solidFill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000">
              <a:solidFill>
                <a:srgbClr val="0C0C0C"/>
              </a:solidFill>
            </a:endParaRPr>
          </a:p>
          <a:p>
            <a: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endParaRPr sz="1800">
              <a:solidFill>
                <a:srgbClr val="0C0C0C"/>
              </a:solidFill>
            </a:endParaRPr>
          </a:p>
          <a:p>
            <a: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"/>
          <p:cNvSpPr txBox="1"/>
          <p:nvPr/>
        </p:nvSpPr>
        <p:spPr>
          <a:xfrm>
            <a:off x="1320799" y="1526208"/>
            <a:ext cx="10795001" cy="4827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240631" marR="0" lvl="0" indent="-15173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5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7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AU"/>
              <a:t>Constructing Decision Trees</a:t>
            </a:r>
            <a:endParaRPr/>
          </a:p>
        </p:txBody>
      </p:sp>
      <p:sp>
        <p:nvSpPr>
          <p:cNvPr id="277" name="Google Shape;277;p5"/>
          <p:cNvSpPr txBox="1"/>
          <p:nvPr/>
        </p:nvSpPr>
        <p:spPr>
          <a:xfrm>
            <a:off x="1320799" y="2284636"/>
            <a:ext cx="5595008" cy="295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t" anchorCtr="0">
            <a:normAutofit/>
          </a:bodyPr>
          <a:lstStyle/>
          <a:p>
            <a:pPr marL="621631" marR="0" lvl="1" indent="-24063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Char char="•"/>
            </a:pPr>
            <a:r>
              <a:rPr lang="en-AU" sz="2000" b="0" i="0" u="none" strike="noStrike" cap="non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Split data by category or range, </a:t>
            </a:r>
            <a:r>
              <a:rPr lang="en-AU" sz="20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one feature at a time</a:t>
            </a:r>
            <a:endParaRPr>
              <a:solidFill>
                <a:srgbClr val="0000FF"/>
              </a:solidFill>
            </a:endParaRPr>
          </a:p>
          <a:p>
            <a:pPr marL="621631" marR="0" lvl="1" indent="-240631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Char char="•"/>
            </a:pPr>
            <a:r>
              <a:rPr lang="en-AU" sz="2000" b="0" i="0" u="none" strike="noStrike" cap="non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Into groups as </a:t>
            </a:r>
            <a:r>
              <a:rPr lang="en-AU" sz="20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pure</a:t>
            </a:r>
            <a:r>
              <a:rPr lang="en-AU" sz="20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AU" sz="2000" b="0" i="0" u="none" strike="noStrike" cap="non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as possible</a:t>
            </a:r>
            <a:endParaRPr/>
          </a:p>
          <a:p>
            <a:pPr marL="621631" marR="0" lvl="1" indent="-240631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Char char="•"/>
            </a:pPr>
            <a:r>
              <a:rPr lang="en-AU" sz="2000" b="0" i="0" u="none" strike="noStrike" cap="non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repeating the process until a certain stop condition is reached</a:t>
            </a:r>
            <a:endParaRPr/>
          </a:p>
        </p:txBody>
      </p:sp>
      <p:sp>
        <p:nvSpPr>
          <p:cNvPr id="278" name="Google Shape;278;p5"/>
          <p:cNvSpPr txBox="1"/>
          <p:nvPr/>
        </p:nvSpPr>
        <p:spPr>
          <a:xfrm>
            <a:off x="1320799" y="1526208"/>
            <a:ext cx="10795001" cy="83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240631" marR="0" lvl="0" indent="-24063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Char char="•"/>
            </a:pPr>
            <a:r>
              <a:rPr lang="en-AU" sz="2000" b="0" i="0" u="none" strike="noStrike" cap="non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The approach is to: </a:t>
            </a:r>
            <a:r>
              <a:rPr lang="en-AU" sz="20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Iteratively</a:t>
            </a:r>
            <a:r>
              <a:rPr lang="en-AU" sz="20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AU" sz="2000" b="0" i="0" u="none" strike="noStrike" cap="non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separate data into </a:t>
            </a:r>
            <a:r>
              <a:rPr lang="en-AU" sz="20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homogeneous groups</a:t>
            </a:r>
            <a:endParaRPr>
              <a:solidFill>
                <a:srgbClr val="0000FF"/>
              </a:solidFill>
            </a:endParaRPr>
          </a:p>
        </p:txBody>
      </p:sp>
      <p:pic>
        <p:nvPicPr>
          <p:cNvPr id="279" name="Google Shape;27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32953" y="2647950"/>
            <a:ext cx="4965700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700" cy="18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3600"/>
              <a:buFont typeface="Calibri"/>
              <a:buNone/>
            </a:pPr>
            <a:r>
              <a:rPr lang="en-AU" sz="3600" b="1" i="0" u="none" strike="noStrike" cap="none">
                <a:latin typeface="Calibri"/>
                <a:ea typeface="Calibri"/>
                <a:cs typeface="Calibri"/>
                <a:sym typeface="Calibri"/>
              </a:rPr>
              <a:t>Iteratively separate data into homogeneous groups</a:t>
            </a:r>
            <a:endParaRPr/>
          </a:p>
        </p:txBody>
      </p:sp>
      <p:graphicFrame>
        <p:nvGraphicFramePr>
          <p:cNvPr id="285" name="Google Shape;285;p6"/>
          <p:cNvGraphicFramePr/>
          <p:nvPr/>
        </p:nvGraphicFramePr>
        <p:xfrm>
          <a:off x="1432196" y="1169072"/>
          <a:ext cx="8822192" cy="49159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6" name="Google Shape;286;p6"/>
          <p:cNvSpPr txBox="1"/>
          <p:nvPr/>
        </p:nvSpPr>
        <p:spPr>
          <a:xfrm>
            <a:off x="5100833" y="1157762"/>
            <a:ext cx="608409" cy="31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A5DA"/>
              </a:buClr>
              <a:buSzPts val="1600"/>
              <a:buFont typeface="Calibri"/>
              <a:buNone/>
            </a:pPr>
            <a:r>
              <a:rPr lang="en-AU" sz="1600" b="1" i="0" u="none" strike="noStrike" cap="none">
                <a:solidFill>
                  <a:srgbClr val="34A5DA"/>
                </a:solidFill>
                <a:latin typeface="Calibri"/>
                <a:ea typeface="Calibri"/>
                <a:cs typeface="Calibri"/>
                <a:sym typeface="Calibri"/>
              </a:rPr>
              <a:t>Split 1</a:t>
            </a:r>
            <a:endParaRPr/>
          </a:p>
        </p:txBody>
      </p:sp>
      <p:sp>
        <p:nvSpPr>
          <p:cNvPr id="287" name="Google Shape;287;p6"/>
          <p:cNvSpPr txBox="1"/>
          <p:nvPr/>
        </p:nvSpPr>
        <p:spPr>
          <a:xfrm>
            <a:off x="10219750" y="2936643"/>
            <a:ext cx="608409" cy="31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A5DA"/>
              </a:buClr>
              <a:buSzPts val="1600"/>
              <a:buFont typeface="Calibri"/>
              <a:buNone/>
            </a:pPr>
            <a:r>
              <a:rPr lang="en-AU" sz="1600" b="1" i="0" u="none" strike="noStrike" cap="none">
                <a:solidFill>
                  <a:srgbClr val="34A5DA"/>
                </a:solidFill>
                <a:latin typeface="Calibri"/>
                <a:ea typeface="Calibri"/>
                <a:cs typeface="Calibri"/>
                <a:sym typeface="Calibri"/>
              </a:rPr>
              <a:t>Split 2</a:t>
            </a:r>
            <a:endParaRPr/>
          </a:p>
        </p:txBody>
      </p:sp>
      <p:sp>
        <p:nvSpPr>
          <p:cNvPr id="288" name="Google Shape;288;p6"/>
          <p:cNvSpPr txBox="1"/>
          <p:nvPr/>
        </p:nvSpPr>
        <p:spPr>
          <a:xfrm>
            <a:off x="7552393" y="4715525"/>
            <a:ext cx="608409" cy="31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A5DA"/>
              </a:buClr>
              <a:buSzPts val="1600"/>
              <a:buFont typeface="Calibri"/>
              <a:buNone/>
            </a:pPr>
            <a:r>
              <a:rPr lang="en-AU" sz="1600" b="1" i="0" u="none" strike="noStrike" cap="none">
                <a:solidFill>
                  <a:srgbClr val="34A5DA"/>
                </a:solidFill>
                <a:latin typeface="Calibri"/>
                <a:ea typeface="Calibri"/>
                <a:cs typeface="Calibri"/>
                <a:sym typeface="Calibri"/>
              </a:rPr>
              <a:t>Split 3</a:t>
            </a:r>
            <a:endParaRPr/>
          </a:p>
        </p:txBody>
      </p:sp>
      <p:sp>
        <p:nvSpPr>
          <p:cNvPr id="289" name="Google Shape;289;p6"/>
          <p:cNvSpPr txBox="1"/>
          <p:nvPr/>
        </p:nvSpPr>
        <p:spPr>
          <a:xfrm>
            <a:off x="2467935" y="1473774"/>
            <a:ext cx="1047650" cy="31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832"/>
              </a:buClr>
              <a:buSzPts val="1600"/>
              <a:buFont typeface="Calibri"/>
              <a:buNone/>
            </a:pPr>
            <a:r>
              <a:rPr lang="en-AU" sz="1600" b="1" i="0" u="none" strike="noStrike" cap="none">
                <a:solidFill>
                  <a:srgbClr val="E42832"/>
                </a:solidFill>
                <a:latin typeface="Calibri"/>
                <a:ea typeface="Calibri"/>
                <a:cs typeface="Calibri"/>
                <a:sym typeface="Calibri"/>
              </a:rPr>
              <a:t>Predict Red</a:t>
            </a:r>
            <a:endParaRPr/>
          </a:p>
        </p:txBody>
      </p:sp>
      <p:sp>
        <p:nvSpPr>
          <p:cNvPr id="290" name="Google Shape;290;p6"/>
          <p:cNvSpPr txBox="1"/>
          <p:nvPr/>
        </p:nvSpPr>
        <p:spPr>
          <a:xfrm>
            <a:off x="8690935" y="1475759"/>
            <a:ext cx="1237952" cy="31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BE5E"/>
              </a:buClr>
              <a:buSzPts val="1600"/>
              <a:buFont typeface="Calibri"/>
              <a:buNone/>
            </a:pPr>
            <a:r>
              <a:rPr lang="en-AU" sz="1600" b="1" i="0" u="none" strike="noStrike" cap="none">
                <a:solidFill>
                  <a:srgbClr val="8ABE5E"/>
                </a:solidFill>
                <a:latin typeface="Calibri"/>
                <a:ea typeface="Calibri"/>
                <a:cs typeface="Calibri"/>
                <a:sym typeface="Calibri"/>
              </a:rPr>
              <a:t>Predict Green</a:t>
            </a:r>
            <a:endParaRPr/>
          </a:p>
        </p:txBody>
      </p:sp>
      <p:sp>
        <p:nvSpPr>
          <p:cNvPr id="291" name="Google Shape;291;p6"/>
          <p:cNvSpPr txBox="1"/>
          <p:nvPr/>
        </p:nvSpPr>
        <p:spPr>
          <a:xfrm>
            <a:off x="6279044" y="4910462"/>
            <a:ext cx="1047650" cy="31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832"/>
              </a:buClr>
              <a:buSzPts val="1600"/>
              <a:buFont typeface="Calibri"/>
              <a:buNone/>
            </a:pPr>
            <a:r>
              <a:rPr lang="en-AU" sz="1600" b="1" i="0" u="none" strike="noStrike" cap="none">
                <a:solidFill>
                  <a:srgbClr val="E42832"/>
                </a:solidFill>
                <a:latin typeface="Calibri"/>
                <a:ea typeface="Calibri"/>
                <a:cs typeface="Calibri"/>
                <a:sym typeface="Calibri"/>
              </a:rPr>
              <a:t>Predict Red</a:t>
            </a:r>
            <a:endParaRPr/>
          </a:p>
        </p:txBody>
      </p:sp>
      <p:sp>
        <p:nvSpPr>
          <p:cNvPr id="292" name="Google Shape;292;p6"/>
          <p:cNvSpPr txBox="1"/>
          <p:nvPr/>
        </p:nvSpPr>
        <p:spPr>
          <a:xfrm>
            <a:off x="8690935" y="4910462"/>
            <a:ext cx="1237952" cy="31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BE5E"/>
              </a:buClr>
              <a:buSzPts val="1600"/>
              <a:buFont typeface="Calibri"/>
              <a:buNone/>
            </a:pPr>
            <a:r>
              <a:rPr lang="en-AU" sz="1600" b="1" i="0" u="none" strike="noStrike" cap="none">
                <a:solidFill>
                  <a:srgbClr val="8ABE5E"/>
                </a:solidFill>
                <a:latin typeface="Calibri"/>
                <a:ea typeface="Calibri"/>
                <a:cs typeface="Calibri"/>
                <a:sym typeface="Calibri"/>
              </a:rPr>
              <a:t>Predict Green</a:t>
            </a:r>
            <a:endParaRPr/>
          </a:p>
        </p:txBody>
      </p:sp>
      <p:cxnSp>
        <p:nvCxnSpPr>
          <p:cNvPr id="293" name="Google Shape;293;p6"/>
          <p:cNvCxnSpPr/>
          <p:nvPr/>
        </p:nvCxnSpPr>
        <p:spPr>
          <a:xfrm rot="10800000" flipH="1">
            <a:off x="5385958" y="1473871"/>
            <a:ext cx="2" cy="3734556"/>
          </a:xfrm>
          <a:prstGeom prst="straightConnector1">
            <a:avLst/>
          </a:prstGeom>
          <a:noFill/>
          <a:ln w="25400" cap="flat" cmpd="sng">
            <a:solidFill>
              <a:srgbClr val="34A5DA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294" name="Google Shape;294;p6"/>
          <p:cNvCxnSpPr/>
          <p:nvPr/>
        </p:nvCxnSpPr>
        <p:spPr>
          <a:xfrm>
            <a:off x="5378388" y="3093011"/>
            <a:ext cx="4680308" cy="1"/>
          </a:xfrm>
          <a:prstGeom prst="straightConnector1">
            <a:avLst/>
          </a:prstGeom>
          <a:noFill/>
          <a:ln w="25400" cap="flat" cmpd="sng">
            <a:solidFill>
              <a:srgbClr val="34A5DA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295" name="Google Shape;295;p6"/>
          <p:cNvCxnSpPr/>
          <p:nvPr/>
        </p:nvCxnSpPr>
        <p:spPr>
          <a:xfrm rot="10800000" flipH="1">
            <a:off x="7510485" y="3094328"/>
            <a:ext cx="2" cy="2123250"/>
          </a:xfrm>
          <a:prstGeom prst="straightConnector1">
            <a:avLst/>
          </a:prstGeom>
          <a:noFill/>
          <a:ln w="25400" cap="flat" cmpd="sng">
            <a:solidFill>
              <a:srgbClr val="34A5DA"/>
            </a:solidFill>
            <a:prstDash val="solid"/>
            <a:miter lim="4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000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7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AU" b="1"/>
              <a:t>Mapping the Decision Tree</a:t>
            </a:r>
            <a:endParaRPr/>
          </a:p>
        </p:txBody>
      </p:sp>
      <p:grpSp>
        <p:nvGrpSpPr>
          <p:cNvPr id="301" name="Google Shape;301;p7"/>
          <p:cNvGrpSpPr/>
          <p:nvPr/>
        </p:nvGrpSpPr>
        <p:grpSpPr>
          <a:xfrm>
            <a:off x="721597" y="1933381"/>
            <a:ext cx="6202897" cy="3987506"/>
            <a:chOff x="-542801" y="-153617"/>
            <a:chExt cx="6202895" cy="3987504"/>
          </a:xfrm>
        </p:grpSpPr>
        <p:graphicFrame>
          <p:nvGraphicFramePr>
            <p:cNvPr id="302" name="Google Shape;302;p7"/>
            <p:cNvGraphicFramePr/>
            <p:nvPr/>
          </p:nvGraphicFramePr>
          <p:xfrm>
            <a:off x="-542801" y="-153617"/>
            <a:ext cx="6202895" cy="398750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cxnSp>
          <p:nvCxnSpPr>
            <p:cNvPr id="303" name="Google Shape;303;p7"/>
            <p:cNvCxnSpPr/>
            <p:nvPr/>
          </p:nvCxnSpPr>
          <p:spPr>
            <a:xfrm rot="10800000" flipH="1">
              <a:off x="2126593" y="13889"/>
              <a:ext cx="2" cy="3333677"/>
            </a:xfrm>
            <a:prstGeom prst="straightConnector1">
              <a:avLst/>
            </a:prstGeom>
            <a:noFill/>
            <a:ln w="12700" cap="flat" cmpd="sng">
              <a:solidFill>
                <a:srgbClr val="34A5DA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04" name="Google Shape;304;p7"/>
            <p:cNvCxnSpPr/>
            <p:nvPr/>
          </p:nvCxnSpPr>
          <p:spPr>
            <a:xfrm>
              <a:off x="2121655" y="1480418"/>
              <a:ext cx="3349739" cy="1"/>
            </a:xfrm>
            <a:prstGeom prst="straightConnector1">
              <a:avLst/>
            </a:prstGeom>
            <a:noFill/>
            <a:ln w="12700" cap="flat" cmpd="sng">
              <a:solidFill>
                <a:srgbClr val="34A5DA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05" name="Google Shape;305;p7"/>
            <p:cNvCxnSpPr/>
            <p:nvPr/>
          </p:nvCxnSpPr>
          <p:spPr>
            <a:xfrm rot="10800000" flipH="1">
              <a:off x="3653005" y="1491662"/>
              <a:ext cx="2" cy="1862275"/>
            </a:xfrm>
            <a:prstGeom prst="straightConnector1">
              <a:avLst/>
            </a:prstGeom>
            <a:noFill/>
            <a:ln w="12700" cap="flat" cmpd="sng">
              <a:solidFill>
                <a:srgbClr val="34A5DA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sp>
          <p:nvSpPr>
            <p:cNvPr id="306" name="Google Shape;306;p7"/>
            <p:cNvSpPr txBox="1"/>
            <p:nvPr/>
          </p:nvSpPr>
          <p:spPr>
            <a:xfrm>
              <a:off x="159782" y="2450"/>
              <a:ext cx="475448" cy="344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42832"/>
                </a:buClr>
                <a:buSzPts val="1300"/>
                <a:buFont typeface="Calibri"/>
                <a:buNone/>
              </a:pPr>
              <a:r>
                <a:rPr lang="en-AU" sz="1300" b="1" i="0" u="none" strike="noStrike" cap="none">
                  <a:solidFill>
                    <a:srgbClr val="E42832"/>
                  </a:solidFill>
                  <a:latin typeface="Calibri"/>
                  <a:ea typeface="Calibri"/>
                  <a:cs typeface="Calibri"/>
                  <a:sym typeface="Calibri"/>
                </a:rPr>
                <a:t>Red</a:t>
              </a:r>
              <a:endParaRPr/>
            </a:p>
          </p:txBody>
        </p:sp>
        <p:sp>
          <p:nvSpPr>
            <p:cNvPr id="307" name="Google Shape;307;p7"/>
            <p:cNvSpPr txBox="1"/>
            <p:nvPr/>
          </p:nvSpPr>
          <p:spPr>
            <a:xfrm>
              <a:off x="4696406" y="0"/>
              <a:ext cx="622856" cy="3442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ABE5E"/>
                </a:buClr>
                <a:buSzPts val="1300"/>
                <a:buFont typeface="Calibri"/>
                <a:buNone/>
              </a:pPr>
              <a:r>
                <a:rPr lang="en-AU" sz="1300" b="1" i="0" u="none" strike="noStrike" cap="none">
                  <a:solidFill>
                    <a:srgbClr val="8ABE5E"/>
                  </a:solidFill>
                  <a:latin typeface="Calibri"/>
                  <a:ea typeface="Calibri"/>
                  <a:cs typeface="Calibri"/>
                  <a:sym typeface="Calibri"/>
                </a:rPr>
                <a:t>Green</a:t>
              </a:r>
              <a:endParaRPr/>
            </a:p>
          </p:txBody>
        </p:sp>
        <p:sp>
          <p:nvSpPr>
            <p:cNvPr id="308" name="Google Shape;308;p7"/>
            <p:cNvSpPr txBox="1"/>
            <p:nvPr/>
          </p:nvSpPr>
          <p:spPr>
            <a:xfrm>
              <a:off x="2974390" y="3010906"/>
              <a:ext cx="469102" cy="344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42832"/>
                </a:buClr>
                <a:buSzPts val="1300"/>
                <a:buFont typeface="Calibri"/>
                <a:buNone/>
              </a:pPr>
              <a:r>
                <a:rPr lang="en-AU" sz="1300" b="1" i="0" u="none" strike="noStrike" cap="none">
                  <a:solidFill>
                    <a:srgbClr val="E42832"/>
                  </a:solidFill>
                  <a:latin typeface="Calibri"/>
                  <a:ea typeface="Calibri"/>
                  <a:cs typeface="Calibri"/>
                  <a:sym typeface="Calibri"/>
                </a:rPr>
                <a:t>Red</a:t>
              </a:r>
              <a:endParaRPr/>
            </a:p>
          </p:txBody>
        </p:sp>
        <p:sp>
          <p:nvSpPr>
            <p:cNvPr id="309" name="Google Shape;309;p7"/>
            <p:cNvSpPr txBox="1"/>
            <p:nvPr/>
          </p:nvSpPr>
          <p:spPr>
            <a:xfrm>
              <a:off x="4700650" y="3006885"/>
              <a:ext cx="625470" cy="3442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ABE5E"/>
                </a:buClr>
                <a:buSzPts val="1300"/>
                <a:buFont typeface="Calibri"/>
                <a:buNone/>
              </a:pPr>
              <a:r>
                <a:rPr lang="en-AU" sz="1300" b="1" i="0" u="none" strike="noStrike" cap="none">
                  <a:solidFill>
                    <a:srgbClr val="8ABE5E"/>
                  </a:solidFill>
                  <a:latin typeface="Calibri"/>
                  <a:ea typeface="Calibri"/>
                  <a:cs typeface="Calibri"/>
                  <a:sym typeface="Calibri"/>
                </a:rPr>
                <a:t>Green</a:t>
              </a:r>
              <a:endParaRPr/>
            </a:p>
          </p:txBody>
        </p:sp>
      </p:grpSp>
      <p:grpSp>
        <p:nvGrpSpPr>
          <p:cNvPr id="310" name="Google Shape;310;p7"/>
          <p:cNvGrpSpPr/>
          <p:nvPr/>
        </p:nvGrpSpPr>
        <p:grpSpPr>
          <a:xfrm>
            <a:off x="7478220" y="1629325"/>
            <a:ext cx="3996148" cy="4270534"/>
            <a:chOff x="-1" y="-3"/>
            <a:chExt cx="3996147" cy="4270533"/>
          </a:xfrm>
        </p:grpSpPr>
        <p:grpSp>
          <p:nvGrpSpPr>
            <p:cNvPr id="311" name="Google Shape;311;p7"/>
            <p:cNvGrpSpPr/>
            <p:nvPr/>
          </p:nvGrpSpPr>
          <p:grpSpPr>
            <a:xfrm>
              <a:off x="1079940" y="-3"/>
              <a:ext cx="1093967" cy="1093967"/>
              <a:chOff x="-1" y="-1"/>
              <a:chExt cx="1093966" cy="1093965"/>
            </a:xfrm>
          </p:grpSpPr>
          <p:sp>
            <p:nvSpPr>
              <p:cNvPr id="312" name="Google Shape;312;p7"/>
              <p:cNvSpPr/>
              <p:nvPr/>
            </p:nvSpPr>
            <p:spPr>
              <a:xfrm>
                <a:off x="-1" y="-1"/>
                <a:ext cx="1093966" cy="109396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2489BF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p7"/>
              <p:cNvSpPr txBox="1"/>
              <p:nvPr/>
            </p:nvSpPr>
            <p:spPr>
              <a:xfrm>
                <a:off x="0" y="305336"/>
                <a:ext cx="1093964" cy="483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5700" tIns="35700" rIns="35700" bIns="3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Calibri"/>
                  <a:buNone/>
                </a:pPr>
                <a:r>
                  <a:rPr lang="en-AU" sz="13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WEIGHT</a:t>
                </a:r>
                <a:endParaRPr/>
              </a:p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Calibri"/>
                  <a:buNone/>
                </a:pPr>
                <a:r>
                  <a:rPr lang="en-AU" sz="13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&gt; 60</a:t>
                </a:r>
                <a:endParaRPr/>
              </a:p>
            </p:txBody>
          </p:sp>
        </p:grpSp>
        <p:grpSp>
          <p:nvGrpSpPr>
            <p:cNvPr id="314" name="Google Shape;314;p7"/>
            <p:cNvGrpSpPr/>
            <p:nvPr/>
          </p:nvGrpSpPr>
          <p:grpSpPr>
            <a:xfrm>
              <a:off x="1365553" y="2332219"/>
              <a:ext cx="1093967" cy="1093967"/>
              <a:chOff x="-1" y="-1"/>
              <a:chExt cx="1093966" cy="1093966"/>
            </a:xfrm>
          </p:grpSpPr>
          <p:sp>
            <p:nvSpPr>
              <p:cNvPr id="315" name="Google Shape;315;p7"/>
              <p:cNvSpPr/>
              <p:nvPr/>
            </p:nvSpPr>
            <p:spPr>
              <a:xfrm>
                <a:off x="-1" y="-1"/>
                <a:ext cx="1093966" cy="109396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2489BF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7"/>
              <p:cNvSpPr txBox="1"/>
              <p:nvPr/>
            </p:nvSpPr>
            <p:spPr>
              <a:xfrm>
                <a:off x="0" y="216455"/>
                <a:ext cx="1093964" cy="6610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5700" tIns="35700" rIns="35700" bIns="3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Calibri"/>
                  <a:buNone/>
                </a:pPr>
                <a:r>
                  <a:rPr lang="en-AU" sz="13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WEIGHT</a:t>
                </a:r>
                <a:endParaRPr/>
              </a:p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Calibri"/>
                  <a:buNone/>
                </a:pPr>
                <a:r>
                  <a:rPr lang="en-AU" sz="13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&gt; 85</a:t>
                </a:r>
                <a:endParaRPr/>
              </a:p>
            </p:txBody>
          </p:sp>
        </p:grpSp>
        <p:grpSp>
          <p:nvGrpSpPr>
            <p:cNvPr id="317" name="Google Shape;317;p7"/>
            <p:cNvGrpSpPr/>
            <p:nvPr/>
          </p:nvGrpSpPr>
          <p:grpSpPr>
            <a:xfrm>
              <a:off x="2184085" y="1182410"/>
              <a:ext cx="1093967" cy="1093967"/>
              <a:chOff x="-1" y="-1"/>
              <a:chExt cx="1093966" cy="1093966"/>
            </a:xfrm>
          </p:grpSpPr>
          <p:sp>
            <p:nvSpPr>
              <p:cNvPr id="318" name="Google Shape;318;p7"/>
              <p:cNvSpPr/>
              <p:nvPr/>
            </p:nvSpPr>
            <p:spPr>
              <a:xfrm>
                <a:off x="-1" y="-1"/>
                <a:ext cx="1093966" cy="109396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2489BF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7"/>
              <p:cNvSpPr txBox="1"/>
              <p:nvPr/>
            </p:nvSpPr>
            <p:spPr>
              <a:xfrm>
                <a:off x="0" y="216455"/>
                <a:ext cx="1093964" cy="6610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5700" tIns="35700" rIns="35700" bIns="3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Calibri"/>
                  <a:buNone/>
                </a:pPr>
                <a:r>
                  <a:rPr lang="en-AU" sz="13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JUICE</a:t>
                </a:r>
                <a:endParaRPr/>
              </a:p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Calibri"/>
                  <a:buNone/>
                </a:pPr>
                <a:r>
                  <a:rPr lang="en-AU" sz="13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&gt; 20</a:t>
                </a:r>
                <a:endParaRPr/>
              </a:p>
            </p:txBody>
          </p:sp>
        </p:grpSp>
        <p:grpSp>
          <p:nvGrpSpPr>
            <p:cNvPr id="320" name="Google Shape;320;p7"/>
            <p:cNvGrpSpPr/>
            <p:nvPr/>
          </p:nvGrpSpPr>
          <p:grpSpPr>
            <a:xfrm>
              <a:off x="-1" y="1487116"/>
              <a:ext cx="913146" cy="484556"/>
              <a:chOff x="0" y="0"/>
              <a:chExt cx="913144" cy="484555"/>
            </a:xfrm>
          </p:grpSpPr>
          <p:sp>
            <p:nvSpPr>
              <p:cNvPr id="321" name="Google Shape;321;p7"/>
              <p:cNvSpPr/>
              <p:nvPr/>
            </p:nvSpPr>
            <p:spPr>
              <a:xfrm>
                <a:off x="0" y="0"/>
                <a:ext cx="913144" cy="484555"/>
              </a:xfrm>
              <a:prstGeom prst="roundRect">
                <a:avLst>
                  <a:gd name="adj" fmla="val 28268"/>
                </a:avLst>
              </a:prstGeom>
              <a:solidFill>
                <a:srgbClr val="2489BF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42832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7"/>
              <p:cNvSpPr txBox="1"/>
              <p:nvPr/>
            </p:nvSpPr>
            <p:spPr>
              <a:xfrm>
                <a:off x="40117" y="59886"/>
                <a:ext cx="832909" cy="3647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5700" tIns="35700" rIns="35700" bIns="3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42832"/>
                  </a:buClr>
                  <a:buSzPts val="1600"/>
                  <a:buFont typeface="Calibri"/>
                  <a:buNone/>
                </a:pPr>
                <a:r>
                  <a:rPr lang="en-AU" sz="1600" b="1" i="0" u="none" strike="noStrike" cap="none">
                    <a:solidFill>
                      <a:srgbClr val="E4283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RED</a:t>
                </a:r>
                <a:endParaRPr/>
              </a:p>
            </p:txBody>
          </p:sp>
        </p:grpSp>
        <p:grpSp>
          <p:nvGrpSpPr>
            <p:cNvPr id="323" name="Google Shape;323;p7"/>
            <p:cNvGrpSpPr/>
            <p:nvPr/>
          </p:nvGrpSpPr>
          <p:grpSpPr>
            <a:xfrm>
              <a:off x="633399" y="3785973"/>
              <a:ext cx="913146" cy="484557"/>
              <a:chOff x="0" y="0"/>
              <a:chExt cx="913144" cy="484555"/>
            </a:xfrm>
          </p:grpSpPr>
          <p:sp>
            <p:nvSpPr>
              <p:cNvPr id="324" name="Google Shape;324;p7"/>
              <p:cNvSpPr/>
              <p:nvPr/>
            </p:nvSpPr>
            <p:spPr>
              <a:xfrm>
                <a:off x="0" y="0"/>
                <a:ext cx="913144" cy="484555"/>
              </a:xfrm>
              <a:prstGeom prst="roundRect">
                <a:avLst>
                  <a:gd name="adj" fmla="val 28268"/>
                </a:avLst>
              </a:prstGeom>
              <a:solidFill>
                <a:srgbClr val="2489BF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42832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7"/>
              <p:cNvSpPr txBox="1"/>
              <p:nvPr/>
            </p:nvSpPr>
            <p:spPr>
              <a:xfrm>
                <a:off x="40117" y="59886"/>
                <a:ext cx="832909" cy="3647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5700" tIns="35700" rIns="35700" bIns="3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42832"/>
                  </a:buClr>
                  <a:buSzPts val="1600"/>
                  <a:buFont typeface="Calibri"/>
                  <a:buNone/>
                </a:pPr>
                <a:r>
                  <a:rPr lang="en-AU" sz="1600" b="1" i="0" u="none" strike="noStrike" cap="none">
                    <a:solidFill>
                      <a:srgbClr val="E4283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RED</a:t>
                </a:r>
                <a:endParaRPr/>
              </a:p>
            </p:txBody>
          </p:sp>
        </p:grpSp>
        <p:grpSp>
          <p:nvGrpSpPr>
            <p:cNvPr id="326" name="Google Shape;326;p7"/>
            <p:cNvGrpSpPr/>
            <p:nvPr/>
          </p:nvGrpSpPr>
          <p:grpSpPr>
            <a:xfrm>
              <a:off x="2259683" y="3785973"/>
              <a:ext cx="913145" cy="484557"/>
              <a:chOff x="0" y="0"/>
              <a:chExt cx="913144" cy="484555"/>
            </a:xfrm>
          </p:grpSpPr>
          <p:sp>
            <p:nvSpPr>
              <p:cNvPr id="327" name="Google Shape;327;p7"/>
              <p:cNvSpPr/>
              <p:nvPr/>
            </p:nvSpPr>
            <p:spPr>
              <a:xfrm>
                <a:off x="0" y="0"/>
                <a:ext cx="913144" cy="484555"/>
              </a:xfrm>
              <a:prstGeom prst="roundRect">
                <a:avLst>
                  <a:gd name="adj" fmla="val 28268"/>
                </a:avLst>
              </a:prstGeom>
              <a:solidFill>
                <a:srgbClr val="2489BF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ABE5E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7"/>
              <p:cNvSpPr txBox="1"/>
              <p:nvPr/>
            </p:nvSpPr>
            <p:spPr>
              <a:xfrm>
                <a:off x="40117" y="59886"/>
                <a:ext cx="832909" cy="3647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5700" tIns="35700" rIns="35700" bIns="3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ABE5E"/>
                  </a:buClr>
                  <a:buSzPts val="1600"/>
                  <a:buFont typeface="Calibri"/>
                  <a:buNone/>
                </a:pPr>
                <a:r>
                  <a:rPr lang="en-AU" sz="1600" b="1" i="0" u="none" strike="noStrike" cap="none">
                    <a:solidFill>
                      <a:srgbClr val="8ABE5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GREEN</a:t>
                </a:r>
                <a:endParaRPr/>
              </a:p>
            </p:txBody>
          </p:sp>
        </p:grpSp>
        <p:grpSp>
          <p:nvGrpSpPr>
            <p:cNvPr id="329" name="Google Shape;329;p7"/>
            <p:cNvGrpSpPr/>
            <p:nvPr/>
          </p:nvGrpSpPr>
          <p:grpSpPr>
            <a:xfrm>
              <a:off x="3083000" y="2636925"/>
              <a:ext cx="913146" cy="484556"/>
              <a:chOff x="0" y="0"/>
              <a:chExt cx="913144" cy="484555"/>
            </a:xfrm>
          </p:grpSpPr>
          <p:sp>
            <p:nvSpPr>
              <p:cNvPr id="330" name="Google Shape;330;p7"/>
              <p:cNvSpPr/>
              <p:nvPr/>
            </p:nvSpPr>
            <p:spPr>
              <a:xfrm>
                <a:off x="0" y="0"/>
                <a:ext cx="913144" cy="484555"/>
              </a:xfrm>
              <a:prstGeom prst="roundRect">
                <a:avLst>
                  <a:gd name="adj" fmla="val 28268"/>
                </a:avLst>
              </a:prstGeom>
              <a:solidFill>
                <a:srgbClr val="2489BF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ABE5E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7"/>
              <p:cNvSpPr txBox="1"/>
              <p:nvPr/>
            </p:nvSpPr>
            <p:spPr>
              <a:xfrm>
                <a:off x="40117" y="59886"/>
                <a:ext cx="832909" cy="3647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5700" tIns="35700" rIns="35700" bIns="3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ABE5E"/>
                  </a:buClr>
                  <a:buSzPts val="1600"/>
                  <a:buFont typeface="Calibri"/>
                  <a:buNone/>
                </a:pPr>
                <a:r>
                  <a:rPr lang="en-AU" sz="1600" b="1" i="0" u="none" strike="noStrike" cap="none">
                    <a:solidFill>
                      <a:srgbClr val="8ABE5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GREEN</a:t>
                </a:r>
                <a:endParaRPr/>
              </a:p>
            </p:txBody>
          </p:sp>
        </p:grpSp>
        <p:cxnSp>
          <p:nvCxnSpPr>
            <p:cNvPr id="332" name="Google Shape;332;p7"/>
            <p:cNvCxnSpPr/>
            <p:nvPr/>
          </p:nvCxnSpPr>
          <p:spPr>
            <a:xfrm>
              <a:off x="1626922" y="546979"/>
              <a:ext cx="1104148" cy="1182415"/>
            </a:xfrm>
            <a:prstGeom prst="straightConnector1">
              <a:avLst/>
            </a:prstGeom>
            <a:noFill/>
            <a:ln w="25400" cap="flat" cmpd="sng">
              <a:solidFill>
                <a:srgbClr val="A6AAA9"/>
              </a:solidFill>
              <a:prstDash val="solid"/>
              <a:miter lim="400000"/>
              <a:headEnd type="none" w="sm" len="sm"/>
              <a:tailEnd type="triangle" w="med" len="med"/>
            </a:ln>
          </p:spPr>
        </p:cxnSp>
        <p:cxnSp>
          <p:nvCxnSpPr>
            <p:cNvPr id="333" name="Google Shape;333;p7"/>
            <p:cNvCxnSpPr/>
            <p:nvPr/>
          </p:nvCxnSpPr>
          <p:spPr>
            <a:xfrm rot="10800000" flipH="1">
              <a:off x="456570" y="546980"/>
              <a:ext cx="1170354" cy="1182414"/>
            </a:xfrm>
            <a:prstGeom prst="straightConnector1">
              <a:avLst/>
            </a:prstGeom>
            <a:noFill/>
            <a:ln w="25400" cap="flat" cmpd="sng">
              <a:solidFill>
                <a:srgbClr val="A6AAA9"/>
              </a:solidFill>
              <a:prstDash val="solid"/>
              <a:miter lim="400000"/>
              <a:headEnd type="triangle" w="med" len="med"/>
              <a:tailEnd type="none" w="sm" len="sm"/>
            </a:ln>
          </p:spPr>
        </p:cxnSp>
        <p:cxnSp>
          <p:nvCxnSpPr>
            <p:cNvPr id="334" name="Google Shape;334;p7"/>
            <p:cNvCxnSpPr/>
            <p:nvPr/>
          </p:nvCxnSpPr>
          <p:spPr>
            <a:xfrm>
              <a:off x="2731068" y="1729392"/>
              <a:ext cx="808506" cy="1149811"/>
            </a:xfrm>
            <a:prstGeom prst="straightConnector1">
              <a:avLst/>
            </a:prstGeom>
            <a:noFill/>
            <a:ln w="25400" cap="flat" cmpd="sng">
              <a:solidFill>
                <a:srgbClr val="A6AAA9"/>
              </a:solidFill>
              <a:prstDash val="solid"/>
              <a:miter lim="400000"/>
              <a:headEnd type="none" w="sm" len="sm"/>
              <a:tailEnd type="triangle" w="med" len="med"/>
            </a:ln>
          </p:spPr>
        </p:cxnSp>
        <p:cxnSp>
          <p:nvCxnSpPr>
            <p:cNvPr id="335" name="Google Shape;335;p7"/>
            <p:cNvCxnSpPr/>
            <p:nvPr/>
          </p:nvCxnSpPr>
          <p:spPr>
            <a:xfrm rot="10800000" flipH="1">
              <a:off x="1912535" y="1729392"/>
              <a:ext cx="818535" cy="1149811"/>
            </a:xfrm>
            <a:prstGeom prst="straightConnector1">
              <a:avLst/>
            </a:prstGeom>
            <a:noFill/>
            <a:ln w="25400" cap="flat" cmpd="sng">
              <a:solidFill>
                <a:srgbClr val="A6AAA9"/>
              </a:solidFill>
              <a:prstDash val="solid"/>
              <a:miter lim="400000"/>
              <a:headEnd type="triangle" w="med" len="med"/>
              <a:tailEnd type="none" w="sm" len="sm"/>
            </a:ln>
          </p:spPr>
        </p:cxnSp>
        <p:cxnSp>
          <p:nvCxnSpPr>
            <p:cNvPr id="336" name="Google Shape;336;p7"/>
            <p:cNvCxnSpPr/>
            <p:nvPr/>
          </p:nvCxnSpPr>
          <p:spPr>
            <a:xfrm>
              <a:off x="1912535" y="2879201"/>
              <a:ext cx="803721" cy="1149050"/>
            </a:xfrm>
            <a:prstGeom prst="straightConnector1">
              <a:avLst/>
            </a:prstGeom>
            <a:noFill/>
            <a:ln w="25400" cap="flat" cmpd="sng">
              <a:solidFill>
                <a:srgbClr val="A6AAA9"/>
              </a:solidFill>
              <a:prstDash val="solid"/>
              <a:miter lim="400000"/>
              <a:headEnd type="none" w="sm" len="sm"/>
              <a:tailEnd type="triangle" w="med" len="med"/>
            </a:ln>
          </p:spPr>
        </p:cxnSp>
        <p:cxnSp>
          <p:nvCxnSpPr>
            <p:cNvPr id="337" name="Google Shape;337;p7"/>
            <p:cNvCxnSpPr/>
            <p:nvPr/>
          </p:nvCxnSpPr>
          <p:spPr>
            <a:xfrm rot="10800000" flipH="1">
              <a:off x="1089970" y="2879201"/>
              <a:ext cx="822567" cy="1149051"/>
            </a:xfrm>
            <a:prstGeom prst="straightConnector1">
              <a:avLst/>
            </a:prstGeom>
            <a:noFill/>
            <a:ln w="25400" cap="flat" cmpd="sng">
              <a:solidFill>
                <a:srgbClr val="A6AAA9"/>
              </a:solidFill>
              <a:prstDash val="solid"/>
              <a:miter lim="400000"/>
              <a:headEnd type="triangle" w="med" len="med"/>
              <a:tailEnd type="none" w="sm" len="sm"/>
            </a:ln>
          </p:spPr>
        </p:cxnSp>
        <p:sp>
          <p:nvSpPr>
            <p:cNvPr id="338" name="Google Shape;338;p7"/>
            <p:cNvSpPr txBox="1"/>
            <p:nvPr/>
          </p:nvSpPr>
          <p:spPr>
            <a:xfrm>
              <a:off x="726485" y="379403"/>
              <a:ext cx="363654" cy="335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35353"/>
                </a:buClr>
                <a:buSzPts val="1400"/>
                <a:buFont typeface="Calibri"/>
                <a:buNone/>
              </a:pPr>
              <a:r>
                <a:rPr lang="en-AU" sz="1400" b="1" i="0" u="none" strike="noStrike" cap="none">
                  <a:solidFill>
                    <a:srgbClr val="535353"/>
                  </a:solidFill>
                  <a:latin typeface="Calibri"/>
                  <a:ea typeface="Calibri"/>
                  <a:cs typeface="Calibri"/>
                  <a:sym typeface="Calibri"/>
                </a:rPr>
                <a:t>No</a:t>
              </a:r>
              <a:endParaRPr/>
            </a:p>
          </p:txBody>
        </p:sp>
        <p:sp>
          <p:nvSpPr>
            <p:cNvPr id="339" name="Google Shape;339;p7"/>
            <p:cNvSpPr txBox="1"/>
            <p:nvPr/>
          </p:nvSpPr>
          <p:spPr>
            <a:xfrm>
              <a:off x="1815840" y="1561816"/>
              <a:ext cx="363653" cy="335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35353"/>
                </a:buClr>
                <a:buSzPts val="1400"/>
                <a:buFont typeface="Calibri"/>
                <a:buNone/>
              </a:pPr>
              <a:r>
                <a:rPr lang="en-AU" sz="1400" b="1" i="0" u="none" strike="noStrike" cap="none">
                  <a:solidFill>
                    <a:srgbClr val="535353"/>
                  </a:solidFill>
                  <a:latin typeface="Calibri"/>
                  <a:ea typeface="Calibri"/>
                  <a:cs typeface="Calibri"/>
                  <a:sym typeface="Calibri"/>
                </a:rPr>
                <a:t>No</a:t>
              </a:r>
              <a:endParaRPr/>
            </a:p>
          </p:txBody>
        </p:sp>
        <p:sp>
          <p:nvSpPr>
            <p:cNvPr id="340" name="Google Shape;340;p7"/>
            <p:cNvSpPr txBox="1"/>
            <p:nvPr/>
          </p:nvSpPr>
          <p:spPr>
            <a:xfrm>
              <a:off x="997713" y="2711625"/>
              <a:ext cx="363653" cy="335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35353"/>
                </a:buClr>
                <a:buSzPts val="1400"/>
                <a:buFont typeface="Calibri"/>
                <a:buNone/>
              </a:pPr>
              <a:r>
                <a:rPr lang="en-AU" sz="1400" b="1" i="0" u="none" strike="noStrike" cap="none">
                  <a:solidFill>
                    <a:srgbClr val="535353"/>
                  </a:solidFill>
                  <a:latin typeface="Calibri"/>
                  <a:ea typeface="Calibri"/>
                  <a:cs typeface="Calibri"/>
                  <a:sym typeface="Calibri"/>
                </a:rPr>
                <a:t>No</a:t>
              </a:r>
              <a:endParaRPr/>
            </a:p>
          </p:txBody>
        </p:sp>
        <p:sp>
          <p:nvSpPr>
            <p:cNvPr id="341" name="Google Shape;341;p7"/>
            <p:cNvSpPr txBox="1"/>
            <p:nvPr/>
          </p:nvSpPr>
          <p:spPr>
            <a:xfrm>
              <a:off x="2175077" y="379403"/>
              <a:ext cx="395349" cy="335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35353"/>
                </a:buClr>
                <a:buSzPts val="1400"/>
                <a:buFont typeface="Calibri"/>
                <a:buNone/>
              </a:pPr>
              <a:r>
                <a:rPr lang="en-AU" sz="1400" b="1" i="0" u="none" strike="noStrike" cap="none">
                  <a:solidFill>
                    <a:srgbClr val="535353"/>
                  </a:solidFill>
                  <a:latin typeface="Calibri"/>
                  <a:ea typeface="Calibri"/>
                  <a:cs typeface="Calibri"/>
                  <a:sym typeface="Calibri"/>
                </a:rPr>
                <a:t>Yes</a:t>
              </a:r>
              <a:endParaRPr/>
            </a:p>
          </p:txBody>
        </p:sp>
        <p:sp>
          <p:nvSpPr>
            <p:cNvPr id="342" name="Google Shape;342;p7"/>
            <p:cNvSpPr txBox="1"/>
            <p:nvPr/>
          </p:nvSpPr>
          <p:spPr>
            <a:xfrm>
              <a:off x="3282645" y="1561816"/>
              <a:ext cx="395348" cy="335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35353"/>
                </a:buClr>
                <a:buSzPts val="1400"/>
                <a:buFont typeface="Calibri"/>
                <a:buNone/>
              </a:pPr>
              <a:r>
                <a:rPr lang="en-AU" sz="1400" b="1" i="0" u="none" strike="noStrike" cap="none">
                  <a:solidFill>
                    <a:srgbClr val="535353"/>
                  </a:solidFill>
                  <a:latin typeface="Calibri"/>
                  <a:ea typeface="Calibri"/>
                  <a:cs typeface="Calibri"/>
                  <a:sym typeface="Calibri"/>
                </a:rPr>
                <a:t>Yes</a:t>
              </a:r>
              <a:endParaRPr/>
            </a:p>
          </p:txBody>
        </p:sp>
        <p:sp>
          <p:nvSpPr>
            <p:cNvPr id="343" name="Google Shape;343;p7"/>
            <p:cNvSpPr txBox="1"/>
            <p:nvPr/>
          </p:nvSpPr>
          <p:spPr>
            <a:xfrm>
              <a:off x="2478520" y="2711625"/>
              <a:ext cx="395349" cy="335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35353"/>
                </a:buClr>
                <a:buSzPts val="1400"/>
                <a:buFont typeface="Calibri"/>
                <a:buNone/>
              </a:pPr>
              <a:r>
                <a:rPr lang="en-AU" sz="1400" b="1" i="0" u="none" strike="noStrike" cap="none">
                  <a:solidFill>
                    <a:srgbClr val="535353"/>
                  </a:solidFill>
                  <a:latin typeface="Calibri"/>
                  <a:ea typeface="Calibri"/>
                  <a:cs typeface="Calibri"/>
                  <a:sym typeface="Calibri"/>
                </a:rPr>
                <a:t>Yes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8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AU" b="1"/>
              <a:t>Constructing Decision Trees - Example 2</a:t>
            </a:r>
            <a:endParaRPr b="1"/>
          </a:p>
        </p:txBody>
      </p:sp>
      <p:sp>
        <p:nvSpPr>
          <p:cNvPr id="349" name="Google Shape;349;p8"/>
          <p:cNvSpPr txBox="1">
            <a:spLocks noGrp="1"/>
          </p:cNvSpPr>
          <p:nvPr>
            <p:ph type="body" idx="1"/>
          </p:nvPr>
        </p:nvSpPr>
        <p:spPr>
          <a:xfrm>
            <a:off x="1267261" y="1524000"/>
            <a:ext cx="10074403" cy="452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AU" sz="2000">
                <a:solidFill>
                  <a:srgbClr val="0C0C0C"/>
                </a:solidFill>
              </a:rPr>
              <a:t>Given 30 students with variables </a:t>
            </a:r>
            <a:r>
              <a:rPr lang="en-AU" sz="2000" b="1">
                <a:solidFill>
                  <a:srgbClr val="0000FF"/>
                </a:solidFill>
              </a:rPr>
              <a:t>Gender</a:t>
            </a:r>
            <a:r>
              <a:rPr lang="en-AU" sz="2000">
                <a:solidFill>
                  <a:srgbClr val="0000FF"/>
                </a:solidFill>
              </a:rPr>
              <a:t> </a:t>
            </a:r>
            <a:r>
              <a:rPr lang="en-AU" sz="2000">
                <a:solidFill>
                  <a:srgbClr val="0C0C0C"/>
                </a:solidFill>
              </a:rPr>
              <a:t>(Boy, Girl), </a:t>
            </a:r>
            <a:r>
              <a:rPr lang="en-AU" sz="2000" b="1">
                <a:solidFill>
                  <a:srgbClr val="0000FF"/>
                </a:solidFill>
              </a:rPr>
              <a:t>Height</a:t>
            </a:r>
            <a:r>
              <a:rPr lang="en-AU" sz="2000">
                <a:solidFill>
                  <a:srgbClr val="0000FF"/>
                </a:solidFill>
              </a:rPr>
              <a:t> </a:t>
            </a:r>
            <a:r>
              <a:rPr lang="en-AU" sz="2000">
                <a:solidFill>
                  <a:srgbClr val="0C0C0C"/>
                </a:solidFill>
              </a:rPr>
              <a:t>(5-6 ft) and </a:t>
            </a:r>
            <a:r>
              <a:rPr lang="en-AU" sz="2000" b="1">
                <a:solidFill>
                  <a:srgbClr val="0000FF"/>
                </a:solidFill>
              </a:rPr>
              <a:t>Class</a:t>
            </a:r>
            <a:r>
              <a:rPr lang="en-AU" sz="2000">
                <a:solidFill>
                  <a:srgbClr val="0C0C0C"/>
                </a:solidFill>
              </a:rPr>
              <a:t>(A, B). 15 out of these 30 play cricket in leisure time. </a:t>
            </a:r>
            <a:r>
              <a:rPr lang="en-AU" sz="2000" b="1">
                <a:solidFill>
                  <a:srgbClr val="0000FF"/>
                </a:solidFill>
              </a:rPr>
              <a:t>Predict</a:t>
            </a:r>
            <a:r>
              <a:rPr lang="en-AU" sz="2000">
                <a:solidFill>
                  <a:srgbClr val="0000FF"/>
                </a:solidFill>
              </a:rPr>
              <a:t> </a:t>
            </a:r>
            <a:r>
              <a:rPr lang="en-AU" sz="2000">
                <a:solidFill>
                  <a:srgbClr val="0C0C0C"/>
                </a:solidFill>
              </a:rPr>
              <a:t>who plays cricket during leisure period?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AU" sz="2000">
                <a:solidFill>
                  <a:srgbClr val="0C0C0C"/>
                </a:solidFill>
              </a:rPr>
              <a:t>Need to segregate students who play cricket in their leisure time based on </a:t>
            </a:r>
            <a:r>
              <a:rPr lang="en-AU" sz="2000" b="1">
                <a:solidFill>
                  <a:srgbClr val="0000FF"/>
                </a:solidFill>
              </a:rPr>
              <a:t>highly significant</a:t>
            </a:r>
            <a:r>
              <a:rPr lang="en-AU" sz="2000">
                <a:solidFill>
                  <a:srgbClr val="0000FF"/>
                </a:solidFill>
              </a:rPr>
              <a:t> </a:t>
            </a:r>
            <a:r>
              <a:rPr lang="en-AU" sz="2000">
                <a:solidFill>
                  <a:srgbClr val="0C0C0C"/>
                </a:solidFill>
              </a:rPr>
              <a:t>input variable among all three (gender, height, weight).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AU" sz="2000">
                <a:solidFill>
                  <a:srgbClr val="0C0C0C"/>
                </a:solidFill>
              </a:rPr>
              <a:t>Decision Tree segregates students based on all values of the three variables and identifies the variable, which creates </a:t>
            </a:r>
            <a:r>
              <a:rPr lang="en-AU" sz="2000" b="1">
                <a:solidFill>
                  <a:srgbClr val="0000FF"/>
                </a:solidFill>
              </a:rPr>
              <a:t>the best homogeneous </a:t>
            </a:r>
            <a:r>
              <a:rPr lang="en-AU" sz="2000">
                <a:solidFill>
                  <a:srgbClr val="0C0C0C"/>
                </a:solidFill>
              </a:rPr>
              <a:t>sets of students (heterogeneous to each other).</a:t>
            </a:r>
            <a:endParaRPr sz="2000">
              <a:solidFill>
                <a:srgbClr val="0C0C0C"/>
              </a:solidFill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AU" sz="2000">
                <a:solidFill>
                  <a:srgbClr val="0C0C0C"/>
                </a:solidFill>
              </a:rPr>
              <a:t>Decision tree identifies the </a:t>
            </a:r>
            <a:r>
              <a:rPr lang="en-AU" sz="2000" b="1">
                <a:solidFill>
                  <a:srgbClr val="0000FF"/>
                </a:solidFill>
              </a:rPr>
              <a:t>most significant variable </a:t>
            </a:r>
            <a:r>
              <a:rPr lang="en-AU" sz="2000">
                <a:solidFill>
                  <a:srgbClr val="0C0C0C"/>
                </a:solidFill>
              </a:rPr>
              <a:t>and its value which gives the best homogeneous sets of population.</a:t>
            </a:r>
            <a:endParaRPr sz="2000">
              <a:solidFill>
                <a:srgbClr val="0C0C0C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9"/>
          <p:cNvSpPr txBox="1"/>
          <p:nvPr/>
        </p:nvSpPr>
        <p:spPr>
          <a:xfrm>
            <a:off x="1224678" y="1338469"/>
            <a:ext cx="10575460" cy="4548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AU" sz="20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The variable Gender can identify the </a:t>
            </a:r>
            <a:r>
              <a:rPr lang="en-AU" sz="20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most homogeneous </a:t>
            </a:r>
            <a:r>
              <a:rPr lang="en-AU" sz="20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sets compared to the other two variables</a:t>
            </a:r>
            <a:endParaRPr/>
          </a:p>
        </p:txBody>
      </p:sp>
      <p:sp>
        <p:nvSpPr>
          <p:cNvPr id="355" name="Google Shape;355;p9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AU" b="1"/>
              <a:t>Constructing Decision Trees - Example 2</a:t>
            </a:r>
            <a:endParaRPr b="1"/>
          </a:p>
        </p:txBody>
      </p:sp>
      <p:sp>
        <p:nvSpPr>
          <p:cNvPr id="356" name="Google Shape;356;p9"/>
          <p:cNvSpPr txBox="1"/>
          <p:nvPr/>
        </p:nvSpPr>
        <p:spPr>
          <a:xfrm>
            <a:off x="506583" y="2840192"/>
            <a:ext cx="1437899" cy="650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AU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Students: 30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AU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Play: 15 (50%)</a:t>
            </a:r>
            <a:endParaRPr/>
          </a:p>
        </p:txBody>
      </p:sp>
      <p:grpSp>
        <p:nvGrpSpPr>
          <p:cNvPr id="357" name="Google Shape;357;p9"/>
          <p:cNvGrpSpPr/>
          <p:nvPr/>
        </p:nvGrpSpPr>
        <p:grpSpPr>
          <a:xfrm>
            <a:off x="4826809" y="2716695"/>
            <a:ext cx="2892813" cy="3170444"/>
            <a:chOff x="0" y="0"/>
            <a:chExt cx="2892811" cy="3170442"/>
          </a:xfrm>
        </p:grpSpPr>
        <p:grpSp>
          <p:nvGrpSpPr>
            <p:cNvPr id="358" name="Google Shape;358;p9"/>
            <p:cNvGrpSpPr/>
            <p:nvPr/>
          </p:nvGrpSpPr>
          <p:grpSpPr>
            <a:xfrm>
              <a:off x="785333" y="0"/>
              <a:ext cx="1397004" cy="1016002"/>
              <a:chOff x="0" y="0"/>
              <a:chExt cx="1397002" cy="1016001"/>
            </a:xfrm>
          </p:grpSpPr>
          <p:sp>
            <p:nvSpPr>
              <p:cNvPr id="359" name="Google Shape;359;p9"/>
              <p:cNvSpPr/>
              <p:nvPr/>
            </p:nvSpPr>
            <p:spPr>
              <a:xfrm>
                <a:off x="146050" y="2095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9"/>
              <p:cNvSpPr/>
              <p:nvPr/>
            </p:nvSpPr>
            <p:spPr>
              <a:xfrm>
                <a:off x="1041401" y="406023"/>
                <a:ext cx="190501" cy="190503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9"/>
              <p:cNvSpPr/>
              <p:nvPr/>
            </p:nvSpPr>
            <p:spPr>
              <a:xfrm>
                <a:off x="692150" y="2222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9"/>
              <p:cNvSpPr/>
              <p:nvPr/>
            </p:nvSpPr>
            <p:spPr>
              <a:xfrm>
                <a:off x="539750" y="6032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9"/>
              <p:cNvSpPr/>
              <p:nvPr/>
            </p:nvSpPr>
            <p:spPr>
              <a:xfrm>
                <a:off x="438150" y="2603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9"/>
              <p:cNvSpPr/>
              <p:nvPr/>
            </p:nvSpPr>
            <p:spPr>
              <a:xfrm>
                <a:off x="184150" y="6032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9"/>
              <p:cNvSpPr/>
              <p:nvPr/>
            </p:nvSpPr>
            <p:spPr>
              <a:xfrm>
                <a:off x="812801" y="5397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9"/>
              <p:cNvSpPr/>
              <p:nvPr/>
            </p:nvSpPr>
            <p:spPr>
              <a:xfrm>
                <a:off x="946151" y="100845"/>
                <a:ext cx="190501" cy="190503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9"/>
              <p:cNvSpPr/>
              <p:nvPr/>
            </p:nvSpPr>
            <p:spPr>
              <a:xfrm>
                <a:off x="1073151" y="73660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9"/>
              <p:cNvSpPr/>
              <p:nvPr/>
            </p:nvSpPr>
            <p:spPr>
              <a:xfrm>
                <a:off x="0" y="0"/>
                <a:ext cx="1397002" cy="1016001"/>
              </a:xfrm>
              <a:prstGeom prst="roundRect">
                <a:avLst>
                  <a:gd name="adj" fmla="val 18750"/>
                </a:avLst>
              </a:prstGeom>
              <a:noFill/>
              <a:ln w="25400" cap="flat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9" name="Google Shape;369;p9"/>
            <p:cNvGrpSpPr/>
            <p:nvPr/>
          </p:nvGrpSpPr>
          <p:grpSpPr>
            <a:xfrm>
              <a:off x="88458" y="1524000"/>
              <a:ext cx="1143003" cy="762002"/>
              <a:chOff x="0" y="0"/>
              <a:chExt cx="1143002" cy="762001"/>
            </a:xfrm>
          </p:grpSpPr>
          <p:sp>
            <p:nvSpPr>
              <p:cNvPr id="370" name="Google Shape;370;p9"/>
              <p:cNvSpPr/>
              <p:nvPr/>
            </p:nvSpPr>
            <p:spPr>
              <a:xfrm>
                <a:off x="146050" y="1079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9"/>
              <p:cNvSpPr/>
              <p:nvPr/>
            </p:nvSpPr>
            <p:spPr>
              <a:xfrm>
                <a:off x="692151" y="1206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9"/>
              <p:cNvSpPr/>
              <p:nvPr/>
            </p:nvSpPr>
            <p:spPr>
              <a:xfrm>
                <a:off x="539750" y="5016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" name="Google Shape;373;p9"/>
              <p:cNvSpPr/>
              <p:nvPr/>
            </p:nvSpPr>
            <p:spPr>
              <a:xfrm>
                <a:off x="438150" y="1587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" name="Google Shape;374;p9"/>
              <p:cNvSpPr/>
              <p:nvPr/>
            </p:nvSpPr>
            <p:spPr>
              <a:xfrm>
                <a:off x="184150" y="5016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9"/>
              <p:cNvSpPr/>
              <p:nvPr/>
            </p:nvSpPr>
            <p:spPr>
              <a:xfrm>
                <a:off x="812801" y="4381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9"/>
              <p:cNvSpPr/>
              <p:nvPr/>
            </p:nvSpPr>
            <p:spPr>
              <a:xfrm>
                <a:off x="0" y="0"/>
                <a:ext cx="1143002" cy="762001"/>
              </a:xfrm>
              <a:prstGeom prst="roundRect">
                <a:avLst>
                  <a:gd name="adj" fmla="val 25000"/>
                </a:avLst>
              </a:prstGeom>
              <a:noFill/>
              <a:ln w="25400" cap="flat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7" name="Google Shape;377;p9"/>
            <p:cNvSpPr txBox="1"/>
            <p:nvPr/>
          </p:nvSpPr>
          <p:spPr>
            <a:xfrm>
              <a:off x="0" y="2355103"/>
              <a:ext cx="1203581" cy="8153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AU" sz="1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&lt; 5.5 ft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AU" sz="1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Students: 12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AU" sz="1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Play: 5 (42%)</a:t>
              </a:r>
              <a:endParaRPr/>
            </a:p>
          </p:txBody>
        </p:sp>
        <p:sp>
          <p:nvSpPr>
            <p:cNvPr id="378" name="Google Shape;378;p9"/>
            <p:cNvSpPr txBox="1"/>
            <p:nvPr/>
          </p:nvSpPr>
          <p:spPr>
            <a:xfrm>
              <a:off x="1603108" y="2355103"/>
              <a:ext cx="1289703" cy="8153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AU" sz="1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&gt;= 5.5 ft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AU" sz="1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Students: 18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AU" sz="1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Play: 10 (56%)</a:t>
              </a:r>
              <a:endParaRPr/>
            </a:p>
          </p:txBody>
        </p:sp>
        <p:grpSp>
          <p:nvGrpSpPr>
            <p:cNvPr id="379" name="Google Shape;379;p9"/>
            <p:cNvGrpSpPr/>
            <p:nvPr/>
          </p:nvGrpSpPr>
          <p:grpSpPr>
            <a:xfrm>
              <a:off x="1738336" y="1524000"/>
              <a:ext cx="1143003" cy="762002"/>
              <a:chOff x="0" y="0"/>
              <a:chExt cx="1143002" cy="762001"/>
            </a:xfrm>
          </p:grpSpPr>
          <p:sp>
            <p:nvSpPr>
              <p:cNvPr id="380" name="Google Shape;380;p9"/>
              <p:cNvSpPr/>
              <p:nvPr/>
            </p:nvSpPr>
            <p:spPr>
              <a:xfrm>
                <a:off x="146050" y="1079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" name="Google Shape;381;p9"/>
              <p:cNvSpPr/>
              <p:nvPr/>
            </p:nvSpPr>
            <p:spPr>
              <a:xfrm>
                <a:off x="692151" y="1206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9"/>
              <p:cNvSpPr/>
              <p:nvPr/>
            </p:nvSpPr>
            <p:spPr>
              <a:xfrm>
                <a:off x="539750" y="5016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" name="Google Shape;383;p9"/>
              <p:cNvSpPr/>
              <p:nvPr/>
            </p:nvSpPr>
            <p:spPr>
              <a:xfrm>
                <a:off x="438150" y="1587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p9"/>
              <p:cNvSpPr/>
              <p:nvPr/>
            </p:nvSpPr>
            <p:spPr>
              <a:xfrm>
                <a:off x="184150" y="5016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9"/>
              <p:cNvSpPr/>
              <p:nvPr/>
            </p:nvSpPr>
            <p:spPr>
              <a:xfrm>
                <a:off x="812801" y="4381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" name="Google Shape;386;p9"/>
              <p:cNvSpPr/>
              <p:nvPr/>
            </p:nvSpPr>
            <p:spPr>
              <a:xfrm>
                <a:off x="0" y="0"/>
                <a:ext cx="1143002" cy="762001"/>
              </a:xfrm>
              <a:prstGeom prst="roundRect">
                <a:avLst>
                  <a:gd name="adj" fmla="val 25000"/>
                </a:avLst>
              </a:prstGeom>
              <a:noFill/>
              <a:ln w="25400" cap="flat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87" name="Google Shape;387;p9"/>
            <p:cNvCxnSpPr/>
            <p:nvPr/>
          </p:nvCxnSpPr>
          <p:spPr>
            <a:xfrm rot="10800000" flipH="1">
              <a:off x="892141" y="1028700"/>
              <a:ext cx="284613" cy="482601"/>
            </a:xfrm>
            <a:prstGeom prst="straightConnector1">
              <a:avLst/>
            </a:prstGeom>
            <a:noFill/>
            <a:ln w="254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88" name="Google Shape;388;p9"/>
            <p:cNvCxnSpPr/>
            <p:nvPr/>
          </p:nvCxnSpPr>
          <p:spPr>
            <a:xfrm rot="10800000">
              <a:off x="1791708" y="1028700"/>
              <a:ext cx="285348" cy="482601"/>
            </a:xfrm>
            <a:prstGeom prst="straightConnector1">
              <a:avLst/>
            </a:prstGeom>
            <a:noFill/>
            <a:ln w="254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389" name="Google Shape;389;p9"/>
          <p:cNvGrpSpPr/>
          <p:nvPr/>
        </p:nvGrpSpPr>
        <p:grpSpPr>
          <a:xfrm>
            <a:off x="8385437" y="2716695"/>
            <a:ext cx="2882463" cy="3170444"/>
            <a:chOff x="0" y="0"/>
            <a:chExt cx="2882461" cy="3170442"/>
          </a:xfrm>
        </p:grpSpPr>
        <p:grpSp>
          <p:nvGrpSpPr>
            <p:cNvPr id="390" name="Google Shape;390;p9"/>
            <p:cNvGrpSpPr/>
            <p:nvPr/>
          </p:nvGrpSpPr>
          <p:grpSpPr>
            <a:xfrm>
              <a:off x="789375" y="0"/>
              <a:ext cx="1397003" cy="1016002"/>
              <a:chOff x="0" y="0"/>
              <a:chExt cx="1397002" cy="1016001"/>
            </a:xfrm>
          </p:grpSpPr>
          <p:sp>
            <p:nvSpPr>
              <p:cNvPr id="391" name="Google Shape;391;p9"/>
              <p:cNvSpPr/>
              <p:nvPr/>
            </p:nvSpPr>
            <p:spPr>
              <a:xfrm>
                <a:off x="146050" y="2095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392;p9"/>
              <p:cNvSpPr/>
              <p:nvPr/>
            </p:nvSpPr>
            <p:spPr>
              <a:xfrm>
                <a:off x="1041401" y="406023"/>
                <a:ext cx="190501" cy="190503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393;p9"/>
              <p:cNvSpPr/>
              <p:nvPr/>
            </p:nvSpPr>
            <p:spPr>
              <a:xfrm>
                <a:off x="692150" y="2222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539750" y="6032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395;p9"/>
              <p:cNvSpPr/>
              <p:nvPr/>
            </p:nvSpPr>
            <p:spPr>
              <a:xfrm>
                <a:off x="438150" y="2603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p9"/>
              <p:cNvSpPr/>
              <p:nvPr/>
            </p:nvSpPr>
            <p:spPr>
              <a:xfrm>
                <a:off x="184150" y="6032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812800" y="5397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9"/>
              <p:cNvSpPr/>
              <p:nvPr/>
            </p:nvSpPr>
            <p:spPr>
              <a:xfrm>
                <a:off x="946150" y="100845"/>
                <a:ext cx="190501" cy="190503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9"/>
              <p:cNvSpPr/>
              <p:nvPr/>
            </p:nvSpPr>
            <p:spPr>
              <a:xfrm>
                <a:off x="1073151" y="73660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" name="Google Shape;400;p9"/>
              <p:cNvSpPr/>
              <p:nvPr/>
            </p:nvSpPr>
            <p:spPr>
              <a:xfrm>
                <a:off x="0" y="0"/>
                <a:ext cx="1397002" cy="1016001"/>
              </a:xfrm>
              <a:prstGeom prst="roundRect">
                <a:avLst>
                  <a:gd name="adj" fmla="val 18750"/>
                </a:avLst>
              </a:prstGeom>
              <a:noFill/>
              <a:ln w="25400" cap="flat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01" name="Google Shape;401;p9"/>
            <p:cNvSpPr txBox="1"/>
            <p:nvPr/>
          </p:nvSpPr>
          <p:spPr>
            <a:xfrm>
              <a:off x="0" y="2355103"/>
              <a:ext cx="1203581" cy="8153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AU" sz="1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Class A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AU" sz="1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Students: 14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AU" sz="1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Play: 6 (43%)</a:t>
              </a:r>
              <a:endParaRPr/>
            </a:p>
          </p:txBody>
        </p:sp>
        <p:sp>
          <p:nvSpPr>
            <p:cNvPr id="402" name="Google Shape;402;p9"/>
            <p:cNvSpPr txBox="1"/>
            <p:nvPr/>
          </p:nvSpPr>
          <p:spPr>
            <a:xfrm>
              <a:off x="1651000" y="2355103"/>
              <a:ext cx="1203582" cy="8153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AU" sz="1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Class B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AU" sz="1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Students: 16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AU" sz="1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Play: 9 (56%)</a:t>
              </a:r>
              <a:endParaRPr/>
            </a:p>
          </p:txBody>
        </p:sp>
        <p:grpSp>
          <p:nvGrpSpPr>
            <p:cNvPr id="403" name="Google Shape;403;p9"/>
            <p:cNvGrpSpPr/>
            <p:nvPr/>
          </p:nvGrpSpPr>
          <p:grpSpPr>
            <a:xfrm>
              <a:off x="88457" y="1524000"/>
              <a:ext cx="1143004" cy="762002"/>
              <a:chOff x="0" y="0"/>
              <a:chExt cx="1143002" cy="762001"/>
            </a:xfrm>
          </p:grpSpPr>
          <p:sp>
            <p:nvSpPr>
              <p:cNvPr id="404" name="Google Shape;404;p9"/>
              <p:cNvSpPr/>
              <p:nvPr/>
            </p:nvSpPr>
            <p:spPr>
              <a:xfrm>
                <a:off x="146050" y="1079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692150" y="1206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539750" y="5016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9"/>
              <p:cNvSpPr/>
              <p:nvPr/>
            </p:nvSpPr>
            <p:spPr>
              <a:xfrm>
                <a:off x="438150" y="1587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9"/>
              <p:cNvSpPr/>
              <p:nvPr/>
            </p:nvSpPr>
            <p:spPr>
              <a:xfrm>
                <a:off x="184150" y="5016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9"/>
              <p:cNvSpPr/>
              <p:nvPr/>
            </p:nvSpPr>
            <p:spPr>
              <a:xfrm>
                <a:off x="812800" y="4381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" name="Google Shape;410;p9"/>
              <p:cNvSpPr/>
              <p:nvPr/>
            </p:nvSpPr>
            <p:spPr>
              <a:xfrm>
                <a:off x="0" y="0"/>
                <a:ext cx="1143002" cy="762001"/>
              </a:xfrm>
              <a:prstGeom prst="roundRect">
                <a:avLst>
                  <a:gd name="adj" fmla="val 25000"/>
                </a:avLst>
              </a:prstGeom>
              <a:noFill/>
              <a:ln w="25400" cap="flat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1" name="Google Shape;411;p9"/>
            <p:cNvGrpSpPr/>
            <p:nvPr/>
          </p:nvGrpSpPr>
          <p:grpSpPr>
            <a:xfrm>
              <a:off x="1739458" y="1524000"/>
              <a:ext cx="1143003" cy="762002"/>
              <a:chOff x="0" y="0"/>
              <a:chExt cx="1143002" cy="762001"/>
            </a:xfrm>
          </p:grpSpPr>
          <p:sp>
            <p:nvSpPr>
              <p:cNvPr id="412" name="Google Shape;412;p9"/>
              <p:cNvSpPr/>
              <p:nvPr/>
            </p:nvSpPr>
            <p:spPr>
              <a:xfrm>
                <a:off x="146050" y="1079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692150" y="1206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9"/>
              <p:cNvSpPr/>
              <p:nvPr/>
            </p:nvSpPr>
            <p:spPr>
              <a:xfrm>
                <a:off x="539750" y="5016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9"/>
              <p:cNvSpPr/>
              <p:nvPr/>
            </p:nvSpPr>
            <p:spPr>
              <a:xfrm>
                <a:off x="438150" y="1587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184150" y="5016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812800" y="4381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9"/>
              <p:cNvSpPr/>
              <p:nvPr/>
            </p:nvSpPr>
            <p:spPr>
              <a:xfrm>
                <a:off x="0" y="0"/>
                <a:ext cx="1143002" cy="762001"/>
              </a:xfrm>
              <a:prstGeom prst="roundRect">
                <a:avLst>
                  <a:gd name="adj" fmla="val 25000"/>
                </a:avLst>
              </a:prstGeom>
              <a:noFill/>
              <a:ln w="25400" cap="flat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19" name="Google Shape;419;p9"/>
            <p:cNvCxnSpPr/>
            <p:nvPr/>
          </p:nvCxnSpPr>
          <p:spPr>
            <a:xfrm rot="10800000" flipH="1">
              <a:off x="893280" y="1028700"/>
              <a:ext cx="286009" cy="482601"/>
            </a:xfrm>
            <a:prstGeom prst="straightConnector1">
              <a:avLst/>
            </a:prstGeom>
            <a:noFill/>
            <a:ln w="254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20" name="Google Shape;420;p9"/>
            <p:cNvCxnSpPr/>
            <p:nvPr/>
          </p:nvCxnSpPr>
          <p:spPr>
            <a:xfrm>
              <a:off x="1794660" y="1028700"/>
              <a:ext cx="284340" cy="482601"/>
            </a:xfrm>
            <a:prstGeom prst="straightConnector1">
              <a:avLst/>
            </a:prstGeom>
            <a:noFill/>
            <a:ln w="254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421" name="Google Shape;421;p9"/>
          <p:cNvGrpSpPr/>
          <p:nvPr/>
        </p:nvGrpSpPr>
        <p:grpSpPr>
          <a:xfrm>
            <a:off x="1267058" y="2716695"/>
            <a:ext cx="2893936" cy="3170444"/>
            <a:chOff x="0" y="0"/>
            <a:chExt cx="2893934" cy="3170442"/>
          </a:xfrm>
        </p:grpSpPr>
        <p:sp>
          <p:nvSpPr>
            <p:cNvPr id="422" name="Google Shape;422;p9"/>
            <p:cNvSpPr txBox="1"/>
            <p:nvPr/>
          </p:nvSpPr>
          <p:spPr>
            <a:xfrm>
              <a:off x="0" y="2355103"/>
              <a:ext cx="1203581" cy="8153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AU" sz="1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Female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AU" sz="1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Students: 10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AU" sz="1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Play: 2 (20%)</a:t>
              </a:r>
              <a:endParaRPr/>
            </a:p>
          </p:txBody>
        </p:sp>
        <p:sp>
          <p:nvSpPr>
            <p:cNvPr id="423" name="Google Shape;423;p9"/>
            <p:cNvSpPr txBox="1"/>
            <p:nvPr/>
          </p:nvSpPr>
          <p:spPr>
            <a:xfrm>
              <a:off x="1604231" y="2355103"/>
              <a:ext cx="1289703" cy="8153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AU" sz="1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Male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AU" sz="1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Students: 20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AU" sz="1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Play: 13 (65%)</a:t>
              </a:r>
              <a:endParaRPr/>
            </a:p>
          </p:txBody>
        </p:sp>
        <p:grpSp>
          <p:nvGrpSpPr>
            <p:cNvPr id="424" name="Google Shape;424;p9"/>
            <p:cNvGrpSpPr/>
            <p:nvPr/>
          </p:nvGrpSpPr>
          <p:grpSpPr>
            <a:xfrm>
              <a:off x="784541" y="0"/>
              <a:ext cx="1397004" cy="1016002"/>
              <a:chOff x="0" y="0"/>
              <a:chExt cx="1397002" cy="1016001"/>
            </a:xfrm>
          </p:grpSpPr>
          <p:sp>
            <p:nvSpPr>
              <p:cNvPr id="425" name="Google Shape;425;p9"/>
              <p:cNvSpPr/>
              <p:nvPr/>
            </p:nvSpPr>
            <p:spPr>
              <a:xfrm>
                <a:off x="146050" y="2095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9"/>
              <p:cNvSpPr/>
              <p:nvPr/>
            </p:nvSpPr>
            <p:spPr>
              <a:xfrm>
                <a:off x="1041401" y="406023"/>
                <a:ext cx="190501" cy="190503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9"/>
              <p:cNvSpPr/>
              <p:nvPr/>
            </p:nvSpPr>
            <p:spPr>
              <a:xfrm>
                <a:off x="692150" y="2222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9"/>
              <p:cNvSpPr/>
              <p:nvPr/>
            </p:nvSpPr>
            <p:spPr>
              <a:xfrm>
                <a:off x="539750" y="6032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9"/>
              <p:cNvSpPr/>
              <p:nvPr/>
            </p:nvSpPr>
            <p:spPr>
              <a:xfrm>
                <a:off x="438150" y="2603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" name="Google Shape;430;p9"/>
              <p:cNvSpPr/>
              <p:nvPr/>
            </p:nvSpPr>
            <p:spPr>
              <a:xfrm>
                <a:off x="184150" y="6032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" name="Google Shape;431;p9"/>
              <p:cNvSpPr/>
              <p:nvPr/>
            </p:nvSpPr>
            <p:spPr>
              <a:xfrm>
                <a:off x="812801" y="5397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9"/>
              <p:cNvSpPr/>
              <p:nvPr/>
            </p:nvSpPr>
            <p:spPr>
              <a:xfrm>
                <a:off x="946151" y="100845"/>
                <a:ext cx="190501" cy="190503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9"/>
              <p:cNvSpPr/>
              <p:nvPr/>
            </p:nvSpPr>
            <p:spPr>
              <a:xfrm>
                <a:off x="1073151" y="73660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9"/>
              <p:cNvSpPr/>
              <p:nvPr/>
            </p:nvSpPr>
            <p:spPr>
              <a:xfrm>
                <a:off x="0" y="0"/>
                <a:ext cx="1397002" cy="1016001"/>
              </a:xfrm>
              <a:prstGeom prst="roundRect">
                <a:avLst>
                  <a:gd name="adj" fmla="val 18750"/>
                </a:avLst>
              </a:prstGeom>
              <a:noFill/>
              <a:ln w="25400" cap="flat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5" name="Google Shape;435;p9"/>
            <p:cNvGrpSpPr/>
            <p:nvPr/>
          </p:nvGrpSpPr>
          <p:grpSpPr>
            <a:xfrm>
              <a:off x="88458" y="1524000"/>
              <a:ext cx="1143003" cy="762002"/>
              <a:chOff x="0" y="0"/>
              <a:chExt cx="1143002" cy="762001"/>
            </a:xfrm>
          </p:grpSpPr>
          <p:sp>
            <p:nvSpPr>
              <p:cNvPr id="436" name="Google Shape;436;p9"/>
              <p:cNvSpPr/>
              <p:nvPr/>
            </p:nvSpPr>
            <p:spPr>
              <a:xfrm>
                <a:off x="146050" y="1079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9"/>
              <p:cNvSpPr/>
              <p:nvPr/>
            </p:nvSpPr>
            <p:spPr>
              <a:xfrm>
                <a:off x="692151" y="120650"/>
                <a:ext cx="190503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9"/>
              <p:cNvSpPr/>
              <p:nvPr/>
            </p:nvSpPr>
            <p:spPr>
              <a:xfrm>
                <a:off x="539750" y="501650"/>
                <a:ext cx="190503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9"/>
              <p:cNvSpPr/>
              <p:nvPr/>
            </p:nvSpPr>
            <p:spPr>
              <a:xfrm>
                <a:off x="438150" y="158750"/>
                <a:ext cx="190503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9"/>
              <p:cNvSpPr/>
              <p:nvPr/>
            </p:nvSpPr>
            <p:spPr>
              <a:xfrm>
                <a:off x="184150" y="5016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9"/>
              <p:cNvSpPr/>
              <p:nvPr/>
            </p:nvSpPr>
            <p:spPr>
              <a:xfrm>
                <a:off x="812801" y="438150"/>
                <a:ext cx="190503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9"/>
              <p:cNvSpPr/>
              <p:nvPr/>
            </p:nvSpPr>
            <p:spPr>
              <a:xfrm>
                <a:off x="0" y="0"/>
                <a:ext cx="1143002" cy="762001"/>
              </a:xfrm>
              <a:prstGeom prst="roundRect">
                <a:avLst>
                  <a:gd name="adj" fmla="val 25000"/>
                </a:avLst>
              </a:prstGeom>
              <a:noFill/>
              <a:ln w="25400" cap="flat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3" name="Google Shape;443;p9"/>
            <p:cNvGrpSpPr/>
            <p:nvPr/>
          </p:nvGrpSpPr>
          <p:grpSpPr>
            <a:xfrm>
              <a:off x="1739459" y="1524000"/>
              <a:ext cx="1143003" cy="762002"/>
              <a:chOff x="0" y="0"/>
              <a:chExt cx="1143002" cy="762001"/>
            </a:xfrm>
          </p:grpSpPr>
          <p:sp>
            <p:nvSpPr>
              <p:cNvPr id="444" name="Google Shape;444;p9"/>
              <p:cNvSpPr/>
              <p:nvPr/>
            </p:nvSpPr>
            <p:spPr>
              <a:xfrm>
                <a:off x="146050" y="1079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9"/>
              <p:cNvSpPr/>
              <p:nvPr/>
            </p:nvSpPr>
            <p:spPr>
              <a:xfrm>
                <a:off x="692150" y="120650"/>
                <a:ext cx="190503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9"/>
              <p:cNvSpPr/>
              <p:nvPr/>
            </p:nvSpPr>
            <p:spPr>
              <a:xfrm>
                <a:off x="539749" y="501650"/>
                <a:ext cx="190503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9"/>
              <p:cNvSpPr/>
              <p:nvPr/>
            </p:nvSpPr>
            <p:spPr>
              <a:xfrm>
                <a:off x="438149" y="158750"/>
                <a:ext cx="190503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9"/>
              <p:cNvSpPr/>
              <p:nvPr/>
            </p:nvSpPr>
            <p:spPr>
              <a:xfrm>
                <a:off x="184150" y="5016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9"/>
              <p:cNvSpPr/>
              <p:nvPr/>
            </p:nvSpPr>
            <p:spPr>
              <a:xfrm>
                <a:off x="812800" y="438150"/>
                <a:ext cx="190503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9"/>
              <p:cNvSpPr/>
              <p:nvPr/>
            </p:nvSpPr>
            <p:spPr>
              <a:xfrm>
                <a:off x="0" y="0"/>
                <a:ext cx="1143002" cy="762001"/>
              </a:xfrm>
              <a:prstGeom prst="roundRect">
                <a:avLst>
                  <a:gd name="adj" fmla="val 25000"/>
                </a:avLst>
              </a:prstGeom>
              <a:noFill/>
              <a:ln w="25400" cap="flat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51" name="Google Shape;451;p9"/>
            <p:cNvCxnSpPr/>
            <p:nvPr/>
          </p:nvCxnSpPr>
          <p:spPr>
            <a:xfrm rot="10800000" flipH="1">
              <a:off x="891918" y="1028700"/>
              <a:ext cx="284340" cy="482601"/>
            </a:xfrm>
            <a:prstGeom prst="straightConnector1">
              <a:avLst/>
            </a:prstGeom>
            <a:noFill/>
            <a:ln w="254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52" name="Google Shape;452;p9"/>
            <p:cNvCxnSpPr/>
            <p:nvPr/>
          </p:nvCxnSpPr>
          <p:spPr>
            <a:xfrm>
              <a:off x="1791629" y="1028700"/>
              <a:ext cx="286010" cy="482601"/>
            </a:xfrm>
            <a:prstGeom prst="straightConnector1">
              <a:avLst/>
            </a:prstGeom>
            <a:noFill/>
            <a:ln w="254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53" name="Google Shape;453;p9"/>
          <p:cNvSpPr txBox="1"/>
          <p:nvPr/>
        </p:nvSpPr>
        <p:spPr>
          <a:xfrm>
            <a:off x="1933072" y="2254313"/>
            <a:ext cx="1561910" cy="370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Calibri"/>
              <a:buNone/>
            </a:pPr>
            <a:r>
              <a:rPr lang="en-AU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Split by Gender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454" name="Google Shape;454;p9"/>
          <p:cNvSpPr txBox="1"/>
          <p:nvPr/>
        </p:nvSpPr>
        <p:spPr>
          <a:xfrm>
            <a:off x="9160738" y="2254313"/>
            <a:ext cx="1331859" cy="370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Calibri"/>
              <a:buNone/>
            </a:pPr>
            <a:r>
              <a:rPr lang="en-AU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Split by Class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455" name="Google Shape;455;p9"/>
          <p:cNvSpPr txBox="1"/>
          <p:nvPr/>
        </p:nvSpPr>
        <p:spPr>
          <a:xfrm>
            <a:off x="5531663" y="2254313"/>
            <a:ext cx="1483106" cy="370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Calibri"/>
              <a:buNone/>
            </a:pPr>
            <a:r>
              <a:rPr lang="en-AU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Split by Height</a:t>
            </a: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0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AU" sz="4400" b="0" i="0" u="none" strike="noStrike" cap="none">
                <a:latin typeface="Calibri"/>
                <a:ea typeface="Calibri"/>
                <a:cs typeface="Calibri"/>
                <a:sym typeface="Calibri"/>
              </a:rPr>
              <a:t>Terminology</a:t>
            </a:r>
            <a:endParaRPr/>
          </a:p>
        </p:txBody>
      </p:sp>
      <p:sp>
        <p:nvSpPr>
          <p:cNvPr id="461" name="Google Shape;461;p10"/>
          <p:cNvSpPr txBox="1">
            <a:spLocks noGrp="1"/>
          </p:cNvSpPr>
          <p:nvPr>
            <p:ph type="body" idx="1"/>
          </p:nvPr>
        </p:nvSpPr>
        <p:spPr>
          <a:xfrm>
            <a:off x="1267262" y="1529624"/>
            <a:ext cx="6815194" cy="4717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>
                <a:solidFill>
                  <a:srgbClr val="0000FF"/>
                </a:solidFill>
              </a:rPr>
              <a:t>Root Node</a:t>
            </a:r>
            <a:r>
              <a:rPr lang="en-AU" b="0">
                <a:solidFill>
                  <a:srgbClr val="0000FF"/>
                </a:solidFill>
              </a:rPr>
              <a:t>: </a:t>
            </a:r>
            <a:r>
              <a:rPr lang="en-AU" b="0"/>
              <a:t>Represents all the data and gets divided into two or more homogeneous sets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>
                <a:solidFill>
                  <a:srgbClr val="0000FF"/>
                </a:solidFill>
              </a:rPr>
              <a:t>Splitting</a:t>
            </a:r>
            <a:r>
              <a:rPr lang="en-AU" b="0">
                <a:solidFill>
                  <a:srgbClr val="0000FF"/>
                </a:solidFill>
              </a:rPr>
              <a:t>:</a:t>
            </a:r>
            <a:r>
              <a:rPr lang="en-AU" b="0"/>
              <a:t> Process of dividing a node into two or more sub-nodes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>
                <a:solidFill>
                  <a:srgbClr val="0000FF"/>
                </a:solidFill>
              </a:rPr>
              <a:t>Decision Node</a:t>
            </a:r>
            <a:r>
              <a:rPr lang="en-AU" b="0">
                <a:solidFill>
                  <a:srgbClr val="0000FF"/>
                </a:solidFill>
              </a:rPr>
              <a:t>:</a:t>
            </a:r>
            <a:r>
              <a:rPr lang="en-AU" b="0">
                <a:solidFill>
                  <a:srgbClr val="57B7D9"/>
                </a:solidFill>
              </a:rPr>
              <a:t> </a:t>
            </a:r>
            <a:r>
              <a:rPr lang="en-AU" b="0"/>
              <a:t>When a sub-node splits into further sub-nodes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>
                <a:solidFill>
                  <a:srgbClr val="0000FF"/>
                </a:solidFill>
              </a:rPr>
              <a:t>Leaf</a:t>
            </a:r>
            <a:r>
              <a:rPr lang="en-AU" b="0"/>
              <a:t> or </a:t>
            </a:r>
            <a:r>
              <a:rPr lang="en-AU">
                <a:solidFill>
                  <a:srgbClr val="0000FF"/>
                </a:solidFill>
              </a:rPr>
              <a:t>Terminal Node</a:t>
            </a:r>
            <a:r>
              <a:rPr lang="en-AU" b="0">
                <a:solidFill>
                  <a:srgbClr val="0000FF"/>
                </a:solidFill>
              </a:rPr>
              <a:t>:</a:t>
            </a:r>
            <a:r>
              <a:rPr lang="en-AU" b="0"/>
              <a:t> Nodes that do not split</a:t>
            </a:r>
            <a:endParaRPr/>
          </a:p>
        </p:txBody>
      </p:sp>
      <p:pic>
        <p:nvPicPr>
          <p:cNvPr id="462" name="Google Shape;46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82456" y="2129775"/>
            <a:ext cx="3758543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1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AU" sz="4400" b="0" i="0" u="none" strike="noStrike" cap="none">
                <a:latin typeface="Calibri"/>
                <a:ea typeface="Calibri"/>
                <a:cs typeface="Calibri"/>
                <a:sym typeface="Calibri"/>
              </a:rPr>
              <a:t>Terminology</a:t>
            </a:r>
            <a:endParaRPr/>
          </a:p>
        </p:txBody>
      </p:sp>
      <p:sp>
        <p:nvSpPr>
          <p:cNvPr id="468" name="Google Shape;468;p11"/>
          <p:cNvSpPr txBox="1">
            <a:spLocks noGrp="1"/>
          </p:cNvSpPr>
          <p:nvPr>
            <p:ph type="body" idx="1"/>
          </p:nvPr>
        </p:nvSpPr>
        <p:spPr>
          <a:xfrm>
            <a:off x="1267262" y="1529624"/>
            <a:ext cx="6005898" cy="4717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>
                <a:solidFill>
                  <a:srgbClr val="0000FF"/>
                </a:solidFill>
              </a:rPr>
              <a:t>Pruning</a:t>
            </a:r>
            <a:r>
              <a:rPr lang="en-AU" b="0"/>
              <a:t>: Remove of sub-nodes of a decision node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>
                <a:solidFill>
                  <a:srgbClr val="0000FF"/>
                </a:solidFill>
              </a:rPr>
              <a:t>Branch</a:t>
            </a:r>
            <a:r>
              <a:rPr lang="en-AU" b="0"/>
              <a:t> or </a:t>
            </a:r>
            <a:r>
              <a:rPr lang="en-AU">
                <a:solidFill>
                  <a:srgbClr val="0000FF"/>
                </a:solidFill>
              </a:rPr>
              <a:t>Sub-Tree</a:t>
            </a:r>
            <a:r>
              <a:rPr lang="en-AU" b="0"/>
              <a:t>: A subsection of the entire tree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>
                <a:solidFill>
                  <a:srgbClr val="0000FF"/>
                </a:solidFill>
              </a:rPr>
              <a:t>Parent Node</a:t>
            </a:r>
            <a:r>
              <a:rPr lang="en-AU" b="0"/>
              <a:t>: A node divided into sub-nodes is the parent of those sub-nodes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>
                <a:solidFill>
                  <a:srgbClr val="0000FF"/>
                </a:solidFill>
              </a:rPr>
              <a:t>Child Node</a:t>
            </a:r>
            <a:r>
              <a:rPr lang="en-AU" b="0"/>
              <a:t>: Sub-nodes resulting of a node division are children of such node</a:t>
            </a:r>
            <a:endParaRPr/>
          </a:p>
        </p:txBody>
      </p:sp>
      <p:pic>
        <p:nvPicPr>
          <p:cNvPr id="469" name="Google Shape;46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5048" y="2129775"/>
            <a:ext cx="4142377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2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3959"/>
              <a:buFont typeface="Calibri"/>
              <a:buNone/>
            </a:pPr>
            <a:r>
              <a:rPr lang="en-AU" sz="3959" b="1"/>
              <a:t>Constructing Decision Trees - Greedy Decision Tree Learning</a:t>
            </a:r>
            <a:endParaRPr/>
          </a:p>
        </p:txBody>
      </p:sp>
      <p:sp>
        <p:nvSpPr>
          <p:cNvPr id="475" name="Google Shape;475;p12"/>
          <p:cNvSpPr txBox="1">
            <a:spLocks noGrp="1"/>
          </p:cNvSpPr>
          <p:nvPr>
            <p:ph type="body" idx="1"/>
          </p:nvPr>
        </p:nvSpPr>
        <p:spPr>
          <a:xfrm>
            <a:off x="1267261" y="1529624"/>
            <a:ext cx="10709835" cy="4690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320841" lvl="0" indent="-32084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AutoNum type="arabicPeriod"/>
            </a:pPr>
            <a:r>
              <a:rPr lang="en-AU" sz="2000"/>
              <a:t>Start with an </a:t>
            </a:r>
            <a:r>
              <a:rPr lang="en-AU" sz="2000" b="1" i="1">
                <a:solidFill>
                  <a:srgbClr val="0000FF"/>
                </a:solidFill>
              </a:rPr>
              <a:t>empty</a:t>
            </a:r>
            <a:r>
              <a:rPr lang="en-AU" sz="2000">
                <a:solidFill>
                  <a:srgbClr val="0000FF"/>
                </a:solidFill>
              </a:rPr>
              <a:t> </a:t>
            </a:r>
            <a:r>
              <a:rPr lang="en-AU" sz="2000"/>
              <a:t>tree</a:t>
            </a:r>
            <a:endParaRPr/>
          </a:p>
          <a:p>
            <a:pPr marL="320841" lvl="0" indent="-320841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AutoNum type="arabicPeriod"/>
            </a:pPr>
            <a:r>
              <a:rPr lang="en-AU" sz="2000"/>
              <a:t>Select a </a:t>
            </a:r>
            <a:r>
              <a:rPr lang="en-AU" sz="2000" b="1" i="1">
                <a:solidFill>
                  <a:srgbClr val="0000FF"/>
                </a:solidFill>
              </a:rPr>
              <a:t>feature</a:t>
            </a:r>
            <a:r>
              <a:rPr lang="en-AU" sz="2000">
                <a:solidFill>
                  <a:srgbClr val="0000FF"/>
                </a:solidFill>
              </a:rPr>
              <a:t> </a:t>
            </a:r>
            <a:r>
              <a:rPr lang="en-AU" sz="2000"/>
              <a:t>to split the data</a:t>
            </a:r>
            <a:endParaRPr/>
          </a:p>
          <a:p>
            <a:pPr marL="621631" lvl="1" indent="-240631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Char char="•"/>
            </a:pPr>
            <a:r>
              <a:rPr lang="en-AU" sz="2000"/>
              <a:t>(Look for the feature that gives the </a:t>
            </a:r>
            <a:r>
              <a:rPr lang="en-AU" sz="2000" b="1" i="1">
                <a:solidFill>
                  <a:srgbClr val="0000FF"/>
                </a:solidFill>
              </a:rPr>
              <a:t>smallest classification error</a:t>
            </a:r>
            <a:r>
              <a:rPr lang="en-AU" sz="2000"/>
              <a:t>)</a:t>
            </a:r>
            <a:endParaRPr/>
          </a:p>
          <a:p>
            <a:pPr marL="320841" lvl="0" indent="-320841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AutoNum type="arabicPeriod"/>
            </a:pPr>
            <a:r>
              <a:rPr lang="en-AU" sz="2000"/>
              <a:t>For</a:t>
            </a:r>
            <a:r>
              <a:rPr lang="en-AU" sz="2000">
                <a:solidFill>
                  <a:srgbClr val="57B7D9"/>
                </a:solidFill>
              </a:rPr>
              <a:t> </a:t>
            </a:r>
            <a:r>
              <a:rPr lang="en-AU" sz="2000" b="1" i="1">
                <a:solidFill>
                  <a:srgbClr val="0000FF"/>
                </a:solidFill>
              </a:rPr>
              <a:t>each split</a:t>
            </a:r>
            <a:r>
              <a:rPr lang="en-AU" sz="2000"/>
              <a:t> of the tree</a:t>
            </a:r>
            <a:endParaRPr/>
          </a:p>
          <a:p>
            <a:pPr marL="621631" lvl="1" indent="-240631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Char char="•"/>
            </a:pPr>
            <a:r>
              <a:rPr lang="en-AU" sz="2000"/>
              <a:t>If reached </a:t>
            </a:r>
            <a:r>
              <a:rPr lang="en-AU" sz="2000" b="1" i="1">
                <a:solidFill>
                  <a:srgbClr val="0000FF"/>
                </a:solidFill>
              </a:rPr>
              <a:t>stop condition</a:t>
            </a:r>
            <a:r>
              <a:rPr lang="en-AU" sz="2000"/>
              <a:t> (purity, # elements, depth)</a:t>
            </a:r>
            <a:br>
              <a:rPr lang="en-AU" sz="2000"/>
            </a:br>
            <a:r>
              <a:rPr lang="en-AU" sz="2000"/>
              <a:t>then make predictions</a:t>
            </a:r>
            <a:endParaRPr/>
          </a:p>
          <a:p>
            <a:pPr marL="621631" lvl="1" indent="-240631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Char char="•"/>
            </a:pPr>
            <a:r>
              <a:rPr lang="en-AU" sz="2000"/>
              <a:t>Otherwise, go to 2. and continue recursively on this </a:t>
            </a:r>
            <a:r>
              <a:rPr lang="en-AU" sz="2000" b="1" i="1">
                <a:solidFill>
                  <a:srgbClr val="0000FF"/>
                </a:solidFill>
              </a:rPr>
              <a:t>split</a:t>
            </a: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3"/>
          <p:cNvSpPr txBox="1">
            <a:spLocks noGrp="1"/>
          </p:cNvSpPr>
          <p:nvPr>
            <p:ph type="title"/>
          </p:nvPr>
        </p:nvSpPr>
        <p:spPr>
          <a:xfrm>
            <a:off x="933734" y="35565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AU" b="1">
                <a:solidFill>
                  <a:srgbClr val="0000FF"/>
                </a:solidFill>
              </a:rPr>
              <a:t>Advantages of Decision Trees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482" name="Google Shape;482;p13"/>
          <p:cNvSpPr txBox="1">
            <a:spLocks noGrp="1"/>
          </p:cNvSpPr>
          <p:nvPr>
            <p:ph type="body" idx="1"/>
          </p:nvPr>
        </p:nvSpPr>
        <p:spPr>
          <a:xfrm>
            <a:off x="838200" y="15117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2000" b="1">
                <a:solidFill>
                  <a:srgbClr val="0000FF"/>
                </a:solidFill>
              </a:rPr>
              <a:t>Less data cleaning required</a:t>
            </a:r>
            <a:r>
              <a:rPr lang="en-AU" sz="2000">
                <a:solidFill>
                  <a:srgbClr val="0C0C0C"/>
                </a:solidFill>
              </a:rPr>
              <a:t>: it can deal with </a:t>
            </a:r>
            <a:r>
              <a:rPr lang="en-AU" sz="2000" b="1">
                <a:solidFill>
                  <a:srgbClr val="0000FF"/>
                </a:solidFill>
              </a:rPr>
              <a:t>categorical features</a:t>
            </a:r>
            <a:r>
              <a:rPr lang="en-AU" sz="2000" b="1">
                <a:solidFill>
                  <a:srgbClr val="1DBBDD"/>
                </a:solidFill>
              </a:rPr>
              <a:t> </a:t>
            </a:r>
            <a:r>
              <a:rPr lang="en-AU" sz="2000">
                <a:solidFill>
                  <a:srgbClr val="0C0C0C"/>
                </a:solidFill>
              </a:rPr>
              <a:t>directly without encoding and is not confused too much by </a:t>
            </a:r>
            <a:r>
              <a:rPr lang="en-AU" sz="2000" b="1">
                <a:solidFill>
                  <a:srgbClr val="0000FF"/>
                </a:solidFill>
              </a:rPr>
              <a:t>outliers</a:t>
            </a:r>
            <a:r>
              <a:rPr lang="en-AU" sz="2000">
                <a:solidFill>
                  <a:srgbClr val="0000FF"/>
                </a:solidFill>
              </a:rPr>
              <a:t> </a:t>
            </a:r>
            <a:r>
              <a:rPr lang="en-AU" sz="2000">
                <a:solidFill>
                  <a:srgbClr val="0C0C0C"/>
                </a:solidFill>
              </a:rPr>
              <a:t>and </a:t>
            </a:r>
            <a:r>
              <a:rPr lang="en-AU" sz="2000" b="1">
                <a:solidFill>
                  <a:srgbClr val="0000FF"/>
                </a:solidFill>
              </a:rPr>
              <a:t>missing values </a:t>
            </a:r>
            <a:r>
              <a:rPr lang="en-AU" sz="2000">
                <a:solidFill>
                  <a:srgbClr val="0C0C0C"/>
                </a:solidFill>
              </a:rPr>
              <a:t>to a fair degree.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2000">
                <a:solidFill>
                  <a:srgbClr val="0C0C0C"/>
                </a:solidFill>
              </a:rPr>
              <a:t>Non-Parametric Method: Have </a:t>
            </a:r>
            <a:r>
              <a:rPr lang="en-AU" sz="2000" b="1">
                <a:solidFill>
                  <a:srgbClr val="0000FF"/>
                </a:solidFill>
              </a:rPr>
              <a:t>no assumptions on space distribution</a:t>
            </a:r>
            <a:r>
              <a:rPr lang="en-AU" sz="2000" b="1">
                <a:solidFill>
                  <a:srgbClr val="1DBBDD"/>
                </a:solidFill>
              </a:rPr>
              <a:t> </a:t>
            </a:r>
            <a:r>
              <a:rPr lang="en-AU" sz="2000">
                <a:solidFill>
                  <a:srgbClr val="0C0C0C"/>
                </a:solidFill>
              </a:rPr>
              <a:t>and classifier structure.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2000" b="1">
                <a:solidFill>
                  <a:srgbClr val="0000FF"/>
                </a:solidFill>
              </a:rPr>
              <a:t>Easy to Understand</a:t>
            </a:r>
            <a:r>
              <a:rPr lang="en-AU" sz="2000">
                <a:solidFill>
                  <a:srgbClr val="0C0C0C"/>
                </a:solidFill>
              </a:rPr>
              <a:t>: It does not require any statistical knowledge to read and interpret.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2000">
                <a:solidFill>
                  <a:srgbClr val="0C0C0C"/>
                </a:solidFill>
              </a:rPr>
              <a:t>Its </a:t>
            </a:r>
            <a:r>
              <a:rPr lang="en-AU" sz="2000" b="1">
                <a:solidFill>
                  <a:srgbClr val="0000FF"/>
                </a:solidFill>
              </a:rPr>
              <a:t>graphical representation is very intuitive</a:t>
            </a:r>
            <a:r>
              <a:rPr lang="en-AU" sz="2000">
                <a:solidFill>
                  <a:srgbClr val="0C0C0C"/>
                </a:solidFill>
              </a:rPr>
              <a:t>, and users can easily relate their hypothesis.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2000" b="1">
                <a:solidFill>
                  <a:srgbClr val="0000FF"/>
                </a:solidFill>
              </a:rPr>
              <a:t>Useful in Data Exploration</a:t>
            </a:r>
            <a:r>
              <a:rPr lang="en-AU" sz="2000">
                <a:solidFill>
                  <a:srgbClr val="0C0C0C"/>
                </a:solidFill>
              </a:rPr>
              <a:t>: Good way to identify the most significant variables and their relations;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2000">
                <a:solidFill>
                  <a:srgbClr val="0C0C0C"/>
                </a:solidFill>
              </a:rPr>
              <a:t>Can help to identify the most </a:t>
            </a:r>
            <a:r>
              <a:rPr lang="en-AU" sz="2000" b="1">
                <a:solidFill>
                  <a:srgbClr val="0000FF"/>
                </a:solidFill>
              </a:rPr>
              <a:t>significant variable</a:t>
            </a:r>
            <a:r>
              <a:rPr lang="en-AU" sz="2000" b="1">
                <a:solidFill>
                  <a:srgbClr val="1DBBDD"/>
                </a:solidFill>
              </a:rPr>
              <a:t> </a:t>
            </a:r>
            <a:r>
              <a:rPr lang="en-AU" sz="2000">
                <a:solidFill>
                  <a:srgbClr val="0C0C0C"/>
                </a:solidFill>
              </a:rPr>
              <a:t>when working with hundreds of them.</a:t>
            </a:r>
            <a:endParaRPr>
              <a:solidFill>
                <a:srgbClr val="0C0C0C"/>
              </a:solidFill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0C0C0C"/>
              </a:solidFill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0C0C0C"/>
              </a:solidFill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0C0C0C"/>
              </a:solidFill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0C0C0C"/>
              </a:solidFill>
            </a:endParaRPr>
          </a:p>
          <a:p>
            <a: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0C0C0C"/>
              </a:solidFill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AU"/>
              <a:t>	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0C0C0C"/>
              </a:solidFill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000">
              <a:solidFill>
                <a:srgbClr val="0C0C0C"/>
              </a:solidFill>
            </a:endParaRPr>
          </a:p>
          <a:p>
            <a: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endParaRPr sz="1800">
              <a:solidFill>
                <a:srgbClr val="0C0C0C"/>
              </a:solidFill>
            </a:endParaRPr>
          </a:p>
          <a:p>
            <a: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4"/>
          <p:cNvSpPr txBox="1">
            <a:spLocks noGrp="1"/>
          </p:cNvSpPr>
          <p:nvPr>
            <p:ph type="title"/>
          </p:nvPr>
        </p:nvSpPr>
        <p:spPr>
          <a:xfrm>
            <a:off x="933734" y="35565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AU" b="1"/>
              <a:t>Disadvantages of Decision Trees</a:t>
            </a:r>
            <a:endParaRPr b="1"/>
          </a:p>
        </p:txBody>
      </p:sp>
      <p:sp>
        <p:nvSpPr>
          <p:cNvPr id="489" name="Google Shape;489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2000" b="1">
                <a:solidFill>
                  <a:srgbClr val="0000FF"/>
                </a:solidFill>
              </a:rPr>
              <a:t>Overfitting</a:t>
            </a:r>
            <a:r>
              <a:rPr lang="en-AU" sz="2000">
                <a:solidFill>
                  <a:srgbClr val="0C0C0C"/>
                </a:solidFill>
              </a:rPr>
              <a:t>: One of the most practical difficulty for decision tree models.Decision-tree can create </a:t>
            </a:r>
            <a:r>
              <a:rPr lang="en-AU" sz="2000" b="1">
                <a:solidFill>
                  <a:srgbClr val="0000FF"/>
                </a:solidFill>
              </a:rPr>
              <a:t>over-complex</a:t>
            </a:r>
            <a:r>
              <a:rPr lang="en-AU" sz="2000">
                <a:solidFill>
                  <a:srgbClr val="0C0C0C"/>
                </a:solidFill>
              </a:rPr>
              <a:t> trees that do not generalise the data well.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2000">
                <a:solidFill>
                  <a:srgbClr val="0C0C0C"/>
                </a:solidFill>
              </a:rPr>
              <a:t>Decision trees can be </a:t>
            </a:r>
            <a:r>
              <a:rPr lang="en-AU" sz="2000" b="1">
                <a:solidFill>
                  <a:srgbClr val="0000FF"/>
                </a:solidFill>
              </a:rPr>
              <a:t>unstable</a:t>
            </a:r>
            <a:r>
              <a:rPr lang="en-AU" sz="2000">
                <a:solidFill>
                  <a:srgbClr val="0000FF"/>
                </a:solidFill>
              </a:rPr>
              <a:t> </a:t>
            </a:r>
            <a:r>
              <a:rPr lang="en-AU" sz="2000">
                <a:solidFill>
                  <a:srgbClr val="0C0C0C"/>
                </a:solidFill>
              </a:rPr>
              <a:t>because small variations in the data might result in a completely different tree being generated.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2000">
                <a:solidFill>
                  <a:srgbClr val="0C0C0C"/>
                </a:solidFill>
              </a:rPr>
              <a:t>There are concepts that </a:t>
            </a:r>
            <a:r>
              <a:rPr lang="en-AU" sz="2000" b="1">
                <a:solidFill>
                  <a:srgbClr val="0000FF"/>
                </a:solidFill>
              </a:rPr>
              <a:t>are hard to learn</a:t>
            </a:r>
            <a:r>
              <a:rPr lang="en-AU" sz="2000" b="1">
                <a:solidFill>
                  <a:srgbClr val="1DBBDD"/>
                </a:solidFill>
              </a:rPr>
              <a:t> </a:t>
            </a:r>
            <a:r>
              <a:rPr lang="en-AU" sz="2000">
                <a:solidFill>
                  <a:srgbClr val="0C0C0C"/>
                </a:solidFill>
              </a:rPr>
              <a:t>because decision trees do not express them easily, such as XOR concept.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2000">
                <a:solidFill>
                  <a:srgbClr val="0C0C0C"/>
                </a:solidFill>
              </a:rPr>
              <a:t>Decision tree learners create </a:t>
            </a:r>
            <a:r>
              <a:rPr lang="en-AU" sz="2000" b="1">
                <a:solidFill>
                  <a:srgbClr val="0000FF"/>
                </a:solidFill>
              </a:rPr>
              <a:t>biased trees</a:t>
            </a:r>
            <a:r>
              <a:rPr lang="en-AU" sz="2000" b="1">
                <a:solidFill>
                  <a:srgbClr val="1DBBDD"/>
                </a:solidFill>
              </a:rPr>
              <a:t> </a:t>
            </a:r>
            <a:r>
              <a:rPr lang="en-AU" sz="2000">
                <a:solidFill>
                  <a:srgbClr val="0C0C0C"/>
                </a:solidFill>
              </a:rPr>
              <a:t>if some classes dominate. It is therefore recommended to </a:t>
            </a:r>
            <a:r>
              <a:rPr lang="en-AU" sz="2000" b="1">
                <a:solidFill>
                  <a:srgbClr val="0000FF"/>
                </a:solidFill>
              </a:rPr>
              <a:t>balance</a:t>
            </a:r>
            <a:r>
              <a:rPr lang="en-AU" sz="2000">
                <a:solidFill>
                  <a:srgbClr val="0C0C0C"/>
                </a:solidFill>
              </a:rPr>
              <a:t> the dataset prior to fitting with the decision tree.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200"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5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AU" b="1"/>
              <a:t>Decision Tree Algorithms (most common)</a:t>
            </a:r>
            <a:endParaRPr/>
          </a:p>
        </p:txBody>
      </p:sp>
      <p:sp>
        <p:nvSpPr>
          <p:cNvPr id="495" name="Google Shape;495;p15"/>
          <p:cNvSpPr txBox="1">
            <a:spLocks noGrp="1"/>
          </p:cNvSpPr>
          <p:nvPr>
            <p:ph type="body" idx="1"/>
          </p:nvPr>
        </p:nvSpPr>
        <p:spPr>
          <a:xfrm>
            <a:off x="1267261" y="1523999"/>
            <a:ext cx="10485998" cy="4351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AU" sz="2000">
                <a:solidFill>
                  <a:srgbClr val="0C0C0C"/>
                </a:solidFill>
              </a:rPr>
              <a:t>CART (Classification And Regression Tree)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AU" sz="2000" b="1">
                <a:solidFill>
                  <a:srgbClr val="0000FF"/>
                </a:solidFill>
              </a:rPr>
              <a:t>ID3</a:t>
            </a:r>
            <a:r>
              <a:rPr lang="en-AU" sz="2000">
                <a:solidFill>
                  <a:srgbClr val="0000FF"/>
                </a:solidFill>
              </a:rPr>
              <a:t> </a:t>
            </a:r>
            <a:r>
              <a:rPr lang="en-AU" sz="2000">
                <a:solidFill>
                  <a:srgbClr val="0C0C0C"/>
                </a:solidFill>
              </a:rPr>
              <a:t>(Iterative Dichotomiser 3)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AU" sz="2000" b="1">
                <a:solidFill>
                  <a:srgbClr val="0000FF"/>
                </a:solidFill>
              </a:rPr>
              <a:t>C4.5</a:t>
            </a:r>
            <a:r>
              <a:rPr lang="en-AU" sz="2000">
                <a:solidFill>
                  <a:srgbClr val="0C0C0C"/>
                </a:solidFill>
              </a:rPr>
              <a:t> (Successor of ID3)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AU" sz="2000">
                <a:solidFill>
                  <a:srgbClr val="0C0C0C"/>
                </a:solidFill>
              </a:rPr>
              <a:t>CHAID (CHi-squared Automatic Interaction Detector): Multi-level splits are performs for classification trees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AU" sz="2000">
                <a:solidFill>
                  <a:srgbClr val="0C0C0C"/>
                </a:solidFill>
              </a:rPr>
              <a:t>Conditional Inference Trees: This method results in unbiased feature selection and does not require pruning, being based on a statistical approach using non-parametric tests to split and to avoid overfitting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AU" sz="2000">
                <a:solidFill>
                  <a:srgbClr val="0C0C0C"/>
                </a:solidFill>
              </a:rPr>
              <a:t>MARS: Multivariate Adaptive Regression Splines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6"/>
          <p:cNvSpPr txBox="1">
            <a:spLocks noGrp="1"/>
          </p:cNvSpPr>
          <p:nvPr>
            <p:ph type="title"/>
          </p:nvPr>
        </p:nvSpPr>
        <p:spPr>
          <a:xfrm>
            <a:off x="933734" y="35565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AU" b="1"/>
              <a:t>Splitting strategies</a:t>
            </a:r>
            <a:endParaRPr b="1"/>
          </a:p>
        </p:txBody>
      </p:sp>
      <p:sp>
        <p:nvSpPr>
          <p:cNvPr id="502" name="Google Shape;502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1850">
                <a:solidFill>
                  <a:srgbClr val="0C0C0C"/>
                </a:solidFill>
              </a:rPr>
              <a:t>The decision of how to </a:t>
            </a:r>
            <a:r>
              <a:rPr lang="en-AU" sz="1850" b="1">
                <a:solidFill>
                  <a:srgbClr val="0000FF"/>
                </a:solidFill>
              </a:rPr>
              <a:t>split nodes</a:t>
            </a:r>
            <a:r>
              <a:rPr lang="en-AU" sz="1850" b="1">
                <a:solidFill>
                  <a:srgbClr val="1DBBDD"/>
                </a:solidFill>
              </a:rPr>
              <a:t> </a:t>
            </a:r>
            <a:r>
              <a:rPr lang="en-AU" sz="1850">
                <a:solidFill>
                  <a:srgbClr val="0C0C0C"/>
                </a:solidFill>
              </a:rPr>
              <a:t>affects a tree’s accuracy heavily</a:t>
            </a:r>
            <a:endParaRPr/>
          </a:p>
          <a:p>
            <a:pPr marL="457200" lvl="0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1850">
                <a:solidFill>
                  <a:srgbClr val="0C0C0C"/>
                </a:solidFill>
              </a:rPr>
              <a:t>Decision Trees use different </a:t>
            </a:r>
            <a:r>
              <a:rPr lang="en-AU" sz="1850" b="1">
                <a:solidFill>
                  <a:srgbClr val="0000FF"/>
                </a:solidFill>
              </a:rPr>
              <a:t>algorithms</a:t>
            </a:r>
            <a:r>
              <a:rPr lang="en-AU" sz="1850">
                <a:solidFill>
                  <a:srgbClr val="0C0C0C"/>
                </a:solidFill>
              </a:rPr>
              <a:t> to decide to split a node into two or more sub-nodes</a:t>
            </a:r>
            <a:endParaRPr/>
          </a:p>
          <a:p>
            <a:pPr marL="457200" lvl="0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1850">
                <a:solidFill>
                  <a:srgbClr val="0C0C0C"/>
                </a:solidFill>
              </a:rPr>
              <a:t>The sub-nodes are required to be </a:t>
            </a:r>
            <a:r>
              <a:rPr lang="en-AU" sz="1850" b="1">
                <a:solidFill>
                  <a:srgbClr val="0000FF"/>
                </a:solidFill>
              </a:rPr>
              <a:t>more homogeneous</a:t>
            </a:r>
            <a:r>
              <a:rPr lang="en-AU" sz="1850">
                <a:solidFill>
                  <a:srgbClr val="0C0C0C"/>
                </a:solidFill>
              </a:rPr>
              <a:t>. i.e. The purity of the node increases in relation to the </a:t>
            </a:r>
            <a:r>
              <a:rPr lang="en-AU" sz="1850" b="1">
                <a:solidFill>
                  <a:srgbClr val="0000FF"/>
                </a:solidFill>
              </a:rPr>
              <a:t>target variable</a:t>
            </a:r>
            <a:endParaRPr>
              <a:solidFill>
                <a:srgbClr val="0000FF"/>
              </a:solidFill>
            </a:endParaRPr>
          </a:p>
          <a:p>
            <a:pPr marL="457200" lvl="0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1850">
                <a:solidFill>
                  <a:srgbClr val="0C0C0C"/>
                </a:solidFill>
              </a:rPr>
              <a:t>Decision trees pick the split that results in the </a:t>
            </a:r>
            <a:r>
              <a:rPr lang="en-AU" sz="1850" b="1">
                <a:solidFill>
                  <a:srgbClr val="0000FF"/>
                </a:solidFill>
              </a:rPr>
              <a:t>most homogeneous</a:t>
            </a:r>
            <a:r>
              <a:rPr lang="en-AU" sz="1850" b="1">
                <a:solidFill>
                  <a:srgbClr val="1DBBDD"/>
                </a:solidFill>
              </a:rPr>
              <a:t> </a:t>
            </a:r>
            <a:r>
              <a:rPr lang="en-AU" sz="1850">
                <a:solidFill>
                  <a:srgbClr val="0C0C0C"/>
                </a:solidFill>
              </a:rPr>
              <a:t>sub-nodes after calculating splits on </a:t>
            </a:r>
            <a:r>
              <a:rPr lang="en-AU" sz="1850" b="1">
                <a:solidFill>
                  <a:srgbClr val="0000FF"/>
                </a:solidFill>
              </a:rPr>
              <a:t>all available variables</a:t>
            </a:r>
            <a:r>
              <a:rPr lang="en-AU" sz="1850">
                <a:solidFill>
                  <a:srgbClr val="0C0C0C"/>
                </a:solidFill>
              </a:rPr>
              <a:t>.</a:t>
            </a:r>
            <a:endParaRPr/>
          </a:p>
          <a:p>
            <a:pPr marL="457200" lvl="0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1850">
                <a:solidFill>
                  <a:srgbClr val="0C0C0C"/>
                </a:solidFill>
              </a:rPr>
              <a:t>Common splitting strategies</a:t>
            </a:r>
            <a:endParaRPr/>
          </a:p>
          <a:p>
            <a:pPr marL="914400" lvl="1" indent="-3429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1850" b="1">
                <a:solidFill>
                  <a:srgbClr val="0000FF"/>
                </a:solidFill>
              </a:rPr>
              <a:t>GINI</a:t>
            </a:r>
            <a:endParaRPr>
              <a:solidFill>
                <a:srgbClr val="0000FF"/>
              </a:solidFill>
            </a:endParaRPr>
          </a:p>
          <a:p>
            <a:pPr marL="1371600" lvl="2" indent="-3429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AU" sz="1850">
                <a:solidFill>
                  <a:srgbClr val="0C0C0C"/>
                </a:solidFill>
              </a:rPr>
              <a:t>The Gini index indicates the </a:t>
            </a:r>
            <a:r>
              <a:rPr lang="en-AU" sz="1850" b="1">
                <a:solidFill>
                  <a:srgbClr val="0000FF"/>
                </a:solidFill>
              </a:rPr>
              <a:t>degree of heterogeneity</a:t>
            </a:r>
            <a:r>
              <a:rPr lang="en-AU" sz="1850">
                <a:solidFill>
                  <a:srgbClr val="0C0C0C"/>
                </a:solidFill>
              </a:rPr>
              <a:t>. The higher the value of Gini, the higher the heterogeneity. (i.e. Gini = 0 means fully homogeneous)</a:t>
            </a:r>
            <a:endParaRPr/>
          </a:p>
          <a:p>
            <a:pPr marL="914400" lvl="1" indent="-3429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1850" b="1">
                <a:solidFill>
                  <a:srgbClr val="0000FF"/>
                </a:solidFill>
              </a:rPr>
              <a:t>Information gain</a:t>
            </a:r>
            <a:endParaRPr>
              <a:solidFill>
                <a:srgbClr val="0000FF"/>
              </a:solidFill>
            </a:endParaRPr>
          </a:p>
          <a:p>
            <a:pPr marL="1371600" lvl="2" indent="-3429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AU" sz="1850">
                <a:solidFill>
                  <a:srgbClr val="0C0C0C"/>
                </a:solidFill>
              </a:rPr>
              <a:t>It chooses the split which has the lowest </a:t>
            </a:r>
            <a:r>
              <a:rPr lang="en-AU" sz="1850" b="1">
                <a:solidFill>
                  <a:srgbClr val="0000FF"/>
                </a:solidFill>
              </a:rPr>
              <a:t>entropy</a:t>
            </a:r>
            <a:r>
              <a:rPr lang="en-AU" sz="1850">
                <a:solidFill>
                  <a:srgbClr val="0000FF"/>
                </a:solidFill>
              </a:rPr>
              <a:t> </a:t>
            </a:r>
            <a:r>
              <a:rPr lang="en-AU" sz="1850">
                <a:solidFill>
                  <a:srgbClr val="0C0C0C"/>
                </a:solidFill>
              </a:rPr>
              <a:t>(degree of disorder) compared to the parent node and other splits</a:t>
            </a:r>
            <a:endParaRPr/>
          </a:p>
          <a:p>
            <a:pPr marL="1371600" lvl="2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endParaRPr sz="1850">
              <a:solidFill>
                <a:srgbClr val="0C0C0C"/>
              </a:solidFill>
            </a:endParaRPr>
          </a:p>
          <a:p>
            <a:pPr marL="4572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22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7"/>
          <p:cNvSpPr txBox="1">
            <a:spLocks noGrp="1"/>
          </p:cNvSpPr>
          <p:nvPr>
            <p:ph type="title"/>
          </p:nvPr>
        </p:nvSpPr>
        <p:spPr>
          <a:xfrm>
            <a:off x="933734" y="35565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AU" b="1"/>
              <a:t>Using decision trees in Scikit Learn</a:t>
            </a:r>
            <a:endParaRPr b="1"/>
          </a:p>
        </p:txBody>
      </p:sp>
      <p:sp>
        <p:nvSpPr>
          <p:cNvPr id="509" name="Google Shape;50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2035">
                <a:solidFill>
                  <a:srgbClr val="0C0C0C"/>
                </a:solidFill>
              </a:rPr>
              <a:t>Scitkit Learn </a:t>
            </a:r>
            <a:r>
              <a:rPr lang="en-AU" sz="2035" b="1">
                <a:solidFill>
                  <a:srgbClr val="0000FF"/>
                </a:solidFill>
              </a:rPr>
              <a:t>DecisionTreeClassifier</a:t>
            </a:r>
            <a:r>
              <a:rPr lang="en-AU" sz="2035" b="1">
                <a:solidFill>
                  <a:srgbClr val="1DBBDD"/>
                </a:solidFill>
              </a:rPr>
              <a:t> </a:t>
            </a:r>
            <a:r>
              <a:rPr lang="en-AU" sz="2035">
                <a:solidFill>
                  <a:srgbClr val="0C0C0C"/>
                </a:solidFill>
              </a:rPr>
              <a:t>is a class capable of performing multi-class classification on a dataset.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2035">
                <a:solidFill>
                  <a:srgbClr val="0C0C0C"/>
                </a:solidFill>
              </a:rPr>
              <a:t>Decision tree class works </a:t>
            </a:r>
            <a:r>
              <a:rPr lang="en-AU" sz="2035" b="1">
                <a:solidFill>
                  <a:srgbClr val="0000FF"/>
                </a:solidFill>
              </a:rPr>
              <a:t>the same as other classifiers</a:t>
            </a:r>
            <a:r>
              <a:rPr lang="en-AU" sz="2035" b="1">
                <a:solidFill>
                  <a:srgbClr val="1DBBDD"/>
                </a:solidFill>
              </a:rPr>
              <a:t> </a:t>
            </a:r>
            <a:r>
              <a:rPr lang="en-AU" sz="2035">
                <a:solidFill>
                  <a:srgbClr val="0C0C0C"/>
                </a:solidFill>
              </a:rPr>
              <a:t>by taking a set of features and target variable.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2035">
                <a:solidFill>
                  <a:srgbClr val="0C0C0C"/>
                </a:solidFill>
              </a:rPr>
              <a:t>It does not require complex data preparation as it can deal with </a:t>
            </a:r>
            <a:r>
              <a:rPr lang="en-AU" sz="2035" b="1">
                <a:solidFill>
                  <a:srgbClr val="0000FF"/>
                </a:solidFill>
              </a:rPr>
              <a:t>categorical variables</a:t>
            </a:r>
            <a:r>
              <a:rPr lang="en-AU" sz="2035">
                <a:solidFill>
                  <a:srgbClr val="0C0C0C"/>
                </a:solidFill>
              </a:rPr>
              <a:t>, </a:t>
            </a:r>
            <a:r>
              <a:rPr lang="en-AU" sz="2035" b="1">
                <a:solidFill>
                  <a:srgbClr val="0000FF"/>
                </a:solidFill>
              </a:rPr>
              <a:t>missing data</a:t>
            </a:r>
            <a:r>
              <a:rPr lang="en-AU" sz="2035">
                <a:solidFill>
                  <a:srgbClr val="0C0C0C"/>
                </a:solidFill>
              </a:rPr>
              <a:t> and </a:t>
            </a:r>
            <a:r>
              <a:rPr lang="en-AU" sz="2035" b="1">
                <a:solidFill>
                  <a:srgbClr val="0000FF"/>
                </a:solidFill>
              </a:rPr>
              <a:t>outliers</a:t>
            </a:r>
            <a:r>
              <a:rPr lang="en-AU" sz="2035">
                <a:solidFill>
                  <a:srgbClr val="0C0C0C"/>
                </a:solidFill>
              </a:rPr>
              <a:t>. However, cleaning the data does not hurt and will help in improving results. Especially if you are going to use decision trees side by side with other models.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2035">
                <a:solidFill>
                  <a:srgbClr val="0C0C0C"/>
                </a:solidFill>
              </a:rPr>
              <a:t>Once trained, you can </a:t>
            </a:r>
            <a:r>
              <a:rPr lang="en-AU" sz="2035" b="1">
                <a:solidFill>
                  <a:srgbClr val="0000FF"/>
                </a:solidFill>
              </a:rPr>
              <a:t>plot the tree</a:t>
            </a:r>
            <a:r>
              <a:rPr lang="en-AU" sz="2035" b="1">
                <a:solidFill>
                  <a:srgbClr val="1DBBDD"/>
                </a:solidFill>
              </a:rPr>
              <a:t> </a:t>
            </a:r>
            <a:r>
              <a:rPr lang="en-AU" sz="2035">
                <a:solidFill>
                  <a:srgbClr val="0C0C0C"/>
                </a:solidFill>
              </a:rPr>
              <a:t>with the plot_tree function.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2035">
                <a:solidFill>
                  <a:srgbClr val="0C0C0C"/>
                </a:solidFill>
              </a:rPr>
              <a:t>Note that the default values for the parameters controlling the size of the trees (e.g. max_depth, min_samples_leaf, etc.) lead to </a:t>
            </a:r>
            <a:r>
              <a:rPr lang="en-AU" sz="2035" b="1">
                <a:solidFill>
                  <a:srgbClr val="0000FF"/>
                </a:solidFill>
              </a:rPr>
              <a:t>fully grown and unpruned trees</a:t>
            </a:r>
            <a:r>
              <a:rPr lang="en-AU" sz="2035" b="1">
                <a:solidFill>
                  <a:srgbClr val="1DBBDD"/>
                </a:solidFill>
              </a:rPr>
              <a:t> </a:t>
            </a:r>
            <a:r>
              <a:rPr lang="en-AU" sz="2035">
                <a:solidFill>
                  <a:srgbClr val="0C0C0C"/>
                </a:solidFill>
              </a:rPr>
              <a:t>which can potentially be very large on some data sets. To reduce memory consumption, the complexity and size of the trees should be controlled by setting those hyperparameter values.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50">
              <a:solidFill>
                <a:srgbClr val="0C0C0C"/>
              </a:solidFill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22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8"/>
          <p:cNvSpPr txBox="1">
            <a:spLocks noGrp="1"/>
          </p:cNvSpPr>
          <p:nvPr>
            <p:ph type="title"/>
          </p:nvPr>
        </p:nvSpPr>
        <p:spPr>
          <a:xfrm>
            <a:off x="933734" y="35565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AU" b="1"/>
              <a:t>Decision Trees hyperparameters</a:t>
            </a:r>
            <a:endParaRPr b="1"/>
          </a:p>
        </p:txBody>
      </p:sp>
      <p:sp>
        <p:nvSpPr>
          <p:cNvPr id="516" name="Google Shape;51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1850" b="1">
                <a:solidFill>
                  <a:srgbClr val="0000FF"/>
                </a:solidFill>
              </a:rPr>
              <a:t>criterion</a:t>
            </a:r>
            <a:r>
              <a:rPr lang="en-AU" sz="1850">
                <a:solidFill>
                  <a:srgbClr val="0000FF"/>
                </a:solidFill>
              </a:rPr>
              <a:t> </a:t>
            </a:r>
            <a:r>
              <a:rPr lang="en-AU" sz="1850">
                <a:solidFill>
                  <a:srgbClr val="0C0C0C"/>
                </a:solidFill>
              </a:rPr>
              <a:t>: string, optional (default=”gini”)</a:t>
            </a:r>
            <a:endParaRPr/>
          </a:p>
          <a:p>
            <a:pPr marL="914400" lvl="1" indent="-3429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AU" sz="1850">
                <a:solidFill>
                  <a:srgbClr val="0C0C0C"/>
                </a:solidFill>
              </a:rPr>
              <a:t>The function to measure the quality of a split. Supported criteria are “gini” for the Gini impurity and “entropy” for the information gain.</a:t>
            </a:r>
            <a:endParaRPr/>
          </a:p>
          <a:p>
            <a:pPr marL="457200" lvl="0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1850" b="1">
                <a:solidFill>
                  <a:srgbClr val="0000FF"/>
                </a:solidFill>
              </a:rPr>
              <a:t>max_depth</a:t>
            </a:r>
            <a:r>
              <a:rPr lang="en-AU" sz="1850">
                <a:solidFill>
                  <a:srgbClr val="0C0C0C"/>
                </a:solidFill>
              </a:rPr>
              <a:t> : int or None, optional (default=None)</a:t>
            </a:r>
            <a:endParaRPr/>
          </a:p>
          <a:p>
            <a:pPr marL="914400" lvl="1" indent="-3429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AU" sz="1850">
                <a:solidFill>
                  <a:srgbClr val="0C0C0C"/>
                </a:solidFill>
              </a:rPr>
              <a:t>The maximum depth of the tree. If None, then nodes are expanded until all leaves are pure or until all leaves contain less than min_samples_split samples.</a:t>
            </a:r>
            <a:endParaRPr/>
          </a:p>
          <a:p>
            <a:pPr marL="457200" lvl="0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1850" b="1">
                <a:solidFill>
                  <a:srgbClr val="0000FF"/>
                </a:solidFill>
              </a:rPr>
              <a:t>min_samples_split</a:t>
            </a:r>
            <a:r>
              <a:rPr lang="en-AU" sz="1850">
                <a:solidFill>
                  <a:srgbClr val="0C0C0C"/>
                </a:solidFill>
              </a:rPr>
              <a:t> : int, float, optional (default=2)</a:t>
            </a:r>
            <a:endParaRPr/>
          </a:p>
          <a:p>
            <a:pPr marL="914400" lvl="1" indent="-3429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AU" sz="1850">
                <a:solidFill>
                  <a:srgbClr val="0C0C0C"/>
                </a:solidFill>
              </a:rPr>
              <a:t>The minimum number of samples required to split an internal node</a:t>
            </a:r>
            <a:endParaRPr/>
          </a:p>
          <a:p>
            <a:pPr marL="457200" lvl="0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1850" b="1">
                <a:solidFill>
                  <a:srgbClr val="0000FF"/>
                </a:solidFill>
              </a:rPr>
              <a:t>max_leaf_nodes</a:t>
            </a:r>
            <a:r>
              <a:rPr lang="en-AU" sz="1850">
                <a:solidFill>
                  <a:srgbClr val="0C0C0C"/>
                </a:solidFill>
              </a:rPr>
              <a:t> : int or None, optional (default=None)</a:t>
            </a:r>
            <a:endParaRPr/>
          </a:p>
          <a:p>
            <a:pPr marL="914400" lvl="1" indent="-3429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AU" sz="1850">
                <a:solidFill>
                  <a:srgbClr val="0C0C0C"/>
                </a:solidFill>
              </a:rPr>
              <a:t>Grow a tree with max_leaf_nodes in best-first fashion. Best nodes are defined as relative reduction in impurity. If None then unlimited number of leaf nodes.</a:t>
            </a:r>
            <a:endParaRPr/>
          </a:p>
          <a:p>
            <a:pPr marL="457200" lvl="0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1850" b="1">
                <a:solidFill>
                  <a:srgbClr val="0000FF"/>
                </a:solidFill>
              </a:rPr>
              <a:t>class_weight</a:t>
            </a:r>
            <a:r>
              <a:rPr lang="en-AU" sz="1850">
                <a:solidFill>
                  <a:srgbClr val="0000FF"/>
                </a:solidFill>
              </a:rPr>
              <a:t> </a:t>
            </a:r>
            <a:r>
              <a:rPr lang="en-AU" sz="1850">
                <a:solidFill>
                  <a:srgbClr val="0C0C0C"/>
                </a:solidFill>
              </a:rPr>
              <a:t>: dict, list of dicts, “balanced” or None, default=None</a:t>
            </a:r>
            <a:endParaRPr/>
          </a:p>
          <a:p>
            <a:pPr marL="914400" lvl="1" indent="-3429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AU" sz="1850">
                <a:solidFill>
                  <a:srgbClr val="0C0C0C"/>
                </a:solidFill>
              </a:rPr>
              <a:t>Weights associated with classes in the form {class_label: weight}. If not given, all classes are supposed to have weight one.</a:t>
            </a:r>
            <a:endParaRPr/>
          </a:p>
          <a:p>
            <a:pPr marL="4572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50">
              <a:solidFill>
                <a:srgbClr val="0C0C0C"/>
              </a:solidFill>
            </a:endParaRPr>
          </a:p>
          <a:p>
            <a:pPr marL="9144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endParaRPr sz="1850">
              <a:solidFill>
                <a:srgbClr val="0C0C0C"/>
              </a:solidFill>
            </a:endParaRPr>
          </a:p>
          <a:p>
            <a:pPr marL="4572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50">
              <a:solidFill>
                <a:srgbClr val="0C0C0C"/>
              </a:solidFill>
            </a:endParaRPr>
          </a:p>
          <a:p>
            <a:pPr marL="4572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50">
              <a:solidFill>
                <a:srgbClr val="0C0C0C"/>
              </a:solidFill>
            </a:endParaRPr>
          </a:p>
          <a:p>
            <a:pPr marL="4572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22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9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AU" b="1"/>
              <a:t>Decision trees - Summary</a:t>
            </a:r>
            <a:endParaRPr b="1"/>
          </a:p>
        </p:txBody>
      </p:sp>
      <p:sp>
        <p:nvSpPr>
          <p:cNvPr id="523" name="Google Shape;523;p19"/>
          <p:cNvSpPr txBox="1">
            <a:spLocks noGrp="1"/>
          </p:cNvSpPr>
          <p:nvPr>
            <p:ph type="body" idx="1"/>
          </p:nvPr>
        </p:nvSpPr>
        <p:spPr>
          <a:xfrm>
            <a:off x="1267261" y="1524000"/>
            <a:ext cx="10709835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 sz="2000"/>
              <a:t>Decision tree is one of the </a:t>
            </a:r>
            <a:r>
              <a:rPr lang="en-AU" sz="2000" b="1">
                <a:solidFill>
                  <a:srgbClr val="0000FF"/>
                </a:solidFill>
              </a:rPr>
              <a:t>most widely used </a:t>
            </a:r>
            <a:r>
              <a:rPr lang="en-AU" sz="2000"/>
              <a:t>and </a:t>
            </a:r>
            <a:r>
              <a:rPr lang="en-AU" sz="2000" b="1">
                <a:solidFill>
                  <a:srgbClr val="0000FF"/>
                </a:solidFill>
              </a:rPr>
              <a:t>practical</a:t>
            </a:r>
            <a:r>
              <a:rPr lang="en-AU" sz="2000">
                <a:solidFill>
                  <a:srgbClr val="0000FF"/>
                </a:solidFill>
              </a:rPr>
              <a:t> </a:t>
            </a:r>
            <a:r>
              <a:rPr lang="en-AU" sz="2000"/>
              <a:t>supervised learning algorithm.</a:t>
            </a:r>
            <a:endParaRPr/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 sz="2000"/>
              <a:t>Motivations for using decision trees include:		</a:t>
            </a:r>
            <a:endParaRPr/>
          </a:p>
          <a:p>
            <a:pPr marL="914400" lvl="1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 sz="2000" b="1">
                <a:solidFill>
                  <a:srgbClr val="0000FF"/>
                </a:solidFill>
              </a:rPr>
              <a:t>Less data cleaning required</a:t>
            </a:r>
            <a:endParaRPr>
              <a:solidFill>
                <a:srgbClr val="0000FF"/>
              </a:solidFill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 sz="2000" b="1">
                <a:solidFill>
                  <a:srgbClr val="0000FF"/>
                </a:solidFill>
              </a:rPr>
              <a:t>Easy to Understand and explain</a:t>
            </a:r>
            <a:endParaRPr sz="2000">
              <a:solidFill>
                <a:srgbClr val="0000FF"/>
              </a:solidFill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 sz="2000"/>
              <a:t>However, decisions trees tend to </a:t>
            </a:r>
            <a:r>
              <a:rPr lang="en-AU" sz="2000" b="1">
                <a:solidFill>
                  <a:srgbClr val="0000FF"/>
                </a:solidFill>
              </a:rPr>
              <a:t>overfit</a:t>
            </a:r>
            <a:r>
              <a:rPr lang="en-AU" sz="2000">
                <a:solidFill>
                  <a:srgbClr val="0000FF"/>
                </a:solidFill>
              </a:rPr>
              <a:t> </a:t>
            </a:r>
            <a:r>
              <a:rPr lang="en-AU" sz="2000"/>
              <a:t>training data without the appropriate hyperparameters tuning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0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AU" b="1"/>
              <a:t>Lab 7.1: Decision Trees</a:t>
            </a:r>
            <a:endParaRPr/>
          </a:p>
        </p:txBody>
      </p:sp>
      <p:sp>
        <p:nvSpPr>
          <p:cNvPr id="529" name="Google Shape;529;p20"/>
          <p:cNvSpPr txBox="1">
            <a:spLocks noGrp="1"/>
          </p:cNvSpPr>
          <p:nvPr>
            <p:ph type="body" idx="1"/>
          </p:nvPr>
        </p:nvSpPr>
        <p:spPr>
          <a:xfrm>
            <a:off x="1267261" y="1523223"/>
            <a:ext cx="10709700" cy="51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alibri"/>
              <a:buChar char="•"/>
            </a:pPr>
            <a:r>
              <a:rPr lang="en-AU">
                <a:solidFill>
                  <a:srgbClr val="000000"/>
                </a:solidFill>
              </a:rPr>
              <a:t>Purpose</a:t>
            </a:r>
            <a:endParaRPr/>
          </a:p>
          <a:p>
            <a:pPr marL="68580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alibri"/>
              <a:buChar char="•"/>
            </a:pPr>
            <a:r>
              <a:rPr lang="en-AU">
                <a:solidFill>
                  <a:srgbClr val="000000"/>
                </a:solidFill>
              </a:rPr>
              <a:t>Practice with Decision Tree Modelling</a:t>
            </a:r>
            <a:endParaRPr/>
          </a:p>
          <a:p>
            <a:pPr marL="68580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alibri"/>
              <a:buChar char="•"/>
            </a:pPr>
            <a:r>
              <a:rPr lang="en-AU">
                <a:solidFill>
                  <a:srgbClr val="000000"/>
                </a:solidFill>
              </a:rPr>
              <a:t>Practice coding in Python</a:t>
            </a:r>
            <a:br>
              <a:rPr lang="en-AU">
                <a:solidFill>
                  <a:srgbClr val="000000"/>
                </a:solidFill>
              </a:rPr>
            </a:b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alibri"/>
              <a:buChar char="•"/>
            </a:pPr>
            <a:r>
              <a:rPr lang="en-AU">
                <a:solidFill>
                  <a:srgbClr val="000000"/>
                </a:solidFill>
              </a:rPr>
              <a:t>Resources</a:t>
            </a:r>
            <a:endParaRPr/>
          </a:p>
          <a:p>
            <a:pPr marL="68580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alibri"/>
              <a:buChar char="•"/>
            </a:pPr>
            <a:r>
              <a:rPr lang="en-AU">
                <a:solidFill>
                  <a:srgbClr val="000000"/>
                </a:solidFill>
              </a:rPr>
              <a:t>Your skills and resourcefulness</a:t>
            </a:r>
            <a:br>
              <a:rPr lang="en-AU">
                <a:solidFill>
                  <a:srgbClr val="000000"/>
                </a:solidFill>
              </a:rPr>
            </a:b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alibri"/>
              <a:buChar char="•"/>
            </a:pPr>
            <a:r>
              <a:rPr lang="en-AU">
                <a:solidFill>
                  <a:srgbClr val="000000"/>
                </a:solidFill>
              </a:rPr>
              <a:t>Material</a:t>
            </a:r>
            <a:endParaRPr/>
          </a:p>
          <a:p>
            <a:pPr marL="68580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alibri"/>
              <a:buChar char="•"/>
            </a:pPr>
            <a:r>
              <a:rPr lang="en-AU">
                <a:solidFill>
                  <a:srgbClr val="000000"/>
                </a:solidFill>
              </a:rPr>
              <a:t>Jupyter Notebook (</a:t>
            </a:r>
            <a:r>
              <a:rPr lang="en-AU" sz="2000">
                <a:latin typeface="Arial"/>
                <a:ea typeface="Arial"/>
                <a:cs typeface="Arial"/>
                <a:sym typeface="Arial"/>
              </a:rPr>
              <a:t>Lab-7_1</a:t>
            </a:r>
            <a:r>
              <a:rPr lang="en-AU">
                <a:solidFill>
                  <a:srgbClr val="000000"/>
                </a:solidFill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1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50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AU" b="1"/>
              <a:t>Random Forests</a:t>
            </a:r>
            <a:endParaRPr/>
          </a:p>
        </p:txBody>
      </p:sp>
      <p:sp>
        <p:nvSpPr>
          <p:cNvPr id="535" name="Google Shape;535;p21"/>
          <p:cNvSpPr txBox="1">
            <a:spLocks noGrp="1"/>
          </p:cNvSpPr>
          <p:nvPr>
            <p:ph type="body" idx="1"/>
          </p:nvPr>
        </p:nvSpPr>
        <p:spPr>
          <a:xfrm>
            <a:off x="3142051" y="1745524"/>
            <a:ext cx="8440350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>
                <a:solidFill>
                  <a:srgbClr val="000000"/>
                </a:solidFill>
              </a:rPr>
              <a:t>Overview</a:t>
            </a:r>
            <a:endParaRPr>
              <a:solidFill>
                <a:srgbClr val="000000"/>
              </a:solidFill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>
                <a:solidFill>
                  <a:srgbClr val="000000"/>
                </a:solidFill>
              </a:rPr>
              <a:t>Algorithm</a:t>
            </a:r>
            <a:endParaRPr>
              <a:solidFill>
                <a:srgbClr val="000000"/>
              </a:solidFill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>
                <a:solidFill>
                  <a:srgbClr val="000000"/>
                </a:solidFill>
              </a:rPr>
              <a:t>Pros and Cons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2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AU" b="1"/>
              <a:t>Random Forest Overview</a:t>
            </a:r>
            <a:endParaRPr/>
          </a:p>
        </p:txBody>
      </p:sp>
      <p:sp>
        <p:nvSpPr>
          <p:cNvPr id="541" name="Google Shape;541;p22"/>
          <p:cNvSpPr txBox="1">
            <a:spLocks noGrp="1"/>
          </p:cNvSpPr>
          <p:nvPr>
            <p:ph type="body" idx="1"/>
          </p:nvPr>
        </p:nvSpPr>
        <p:spPr>
          <a:xfrm>
            <a:off x="1267261" y="1523223"/>
            <a:ext cx="10709700" cy="51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AU" sz="2000"/>
              <a:t>Random Forest is a learning approach that uses an </a:t>
            </a:r>
            <a:r>
              <a:rPr lang="en-AU" sz="2000" b="1">
                <a:solidFill>
                  <a:srgbClr val="0000FF"/>
                </a:solidFill>
              </a:rPr>
              <a:t>ensemble</a:t>
            </a:r>
            <a:r>
              <a:rPr lang="en-AU" sz="2000">
                <a:solidFill>
                  <a:srgbClr val="0000FF"/>
                </a:solidFill>
              </a:rPr>
              <a:t> </a:t>
            </a:r>
            <a:r>
              <a:rPr lang="en-AU" sz="2000"/>
              <a:t>method for regression and classification.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AU" sz="2000">
                <a:solidFill>
                  <a:srgbClr val="0C0C0C"/>
                </a:solidFill>
              </a:rPr>
              <a:t>It uses “</a:t>
            </a:r>
            <a:r>
              <a:rPr lang="en-AU" sz="2000" b="1">
                <a:solidFill>
                  <a:srgbClr val="0000FF"/>
                </a:solidFill>
              </a:rPr>
              <a:t>Bagging</a:t>
            </a:r>
            <a:r>
              <a:rPr lang="en-AU" sz="2000">
                <a:solidFill>
                  <a:srgbClr val="0C0C0C"/>
                </a:solidFill>
              </a:rPr>
              <a:t>” (aka bootstrapping) where a set of relatively weak learners are combined to create a stronger learner. These techniques sample the training dataset with </a:t>
            </a:r>
            <a:r>
              <a:rPr lang="en-AU" sz="2000" b="1">
                <a:solidFill>
                  <a:srgbClr val="0000FF"/>
                </a:solidFill>
              </a:rPr>
              <a:t>replacement</a:t>
            </a:r>
            <a:r>
              <a:rPr lang="en-AU" sz="2000">
                <a:solidFill>
                  <a:srgbClr val="0000FF"/>
                </a:solidFill>
              </a:rPr>
              <a:t> </a:t>
            </a:r>
            <a:r>
              <a:rPr lang="en-AU" sz="2000">
                <a:solidFill>
                  <a:srgbClr val="0C0C0C"/>
                </a:solidFill>
              </a:rPr>
              <a:t>and train a model of each subset then aggregate these models.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AU" sz="2000"/>
              <a:t>Constructs a</a:t>
            </a:r>
            <a:r>
              <a:rPr lang="en-AU" sz="2000">
                <a:solidFill>
                  <a:srgbClr val="0000FF"/>
                </a:solidFill>
              </a:rPr>
              <a:t> </a:t>
            </a:r>
            <a:r>
              <a:rPr lang="en-AU" sz="2000" b="1">
                <a:solidFill>
                  <a:srgbClr val="0000FF"/>
                </a:solidFill>
              </a:rPr>
              <a:t>large list of uncorrelated decision trees</a:t>
            </a:r>
            <a:r>
              <a:rPr lang="en-AU" sz="2000" b="1">
                <a:solidFill>
                  <a:srgbClr val="1DBBDD"/>
                </a:solidFill>
              </a:rPr>
              <a:t> </a:t>
            </a:r>
            <a:r>
              <a:rPr lang="en-AU" sz="2000"/>
              <a:t>at training time and chooses the </a:t>
            </a:r>
            <a:r>
              <a:rPr lang="en-AU" sz="2000" b="1">
                <a:solidFill>
                  <a:srgbClr val="0000FF"/>
                </a:solidFill>
              </a:rPr>
              <a:t>mean</a:t>
            </a:r>
            <a:r>
              <a:rPr lang="en-AU" sz="2000">
                <a:solidFill>
                  <a:srgbClr val="0000FF"/>
                </a:solidFill>
              </a:rPr>
              <a:t> </a:t>
            </a:r>
            <a:r>
              <a:rPr lang="en-AU" sz="2000"/>
              <a:t>prediction (regression) or the </a:t>
            </a:r>
            <a:r>
              <a:rPr lang="en-AU" sz="2000" b="1">
                <a:solidFill>
                  <a:srgbClr val="0000FF"/>
                </a:solidFill>
              </a:rPr>
              <a:t>mode</a:t>
            </a:r>
            <a:r>
              <a:rPr lang="en-AU" sz="2000">
                <a:solidFill>
                  <a:srgbClr val="0000FF"/>
                </a:solidFill>
              </a:rPr>
              <a:t> </a:t>
            </a:r>
            <a:r>
              <a:rPr lang="en-AU" sz="2000"/>
              <a:t>label of the classes (classification) of the individual trees.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AU" sz="2000"/>
              <a:t>Random decision forests address the tendency of decision trees to </a:t>
            </a:r>
            <a:r>
              <a:rPr lang="en-AU" sz="2000" b="1">
                <a:solidFill>
                  <a:srgbClr val="0000FF"/>
                </a:solidFill>
              </a:rPr>
              <a:t>overfit</a:t>
            </a:r>
            <a:r>
              <a:rPr lang="en-AU" sz="2000">
                <a:solidFill>
                  <a:srgbClr val="0000FF"/>
                </a:solidFill>
              </a:rPr>
              <a:t> </a:t>
            </a:r>
            <a:r>
              <a:rPr lang="en-AU" sz="2000"/>
              <a:t>on the training data.</a:t>
            </a:r>
            <a:endParaRPr/>
          </a:p>
          <a:p>
            <a:pPr marL="228600" lvl="0" indent="-1016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404040"/>
              </a:buClr>
              <a:buSzPts val="2000"/>
              <a:buNone/>
            </a:pPr>
            <a:endParaRPr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3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AU" b="1"/>
              <a:t>Random Forest Algorithm</a:t>
            </a:r>
            <a:endParaRPr/>
          </a:p>
        </p:txBody>
      </p:sp>
      <p:sp>
        <p:nvSpPr>
          <p:cNvPr id="547" name="Google Shape;547;p23"/>
          <p:cNvSpPr txBox="1">
            <a:spLocks noGrp="1"/>
          </p:cNvSpPr>
          <p:nvPr>
            <p:ph type="body" idx="1"/>
          </p:nvPr>
        </p:nvSpPr>
        <p:spPr>
          <a:xfrm>
            <a:off x="1267261" y="1523223"/>
            <a:ext cx="10709700" cy="51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AU" sz="2000"/>
              <a:t>Let </a:t>
            </a:r>
            <a:r>
              <a:rPr lang="en-AU" sz="2000" b="1" i="1">
                <a:solidFill>
                  <a:srgbClr val="0000FF"/>
                </a:solidFill>
              </a:rPr>
              <a:t>N</a:t>
            </a:r>
            <a:r>
              <a:rPr lang="en-AU" sz="2000">
                <a:solidFill>
                  <a:srgbClr val="0000FF"/>
                </a:solidFill>
              </a:rPr>
              <a:t> </a:t>
            </a:r>
            <a:r>
              <a:rPr lang="en-AU" sz="2000"/>
              <a:t>be the number of cases in the training set</a:t>
            </a:r>
            <a:endParaRPr/>
          </a:p>
          <a:p>
            <a:pPr marL="701801" lvl="1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Calibri"/>
              <a:buChar char="•"/>
            </a:pPr>
            <a:r>
              <a:rPr lang="en-AU" sz="2000"/>
              <a:t>A random sample of </a:t>
            </a:r>
            <a:r>
              <a:rPr lang="en-AU" sz="2000" b="1" i="1">
                <a:solidFill>
                  <a:srgbClr val="0000FF"/>
                </a:solidFill>
              </a:rPr>
              <a:t>N</a:t>
            </a:r>
            <a:r>
              <a:rPr lang="en-AU" sz="2000">
                <a:solidFill>
                  <a:srgbClr val="0000FF"/>
                </a:solidFill>
              </a:rPr>
              <a:t> </a:t>
            </a:r>
            <a:r>
              <a:rPr lang="en-AU" sz="2000"/>
              <a:t>with replacement is the training set for growing the tree</a:t>
            </a:r>
            <a:br>
              <a:rPr lang="en-AU" sz="2000"/>
            </a:br>
            <a:endParaRPr sz="2000"/>
          </a:p>
          <a:p>
            <a:pPr marL="3429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AU" sz="2000"/>
              <a:t>Let </a:t>
            </a:r>
            <a:r>
              <a:rPr lang="en-AU" sz="2000" b="1" i="1">
                <a:solidFill>
                  <a:srgbClr val="0000FF"/>
                </a:solidFill>
              </a:rPr>
              <a:t>M</a:t>
            </a:r>
            <a:r>
              <a:rPr lang="en-AU" sz="2000"/>
              <a:t> be the number of input variables</a:t>
            </a:r>
            <a:endParaRPr/>
          </a:p>
          <a:p>
            <a:pPr marL="7239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Char char="•"/>
            </a:pPr>
            <a:r>
              <a:rPr lang="en-AU" sz="2000"/>
              <a:t>Specify a number </a:t>
            </a:r>
            <a:r>
              <a:rPr lang="en-AU" sz="2000" b="1" i="1">
                <a:solidFill>
                  <a:srgbClr val="0000FF"/>
                </a:solidFill>
              </a:rPr>
              <a:t>m &lt; M</a:t>
            </a:r>
            <a:r>
              <a:rPr lang="en-AU" sz="2000">
                <a:solidFill>
                  <a:srgbClr val="57B7D9"/>
                </a:solidFill>
              </a:rPr>
              <a:t> </a:t>
            </a:r>
            <a:r>
              <a:rPr lang="en-AU" sz="2000"/>
              <a:t>such that at each node, </a:t>
            </a:r>
            <a:r>
              <a:rPr lang="en-AU" sz="2000" b="1" i="1">
                <a:solidFill>
                  <a:srgbClr val="0000FF"/>
                </a:solidFill>
              </a:rPr>
              <a:t>m</a:t>
            </a:r>
            <a:r>
              <a:rPr lang="en-AU" sz="2000"/>
              <a:t> variables are randomly selected from </a:t>
            </a:r>
            <a:r>
              <a:rPr lang="en-AU" sz="2000" b="1" i="1">
                <a:solidFill>
                  <a:srgbClr val="0000FF"/>
                </a:solidFill>
              </a:rPr>
              <a:t>M</a:t>
            </a:r>
            <a:endParaRPr sz="2000" b="1" i="1">
              <a:solidFill>
                <a:srgbClr val="0000FF"/>
              </a:solidFill>
            </a:endParaRPr>
          </a:p>
          <a:p>
            <a:pPr marL="7239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Char char="•"/>
            </a:pPr>
            <a:r>
              <a:rPr lang="en-AU" sz="2000"/>
              <a:t>Use </a:t>
            </a:r>
            <a:r>
              <a:rPr lang="en-AU" sz="2000" b="1" i="1">
                <a:solidFill>
                  <a:srgbClr val="0000FF"/>
                </a:solidFill>
              </a:rPr>
              <a:t>m</a:t>
            </a:r>
            <a:r>
              <a:rPr lang="en-AU" sz="2000">
                <a:solidFill>
                  <a:srgbClr val="0000FF"/>
                </a:solidFill>
              </a:rPr>
              <a:t> </a:t>
            </a:r>
            <a:r>
              <a:rPr lang="en-AU" sz="2000"/>
              <a:t>to split the node. While the forest grows the value of </a:t>
            </a:r>
            <a:r>
              <a:rPr lang="en-AU" sz="2000" b="1" i="1">
                <a:solidFill>
                  <a:srgbClr val="0000FF"/>
                </a:solidFill>
              </a:rPr>
              <a:t>m</a:t>
            </a:r>
            <a:r>
              <a:rPr lang="en-AU" sz="2000">
                <a:solidFill>
                  <a:srgbClr val="0000FF"/>
                </a:solidFill>
              </a:rPr>
              <a:t> </a:t>
            </a:r>
            <a:r>
              <a:rPr lang="en-AU" sz="2000"/>
              <a:t>is held constant</a:t>
            </a:r>
            <a:br>
              <a:rPr lang="en-AU" sz="2000"/>
            </a:br>
            <a:endParaRPr sz="2000"/>
          </a:p>
          <a:p>
            <a:pPr marL="3429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AU" sz="2000"/>
              <a:t>Trees grow to their terminal nodes without pruning</a:t>
            </a:r>
            <a:br>
              <a:rPr lang="en-AU" sz="2000"/>
            </a:br>
            <a:endParaRPr sz="2000"/>
          </a:p>
          <a:p>
            <a:pPr marL="3429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AU" sz="2000"/>
              <a:t>Makes a prediction of data by aggregating the predictions of the n-tree trees (i.e., the majority votes for classification, the average for regression).</a:t>
            </a:r>
            <a:endParaRPr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4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AU" b="1"/>
              <a:t>Random Forest Pros</a:t>
            </a:r>
            <a:endParaRPr/>
          </a:p>
        </p:txBody>
      </p:sp>
      <p:sp>
        <p:nvSpPr>
          <p:cNvPr id="553" name="Google Shape;553;p24"/>
          <p:cNvSpPr txBox="1">
            <a:spLocks noGrp="1"/>
          </p:cNvSpPr>
          <p:nvPr>
            <p:ph type="body" idx="1"/>
          </p:nvPr>
        </p:nvSpPr>
        <p:spPr>
          <a:xfrm>
            <a:off x="1267261" y="1523223"/>
            <a:ext cx="10709700" cy="51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40631" lvl="0" indent="-24063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alibri"/>
              <a:buChar char="•"/>
            </a:pPr>
            <a:r>
              <a:rPr lang="en-AU"/>
              <a:t>Can handle large dataset with </a:t>
            </a:r>
            <a:r>
              <a:rPr lang="en-AU" b="1">
                <a:solidFill>
                  <a:srgbClr val="0000FF"/>
                </a:solidFill>
              </a:rPr>
              <a:t>higher dimensionality</a:t>
            </a:r>
            <a:endParaRPr>
              <a:solidFill>
                <a:srgbClr val="0000FF"/>
              </a:solidFill>
            </a:endParaRPr>
          </a:p>
          <a:p>
            <a:pPr marL="621631" lvl="1" indent="-24063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Calibri"/>
              <a:buChar char="•"/>
            </a:pPr>
            <a:r>
              <a:rPr lang="en-AU">
                <a:solidFill>
                  <a:srgbClr val="0C0C0C"/>
                </a:solidFill>
              </a:rPr>
              <a:t>Can identify most significant variables, so it is considered as one of the dimensionality reduction methods.</a:t>
            </a:r>
            <a:endParaRPr/>
          </a:p>
          <a:p>
            <a:pPr marL="621631" lvl="1" indent="-24063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Calibri"/>
              <a:buChar char="•"/>
            </a:pPr>
            <a:r>
              <a:rPr lang="en-AU"/>
              <a:t>The model outputs the importance of variables</a:t>
            </a:r>
            <a:endParaRPr sz="2000">
              <a:solidFill>
                <a:srgbClr val="0C0C0C"/>
              </a:solidFill>
            </a:endParaRPr>
          </a:p>
          <a:p>
            <a:pPr marL="240631" lvl="0" indent="-240631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Char char="•"/>
            </a:pPr>
            <a:r>
              <a:rPr lang="en-AU" sz="2000">
                <a:solidFill>
                  <a:srgbClr val="0C0C0C"/>
                </a:solidFill>
              </a:rPr>
              <a:t>Smaller prediction </a:t>
            </a:r>
            <a:r>
              <a:rPr lang="en-AU" sz="2000" b="1">
                <a:solidFill>
                  <a:srgbClr val="0000FF"/>
                </a:solidFill>
              </a:rPr>
              <a:t>variance</a:t>
            </a:r>
            <a:r>
              <a:rPr lang="en-AU" sz="2000">
                <a:solidFill>
                  <a:srgbClr val="0000FF"/>
                </a:solidFill>
              </a:rPr>
              <a:t> </a:t>
            </a:r>
            <a:r>
              <a:rPr lang="en-AU" sz="2000">
                <a:solidFill>
                  <a:srgbClr val="0C0C0C"/>
                </a:solidFill>
              </a:rPr>
              <a:t>and therefore usually a </a:t>
            </a:r>
            <a:r>
              <a:rPr lang="en-AU" sz="2000" b="1">
                <a:solidFill>
                  <a:srgbClr val="0000FF"/>
                </a:solidFill>
              </a:rPr>
              <a:t>better general performance</a:t>
            </a:r>
            <a:r>
              <a:rPr lang="en-AU" sz="2000">
                <a:solidFill>
                  <a:srgbClr val="0C0C0C"/>
                </a:solidFill>
              </a:rPr>
              <a:t>.</a:t>
            </a:r>
            <a:endParaRPr/>
          </a:p>
          <a:p>
            <a:pPr marL="240631" lvl="0" indent="-240631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Char char="•"/>
            </a:pPr>
            <a:r>
              <a:rPr lang="en-AU" sz="2000">
                <a:solidFill>
                  <a:srgbClr val="0C0C0C"/>
                </a:solidFill>
              </a:rPr>
              <a:t>Keeps accuracy when a large fraction of the data are </a:t>
            </a:r>
            <a:r>
              <a:rPr lang="en-AU" sz="2000" b="1">
                <a:solidFill>
                  <a:srgbClr val="0000FF"/>
                </a:solidFill>
              </a:rPr>
              <a:t>missing</a:t>
            </a:r>
            <a:endParaRPr sz="2000">
              <a:solidFill>
                <a:srgbClr val="0000FF"/>
              </a:solidFill>
            </a:endParaRPr>
          </a:p>
          <a:p>
            <a:pPr marL="240631" lvl="0" indent="-240631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Char char="•"/>
            </a:pPr>
            <a:r>
              <a:rPr lang="en-AU" sz="2000">
                <a:solidFill>
                  <a:srgbClr val="0C0C0C"/>
                </a:solidFill>
              </a:rPr>
              <a:t>Has methods for balancing errors in datasets where classes are imbalanced</a:t>
            </a:r>
            <a:endParaRPr/>
          </a:p>
          <a:p>
            <a:pPr marL="240631" lvl="0" indent="-240631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Char char="•"/>
            </a:pPr>
            <a:r>
              <a:rPr lang="en-AU" sz="2000">
                <a:solidFill>
                  <a:srgbClr val="0C0C0C"/>
                </a:solidFill>
              </a:rPr>
              <a:t>Can solve both classification and regression problems</a:t>
            </a:r>
            <a:r>
              <a:rPr lang="en-AU" sz="2000"/>
              <a:t>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5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AU" b="1"/>
              <a:t>Random Forest Cons</a:t>
            </a:r>
            <a:endParaRPr/>
          </a:p>
        </p:txBody>
      </p:sp>
      <p:sp>
        <p:nvSpPr>
          <p:cNvPr id="559" name="Google Shape;559;p25"/>
          <p:cNvSpPr txBox="1">
            <a:spLocks noGrp="1"/>
          </p:cNvSpPr>
          <p:nvPr>
            <p:ph type="body" idx="1"/>
          </p:nvPr>
        </p:nvSpPr>
        <p:spPr>
          <a:xfrm>
            <a:off x="1267261" y="1523223"/>
            <a:ext cx="10709700" cy="51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40631" lvl="0" indent="-24063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alibri"/>
              <a:buChar char="•"/>
            </a:pPr>
            <a:r>
              <a:rPr lang="en-AU"/>
              <a:t>A </a:t>
            </a:r>
            <a:r>
              <a:rPr lang="en-AU" b="1">
                <a:solidFill>
                  <a:srgbClr val="0000FF"/>
                </a:solidFill>
              </a:rPr>
              <a:t>black box</a:t>
            </a:r>
            <a:r>
              <a:rPr lang="en-AU" b="1">
                <a:solidFill>
                  <a:srgbClr val="1DBBDD"/>
                </a:solidFill>
              </a:rPr>
              <a:t> </a:t>
            </a:r>
            <a:r>
              <a:rPr lang="en-AU"/>
              <a:t>approach for statistical modellers</a:t>
            </a:r>
            <a:endParaRPr/>
          </a:p>
          <a:p>
            <a:pPr marL="621631" lvl="1" indent="-240631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Calibri"/>
              <a:buChar char="•"/>
            </a:pPr>
            <a:r>
              <a:rPr lang="en-AU"/>
              <a:t>Almost no visibility of what the model does</a:t>
            </a:r>
            <a:endParaRPr/>
          </a:p>
          <a:p>
            <a:pPr marL="240631" lvl="0" indent="-240631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alibri"/>
              <a:buChar char="•"/>
            </a:pPr>
            <a:r>
              <a:rPr lang="en-AU"/>
              <a:t>Not as good for </a:t>
            </a:r>
            <a:r>
              <a:rPr lang="en-AU" b="1">
                <a:solidFill>
                  <a:srgbClr val="0000FF"/>
                </a:solidFill>
              </a:rPr>
              <a:t>regression</a:t>
            </a:r>
            <a:r>
              <a:rPr lang="en-AU">
                <a:solidFill>
                  <a:srgbClr val="0000FF"/>
                </a:solidFill>
              </a:rPr>
              <a:t> </a:t>
            </a:r>
            <a:r>
              <a:rPr lang="en-AU"/>
              <a:t>problems as it does not give precise, continuous nature predictions</a:t>
            </a:r>
            <a:endParaRPr/>
          </a:p>
          <a:p>
            <a:pPr marL="621631" lvl="1" indent="-240631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Calibri"/>
              <a:buChar char="•"/>
            </a:pPr>
            <a:r>
              <a:rPr lang="en-AU"/>
              <a:t>In case of regression, it does not predict beyond the range in the training data, and that they may overfit datasets that are particularly noisy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6"/>
          <p:cNvSpPr txBox="1">
            <a:spLocks noGrp="1"/>
          </p:cNvSpPr>
          <p:nvPr>
            <p:ph type="title"/>
          </p:nvPr>
        </p:nvSpPr>
        <p:spPr>
          <a:xfrm>
            <a:off x="933734" y="35565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AU" b="1"/>
              <a:t>Random Forest hyperparameters</a:t>
            </a:r>
            <a:endParaRPr b="1"/>
          </a:p>
        </p:txBody>
      </p:sp>
      <p:sp>
        <p:nvSpPr>
          <p:cNvPr id="566" name="Google Shape;566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1700" b="1">
                <a:solidFill>
                  <a:srgbClr val="0000FF"/>
                </a:solidFill>
              </a:rPr>
              <a:t>n_estimators</a:t>
            </a:r>
            <a:r>
              <a:rPr lang="en-AU" sz="1700" b="1">
                <a:solidFill>
                  <a:srgbClr val="1DBBDD"/>
                </a:solidFill>
              </a:rPr>
              <a:t> </a:t>
            </a:r>
            <a:r>
              <a:rPr lang="en-AU" sz="1700">
                <a:solidFill>
                  <a:srgbClr val="0C0C0C"/>
                </a:solidFill>
              </a:rPr>
              <a:t>: integer, optional (default=10)</a:t>
            </a:r>
            <a:endParaRPr/>
          </a:p>
          <a:p>
            <a:pPr marL="914400" lvl="1" indent="-342900" algn="l" rtl="0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AU" sz="1700">
                <a:solidFill>
                  <a:srgbClr val="0C0C0C"/>
                </a:solidFill>
              </a:rPr>
              <a:t>The number of trees in the forest.</a:t>
            </a:r>
            <a:endParaRPr/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1700" b="1">
                <a:solidFill>
                  <a:srgbClr val="0000FF"/>
                </a:solidFill>
              </a:rPr>
              <a:t>criterion</a:t>
            </a:r>
            <a:r>
              <a:rPr lang="en-AU" sz="1700">
                <a:solidFill>
                  <a:srgbClr val="0000FF"/>
                </a:solidFill>
              </a:rPr>
              <a:t> </a:t>
            </a:r>
            <a:r>
              <a:rPr lang="en-AU" sz="1700">
                <a:solidFill>
                  <a:srgbClr val="0C0C0C"/>
                </a:solidFill>
              </a:rPr>
              <a:t>: string, optional (default=”gini”)</a:t>
            </a:r>
            <a:endParaRPr/>
          </a:p>
          <a:p>
            <a:pPr marL="914400" lvl="1" indent="-342900" algn="l" rtl="0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AU" sz="1700">
                <a:solidFill>
                  <a:srgbClr val="0C0C0C"/>
                </a:solidFill>
              </a:rPr>
              <a:t>The function to measure the quality of a split. Supported criteria are “gini” for the Gini impurity and “entropy” for the information gain.</a:t>
            </a:r>
            <a:endParaRPr/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1700" b="1">
                <a:solidFill>
                  <a:srgbClr val="0000FF"/>
                </a:solidFill>
              </a:rPr>
              <a:t>max_depth</a:t>
            </a:r>
            <a:r>
              <a:rPr lang="en-AU" sz="1700">
                <a:solidFill>
                  <a:srgbClr val="0C0C0C"/>
                </a:solidFill>
              </a:rPr>
              <a:t> : int or None, optional (default=None)</a:t>
            </a:r>
            <a:endParaRPr/>
          </a:p>
          <a:p>
            <a:pPr marL="914400" lvl="1" indent="-342900" algn="l" rtl="0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AU" sz="1700">
                <a:solidFill>
                  <a:srgbClr val="0C0C0C"/>
                </a:solidFill>
              </a:rPr>
              <a:t>The maximum depth of the tree. If None, then nodes are expanded until all leaves are pure or until all leaves contain less than min_samples_split samples.</a:t>
            </a:r>
            <a:endParaRPr/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1700" b="1">
                <a:solidFill>
                  <a:srgbClr val="0000FF"/>
                </a:solidFill>
              </a:rPr>
              <a:t>min_samples_split</a:t>
            </a:r>
            <a:r>
              <a:rPr lang="en-AU" sz="1700">
                <a:solidFill>
                  <a:srgbClr val="0C0C0C"/>
                </a:solidFill>
              </a:rPr>
              <a:t> : int, float, optional (default=2)</a:t>
            </a:r>
            <a:endParaRPr/>
          </a:p>
          <a:p>
            <a:pPr marL="914400" lvl="1" indent="-342900" algn="l" rtl="0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AU" sz="1700">
                <a:solidFill>
                  <a:srgbClr val="0C0C0C"/>
                </a:solidFill>
              </a:rPr>
              <a:t>The minimum number of samples required to split an internal node</a:t>
            </a:r>
            <a:endParaRPr/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1700" b="1">
                <a:solidFill>
                  <a:srgbClr val="0000FF"/>
                </a:solidFill>
              </a:rPr>
              <a:t>max_leaf_nodes</a:t>
            </a:r>
            <a:r>
              <a:rPr lang="en-AU" sz="1700">
                <a:solidFill>
                  <a:srgbClr val="0C0C0C"/>
                </a:solidFill>
              </a:rPr>
              <a:t> : int or None, optional (default=None)</a:t>
            </a:r>
            <a:endParaRPr/>
          </a:p>
          <a:p>
            <a:pPr marL="914400" lvl="1" indent="-342900" algn="l" rtl="0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AU" sz="1700">
                <a:solidFill>
                  <a:srgbClr val="0C0C0C"/>
                </a:solidFill>
              </a:rPr>
              <a:t>Grow a tree with max_leaf_nodes in best-first fashion. Best nodes are defined as relative reduction in impurity. If None then unlimited number of leaf nodes.</a:t>
            </a:r>
            <a:endParaRPr/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1700" b="1">
                <a:solidFill>
                  <a:srgbClr val="0000FF"/>
                </a:solidFill>
              </a:rPr>
              <a:t>class_weight</a:t>
            </a:r>
            <a:r>
              <a:rPr lang="en-AU" sz="1700">
                <a:solidFill>
                  <a:srgbClr val="0C0C0C"/>
                </a:solidFill>
              </a:rPr>
              <a:t> : dict, list of dicts, “balanced” or None, default=None</a:t>
            </a:r>
            <a:endParaRPr/>
          </a:p>
          <a:p>
            <a:pPr marL="914400" lvl="1" indent="-342900" algn="l" rtl="0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AU" sz="1700">
                <a:solidFill>
                  <a:srgbClr val="0C0C0C"/>
                </a:solidFill>
              </a:rPr>
              <a:t>Weights associated with classes in the form {class_label: weight}. If not given, all classes are supposed to have weight one.</a:t>
            </a:r>
            <a:endParaRPr/>
          </a:p>
          <a:p>
            <a:pPr marL="457200" lvl="0" indent="-2286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700">
              <a:solidFill>
                <a:srgbClr val="0C0C0C"/>
              </a:solidFill>
            </a:endParaRPr>
          </a:p>
          <a:p>
            <a:pPr marL="914400" lvl="1" indent="-228600" algn="l" rtl="0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endParaRPr sz="1700">
              <a:solidFill>
                <a:srgbClr val="0C0C0C"/>
              </a:solidFill>
            </a:endParaRPr>
          </a:p>
          <a:p>
            <a:pPr marL="457200" lvl="0" indent="-2286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700">
              <a:solidFill>
                <a:srgbClr val="0C0C0C"/>
              </a:solidFill>
            </a:endParaRPr>
          </a:p>
          <a:p>
            <a:pPr marL="457200" lvl="0" indent="-2286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700">
              <a:solidFill>
                <a:srgbClr val="0C0C0C"/>
              </a:solidFill>
            </a:endParaRPr>
          </a:p>
          <a:p>
            <a:pPr marL="457200" lvl="0" indent="-2286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04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7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AU" b="1"/>
              <a:t>Lab 7.2: Random Forests</a:t>
            </a:r>
            <a:endParaRPr/>
          </a:p>
        </p:txBody>
      </p:sp>
      <p:sp>
        <p:nvSpPr>
          <p:cNvPr id="572" name="Google Shape;572;p27"/>
          <p:cNvSpPr txBox="1">
            <a:spLocks noGrp="1"/>
          </p:cNvSpPr>
          <p:nvPr>
            <p:ph type="body" idx="1"/>
          </p:nvPr>
        </p:nvSpPr>
        <p:spPr>
          <a:xfrm>
            <a:off x="1267261" y="1523223"/>
            <a:ext cx="10709700" cy="51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alibri"/>
              <a:buChar char="•"/>
            </a:pPr>
            <a:r>
              <a:rPr lang="en-AU">
                <a:solidFill>
                  <a:srgbClr val="000000"/>
                </a:solidFill>
              </a:rPr>
              <a:t>Purpose</a:t>
            </a:r>
            <a:endParaRPr/>
          </a:p>
          <a:p>
            <a:pPr marL="68580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alibri"/>
              <a:buChar char="•"/>
            </a:pPr>
            <a:r>
              <a:rPr lang="en-AU">
                <a:solidFill>
                  <a:srgbClr val="000000"/>
                </a:solidFill>
              </a:rPr>
              <a:t>Practice with Decision Random Forests</a:t>
            </a:r>
            <a:endParaRPr/>
          </a:p>
          <a:p>
            <a:pPr marL="68580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alibri"/>
              <a:buChar char="•"/>
            </a:pPr>
            <a:r>
              <a:rPr lang="en-AU">
                <a:solidFill>
                  <a:srgbClr val="000000"/>
                </a:solidFill>
              </a:rPr>
              <a:t>Practice coding in Python</a:t>
            </a:r>
            <a:br>
              <a:rPr lang="en-AU">
                <a:solidFill>
                  <a:srgbClr val="000000"/>
                </a:solidFill>
              </a:rPr>
            </a:b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alibri"/>
              <a:buChar char="•"/>
            </a:pPr>
            <a:r>
              <a:rPr lang="en-AU">
                <a:solidFill>
                  <a:srgbClr val="000000"/>
                </a:solidFill>
              </a:rPr>
              <a:t>Resources</a:t>
            </a:r>
            <a:endParaRPr/>
          </a:p>
          <a:p>
            <a:pPr marL="68580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alibri"/>
              <a:buChar char="•"/>
            </a:pPr>
            <a:r>
              <a:rPr lang="en-AU">
                <a:solidFill>
                  <a:srgbClr val="000000"/>
                </a:solidFill>
              </a:rPr>
              <a:t>Your skills and resourcefulness</a:t>
            </a:r>
            <a:br>
              <a:rPr lang="en-AU">
                <a:solidFill>
                  <a:srgbClr val="000000"/>
                </a:solidFill>
              </a:rPr>
            </a:b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alibri"/>
              <a:buChar char="•"/>
            </a:pPr>
            <a:r>
              <a:rPr lang="en-AU">
                <a:solidFill>
                  <a:srgbClr val="000000"/>
                </a:solidFill>
              </a:rPr>
              <a:t>Material</a:t>
            </a:r>
            <a:endParaRPr/>
          </a:p>
          <a:p>
            <a:pPr marL="68580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alibri"/>
              <a:buChar char="•"/>
            </a:pPr>
            <a:r>
              <a:rPr lang="en-AU">
                <a:solidFill>
                  <a:srgbClr val="000000"/>
                </a:solidFill>
              </a:rPr>
              <a:t>Jupyter Notebook (</a:t>
            </a:r>
            <a:r>
              <a:rPr lang="en-AU" sz="2000">
                <a:latin typeface="Arial"/>
                <a:ea typeface="Arial"/>
                <a:cs typeface="Arial"/>
                <a:sym typeface="Arial"/>
              </a:rPr>
              <a:t>Lab-7_2</a:t>
            </a:r>
            <a:r>
              <a:rPr lang="en-AU">
                <a:solidFill>
                  <a:srgbClr val="000000"/>
                </a:solidFill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8"/>
          <p:cNvSpPr txBox="1">
            <a:spLocks noGrp="1"/>
          </p:cNvSpPr>
          <p:nvPr>
            <p:ph type="ctrTitle"/>
          </p:nvPr>
        </p:nvSpPr>
        <p:spPr>
          <a:xfrm>
            <a:off x="1524000" y="1340729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AU"/>
              <a:t>Questions?</a:t>
            </a:r>
            <a:endParaRPr/>
          </a:p>
        </p:txBody>
      </p:sp>
      <p:sp>
        <p:nvSpPr>
          <p:cNvPr id="578" name="Google Shape;578;p2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AU"/>
              <a:t>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9"/>
          <p:cNvSpPr txBox="1">
            <a:spLocks noGrp="1"/>
          </p:cNvSpPr>
          <p:nvPr>
            <p:ph type="ctrTitle"/>
          </p:nvPr>
        </p:nvSpPr>
        <p:spPr>
          <a:xfrm>
            <a:off x="1524000" y="1340729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AU"/>
              <a:t>Appendices</a:t>
            </a:r>
            <a:endParaRPr/>
          </a:p>
        </p:txBody>
      </p:sp>
      <p:sp>
        <p:nvSpPr>
          <p:cNvPr id="584" name="Google Shape;584;p2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AU"/>
              <a:t> 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0"/>
          <p:cNvSpPr txBox="1">
            <a:spLocks noGrp="1"/>
          </p:cNvSpPr>
          <p:nvPr>
            <p:ph type="title"/>
          </p:nvPr>
        </p:nvSpPr>
        <p:spPr>
          <a:xfrm>
            <a:off x="933734" y="35565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AU" b="1">
                <a:solidFill>
                  <a:srgbClr val="0000FF"/>
                </a:solidFill>
              </a:rPr>
              <a:t>Common splitting algorithms: Gini Index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591" name="Google Shape;591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2000">
                <a:solidFill>
                  <a:srgbClr val="0C0C0C"/>
                </a:solidFill>
              </a:rPr>
              <a:t>The Gini index indicates the </a:t>
            </a:r>
            <a:r>
              <a:rPr lang="en-AU" sz="2000" b="1">
                <a:solidFill>
                  <a:srgbClr val="0000FF"/>
                </a:solidFill>
              </a:rPr>
              <a:t>degree of homogeneity</a:t>
            </a:r>
            <a:r>
              <a:rPr lang="en-AU" sz="2000">
                <a:solidFill>
                  <a:srgbClr val="0C0C0C"/>
                </a:solidFill>
              </a:rPr>
              <a:t>. The higher the value of Gini, the higher the homogeneity.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2000">
                <a:solidFill>
                  <a:srgbClr val="0C0C0C"/>
                </a:solidFill>
              </a:rPr>
              <a:t>Gini is used only for Binary splits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2000">
                <a:solidFill>
                  <a:srgbClr val="0C0C0C"/>
                </a:solidFill>
              </a:rPr>
              <a:t>Steps to calculate Gini for a split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2000">
                <a:solidFill>
                  <a:srgbClr val="0C0C0C"/>
                </a:solidFill>
              </a:rPr>
              <a:t>Calculate Gini for sub-nodes, using the </a:t>
            </a:r>
            <a:r>
              <a:rPr lang="en-AU" sz="2000" b="1">
                <a:solidFill>
                  <a:srgbClr val="0000FF"/>
                </a:solidFill>
              </a:rPr>
              <a:t>Sum of Square of probability for success and failure</a:t>
            </a:r>
            <a:endParaRPr>
              <a:solidFill>
                <a:srgbClr val="0000FF"/>
              </a:solidFill>
            </a:endParaRPr>
          </a:p>
          <a:p>
            <a: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endParaRPr sz="2000">
              <a:solidFill>
                <a:srgbClr val="0C0C0C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n-AU" sz="2000">
                <a:solidFill>
                  <a:srgbClr val="0C0C0C"/>
                </a:solidFill>
              </a:rPr>
              <a:t>Calculate Gini for split using weighted Gini score of each node of that split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000">
              <a:solidFill>
                <a:srgbClr val="0C0C0C"/>
              </a:solidFill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000">
              <a:solidFill>
                <a:srgbClr val="0C0C0C"/>
              </a:solidFill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sp>
        <p:nvSpPr>
          <p:cNvPr id="592" name="Google Shape;592;p30"/>
          <p:cNvSpPr txBox="1"/>
          <p:nvPr/>
        </p:nvSpPr>
        <p:spPr>
          <a:xfrm>
            <a:off x="5118612" y="3816628"/>
            <a:ext cx="1072922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5811" r="-1161" b="-19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r>
              <a:rPr lang="en-AU" sz="1400" b="0" i="0" u="none" strike="noStrike" cap="non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1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AU" sz="4400" b="0" i="0" u="none" strike="noStrike" cap="none">
                <a:latin typeface="Calibri"/>
                <a:ea typeface="Calibri"/>
                <a:cs typeface="Calibri"/>
                <a:sym typeface="Calibri"/>
              </a:rPr>
              <a:t>Common splitting algorithms: Gini Index</a:t>
            </a:r>
            <a:endParaRPr/>
          </a:p>
        </p:txBody>
      </p:sp>
      <p:sp>
        <p:nvSpPr>
          <p:cNvPr id="598" name="Google Shape;598;p31"/>
          <p:cNvSpPr txBox="1"/>
          <p:nvPr/>
        </p:nvSpPr>
        <p:spPr>
          <a:xfrm>
            <a:off x="1248705" y="2371034"/>
            <a:ext cx="1437899" cy="650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AU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Students: 30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AU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Play: 15 (50%)</a:t>
            </a:r>
            <a:endParaRPr/>
          </a:p>
        </p:txBody>
      </p:sp>
      <p:grpSp>
        <p:nvGrpSpPr>
          <p:cNvPr id="599" name="Google Shape;599;p31"/>
          <p:cNvGrpSpPr/>
          <p:nvPr/>
        </p:nvGrpSpPr>
        <p:grpSpPr>
          <a:xfrm>
            <a:off x="7851913" y="2244034"/>
            <a:ext cx="2882462" cy="3170444"/>
            <a:chOff x="0" y="0"/>
            <a:chExt cx="2882461" cy="3170442"/>
          </a:xfrm>
        </p:grpSpPr>
        <p:grpSp>
          <p:nvGrpSpPr>
            <p:cNvPr id="600" name="Google Shape;600;p31"/>
            <p:cNvGrpSpPr/>
            <p:nvPr/>
          </p:nvGrpSpPr>
          <p:grpSpPr>
            <a:xfrm>
              <a:off x="789375" y="0"/>
              <a:ext cx="1397003" cy="1016002"/>
              <a:chOff x="0" y="0"/>
              <a:chExt cx="1397002" cy="1016001"/>
            </a:xfrm>
          </p:grpSpPr>
          <p:sp>
            <p:nvSpPr>
              <p:cNvPr id="601" name="Google Shape;601;p31"/>
              <p:cNvSpPr/>
              <p:nvPr/>
            </p:nvSpPr>
            <p:spPr>
              <a:xfrm>
                <a:off x="146050" y="2095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31"/>
              <p:cNvSpPr/>
              <p:nvPr/>
            </p:nvSpPr>
            <p:spPr>
              <a:xfrm>
                <a:off x="1041401" y="406023"/>
                <a:ext cx="190501" cy="190503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31"/>
              <p:cNvSpPr/>
              <p:nvPr/>
            </p:nvSpPr>
            <p:spPr>
              <a:xfrm>
                <a:off x="692150" y="2222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31"/>
              <p:cNvSpPr/>
              <p:nvPr/>
            </p:nvSpPr>
            <p:spPr>
              <a:xfrm>
                <a:off x="539750" y="6032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31"/>
              <p:cNvSpPr/>
              <p:nvPr/>
            </p:nvSpPr>
            <p:spPr>
              <a:xfrm>
                <a:off x="438150" y="2603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31"/>
              <p:cNvSpPr/>
              <p:nvPr/>
            </p:nvSpPr>
            <p:spPr>
              <a:xfrm>
                <a:off x="184150" y="6032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31"/>
              <p:cNvSpPr/>
              <p:nvPr/>
            </p:nvSpPr>
            <p:spPr>
              <a:xfrm>
                <a:off x="812800" y="5397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31"/>
              <p:cNvSpPr/>
              <p:nvPr/>
            </p:nvSpPr>
            <p:spPr>
              <a:xfrm>
                <a:off x="946150" y="100845"/>
                <a:ext cx="190501" cy="190503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31"/>
              <p:cNvSpPr/>
              <p:nvPr/>
            </p:nvSpPr>
            <p:spPr>
              <a:xfrm>
                <a:off x="1073151" y="73660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31"/>
              <p:cNvSpPr/>
              <p:nvPr/>
            </p:nvSpPr>
            <p:spPr>
              <a:xfrm>
                <a:off x="0" y="0"/>
                <a:ext cx="1397002" cy="1016001"/>
              </a:xfrm>
              <a:prstGeom prst="roundRect">
                <a:avLst>
                  <a:gd name="adj" fmla="val 18750"/>
                </a:avLst>
              </a:prstGeom>
              <a:noFill/>
              <a:ln w="25400" cap="flat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11" name="Google Shape;611;p31"/>
            <p:cNvSpPr txBox="1"/>
            <p:nvPr/>
          </p:nvSpPr>
          <p:spPr>
            <a:xfrm>
              <a:off x="0" y="2355103"/>
              <a:ext cx="1203581" cy="8153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AU" sz="1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Class A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AU" sz="1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Students: 14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AU" sz="1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Play: 6 (43%)</a:t>
              </a:r>
              <a:endParaRPr/>
            </a:p>
          </p:txBody>
        </p:sp>
        <p:sp>
          <p:nvSpPr>
            <p:cNvPr id="612" name="Google Shape;612;p31"/>
            <p:cNvSpPr txBox="1"/>
            <p:nvPr/>
          </p:nvSpPr>
          <p:spPr>
            <a:xfrm>
              <a:off x="1651000" y="2355103"/>
              <a:ext cx="1203582" cy="8153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AU" sz="1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Class B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AU" sz="1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Students: 16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AU" sz="1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Play: 9 (56%)</a:t>
              </a:r>
              <a:endParaRPr/>
            </a:p>
          </p:txBody>
        </p:sp>
        <p:grpSp>
          <p:nvGrpSpPr>
            <p:cNvPr id="613" name="Google Shape;613;p31"/>
            <p:cNvGrpSpPr/>
            <p:nvPr/>
          </p:nvGrpSpPr>
          <p:grpSpPr>
            <a:xfrm>
              <a:off x="88457" y="1524000"/>
              <a:ext cx="1143004" cy="762002"/>
              <a:chOff x="0" y="0"/>
              <a:chExt cx="1143002" cy="762001"/>
            </a:xfrm>
          </p:grpSpPr>
          <p:sp>
            <p:nvSpPr>
              <p:cNvPr id="614" name="Google Shape;614;p31"/>
              <p:cNvSpPr/>
              <p:nvPr/>
            </p:nvSpPr>
            <p:spPr>
              <a:xfrm>
                <a:off x="146050" y="1079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31"/>
              <p:cNvSpPr/>
              <p:nvPr/>
            </p:nvSpPr>
            <p:spPr>
              <a:xfrm>
                <a:off x="692150" y="1206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31"/>
              <p:cNvSpPr/>
              <p:nvPr/>
            </p:nvSpPr>
            <p:spPr>
              <a:xfrm>
                <a:off x="539750" y="5016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31"/>
              <p:cNvSpPr/>
              <p:nvPr/>
            </p:nvSpPr>
            <p:spPr>
              <a:xfrm>
                <a:off x="438150" y="1587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p31"/>
              <p:cNvSpPr/>
              <p:nvPr/>
            </p:nvSpPr>
            <p:spPr>
              <a:xfrm>
                <a:off x="184150" y="5016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9" name="Google Shape;619;p31"/>
              <p:cNvSpPr/>
              <p:nvPr/>
            </p:nvSpPr>
            <p:spPr>
              <a:xfrm>
                <a:off x="812800" y="4381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31"/>
              <p:cNvSpPr/>
              <p:nvPr/>
            </p:nvSpPr>
            <p:spPr>
              <a:xfrm>
                <a:off x="0" y="0"/>
                <a:ext cx="1143002" cy="762001"/>
              </a:xfrm>
              <a:prstGeom prst="roundRect">
                <a:avLst>
                  <a:gd name="adj" fmla="val 25000"/>
                </a:avLst>
              </a:prstGeom>
              <a:noFill/>
              <a:ln w="25400" cap="flat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1" name="Google Shape;621;p31"/>
            <p:cNvGrpSpPr/>
            <p:nvPr/>
          </p:nvGrpSpPr>
          <p:grpSpPr>
            <a:xfrm>
              <a:off x="1739458" y="1524000"/>
              <a:ext cx="1143003" cy="762002"/>
              <a:chOff x="0" y="0"/>
              <a:chExt cx="1143002" cy="762001"/>
            </a:xfrm>
          </p:grpSpPr>
          <p:sp>
            <p:nvSpPr>
              <p:cNvPr id="622" name="Google Shape;622;p31"/>
              <p:cNvSpPr/>
              <p:nvPr/>
            </p:nvSpPr>
            <p:spPr>
              <a:xfrm>
                <a:off x="146050" y="1079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31"/>
              <p:cNvSpPr/>
              <p:nvPr/>
            </p:nvSpPr>
            <p:spPr>
              <a:xfrm>
                <a:off x="692150" y="1206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31"/>
              <p:cNvSpPr/>
              <p:nvPr/>
            </p:nvSpPr>
            <p:spPr>
              <a:xfrm>
                <a:off x="539750" y="5016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31"/>
              <p:cNvSpPr/>
              <p:nvPr/>
            </p:nvSpPr>
            <p:spPr>
              <a:xfrm>
                <a:off x="438150" y="1587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31"/>
              <p:cNvSpPr/>
              <p:nvPr/>
            </p:nvSpPr>
            <p:spPr>
              <a:xfrm>
                <a:off x="184150" y="5016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31"/>
              <p:cNvSpPr/>
              <p:nvPr/>
            </p:nvSpPr>
            <p:spPr>
              <a:xfrm>
                <a:off x="812800" y="4381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31"/>
              <p:cNvSpPr/>
              <p:nvPr/>
            </p:nvSpPr>
            <p:spPr>
              <a:xfrm>
                <a:off x="0" y="0"/>
                <a:ext cx="1143002" cy="762001"/>
              </a:xfrm>
              <a:prstGeom prst="roundRect">
                <a:avLst>
                  <a:gd name="adj" fmla="val 25000"/>
                </a:avLst>
              </a:prstGeom>
              <a:noFill/>
              <a:ln w="25400" cap="flat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629" name="Google Shape;629;p31"/>
            <p:cNvCxnSpPr/>
            <p:nvPr/>
          </p:nvCxnSpPr>
          <p:spPr>
            <a:xfrm rot="10800000" flipH="1">
              <a:off x="893280" y="1028700"/>
              <a:ext cx="286009" cy="482601"/>
            </a:xfrm>
            <a:prstGeom prst="straightConnector1">
              <a:avLst/>
            </a:prstGeom>
            <a:noFill/>
            <a:ln w="254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0" name="Google Shape;630;p31"/>
            <p:cNvCxnSpPr/>
            <p:nvPr/>
          </p:nvCxnSpPr>
          <p:spPr>
            <a:xfrm>
              <a:off x="1794660" y="1028700"/>
              <a:ext cx="284340" cy="482601"/>
            </a:xfrm>
            <a:prstGeom prst="straightConnector1">
              <a:avLst/>
            </a:prstGeom>
            <a:noFill/>
            <a:ln w="254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631" name="Google Shape;631;p31"/>
          <p:cNvGrpSpPr/>
          <p:nvPr/>
        </p:nvGrpSpPr>
        <p:grpSpPr>
          <a:xfrm>
            <a:off x="3279913" y="2244034"/>
            <a:ext cx="2893935" cy="3170444"/>
            <a:chOff x="0" y="0"/>
            <a:chExt cx="2893934" cy="3170442"/>
          </a:xfrm>
        </p:grpSpPr>
        <p:sp>
          <p:nvSpPr>
            <p:cNvPr id="632" name="Google Shape;632;p31"/>
            <p:cNvSpPr txBox="1"/>
            <p:nvPr/>
          </p:nvSpPr>
          <p:spPr>
            <a:xfrm>
              <a:off x="0" y="2355103"/>
              <a:ext cx="1203581" cy="8153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AU" sz="1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Female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AU" sz="1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Students: 10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AU" sz="1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Play: 2 (20%)</a:t>
              </a:r>
              <a:endParaRPr/>
            </a:p>
          </p:txBody>
        </p:sp>
        <p:sp>
          <p:nvSpPr>
            <p:cNvPr id="633" name="Google Shape;633;p31"/>
            <p:cNvSpPr txBox="1"/>
            <p:nvPr/>
          </p:nvSpPr>
          <p:spPr>
            <a:xfrm>
              <a:off x="1604230" y="2355103"/>
              <a:ext cx="1289704" cy="8153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AU" sz="1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Male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AU" sz="1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Students: 20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AU" sz="1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Play: 13 (65%)</a:t>
              </a:r>
              <a:endParaRPr/>
            </a:p>
          </p:txBody>
        </p:sp>
        <p:grpSp>
          <p:nvGrpSpPr>
            <p:cNvPr id="634" name="Google Shape;634;p31"/>
            <p:cNvGrpSpPr/>
            <p:nvPr/>
          </p:nvGrpSpPr>
          <p:grpSpPr>
            <a:xfrm>
              <a:off x="784541" y="0"/>
              <a:ext cx="1397003" cy="1016002"/>
              <a:chOff x="0" y="0"/>
              <a:chExt cx="1397002" cy="1016001"/>
            </a:xfrm>
          </p:grpSpPr>
          <p:sp>
            <p:nvSpPr>
              <p:cNvPr id="635" name="Google Shape;635;p31"/>
              <p:cNvSpPr/>
              <p:nvPr/>
            </p:nvSpPr>
            <p:spPr>
              <a:xfrm>
                <a:off x="146050" y="2095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31"/>
              <p:cNvSpPr/>
              <p:nvPr/>
            </p:nvSpPr>
            <p:spPr>
              <a:xfrm>
                <a:off x="1041401" y="406023"/>
                <a:ext cx="190501" cy="190503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31"/>
              <p:cNvSpPr/>
              <p:nvPr/>
            </p:nvSpPr>
            <p:spPr>
              <a:xfrm>
                <a:off x="692150" y="2222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31"/>
              <p:cNvSpPr/>
              <p:nvPr/>
            </p:nvSpPr>
            <p:spPr>
              <a:xfrm>
                <a:off x="539750" y="6032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31"/>
              <p:cNvSpPr/>
              <p:nvPr/>
            </p:nvSpPr>
            <p:spPr>
              <a:xfrm>
                <a:off x="438150" y="2603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31"/>
              <p:cNvSpPr/>
              <p:nvPr/>
            </p:nvSpPr>
            <p:spPr>
              <a:xfrm>
                <a:off x="184150" y="6032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31"/>
              <p:cNvSpPr/>
              <p:nvPr/>
            </p:nvSpPr>
            <p:spPr>
              <a:xfrm>
                <a:off x="812800" y="5397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31"/>
              <p:cNvSpPr/>
              <p:nvPr/>
            </p:nvSpPr>
            <p:spPr>
              <a:xfrm>
                <a:off x="946150" y="100845"/>
                <a:ext cx="190501" cy="190503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31"/>
              <p:cNvSpPr/>
              <p:nvPr/>
            </p:nvSpPr>
            <p:spPr>
              <a:xfrm>
                <a:off x="1073151" y="73660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31"/>
              <p:cNvSpPr/>
              <p:nvPr/>
            </p:nvSpPr>
            <p:spPr>
              <a:xfrm>
                <a:off x="0" y="0"/>
                <a:ext cx="1397002" cy="1016001"/>
              </a:xfrm>
              <a:prstGeom prst="roundRect">
                <a:avLst>
                  <a:gd name="adj" fmla="val 18750"/>
                </a:avLst>
              </a:prstGeom>
              <a:noFill/>
              <a:ln w="25400" cap="flat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5" name="Google Shape;645;p31"/>
            <p:cNvGrpSpPr/>
            <p:nvPr/>
          </p:nvGrpSpPr>
          <p:grpSpPr>
            <a:xfrm>
              <a:off x="88457" y="1524000"/>
              <a:ext cx="1143004" cy="762002"/>
              <a:chOff x="0" y="0"/>
              <a:chExt cx="1143002" cy="762001"/>
            </a:xfrm>
          </p:grpSpPr>
          <p:sp>
            <p:nvSpPr>
              <p:cNvPr id="646" name="Google Shape;646;p31"/>
              <p:cNvSpPr/>
              <p:nvPr/>
            </p:nvSpPr>
            <p:spPr>
              <a:xfrm>
                <a:off x="146050" y="1079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31"/>
              <p:cNvSpPr/>
              <p:nvPr/>
            </p:nvSpPr>
            <p:spPr>
              <a:xfrm>
                <a:off x="692150" y="120650"/>
                <a:ext cx="190503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31"/>
              <p:cNvSpPr/>
              <p:nvPr/>
            </p:nvSpPr>
            <p:spPr>
              <a:xfrm>
                <a:off x="539750" y="501650"/>
                <a:ext cx="190503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" name="Google Shape;649;p31"/>
              <p:cNvSpPr/>
              <p:nvPr/>
            </p:nvSpPr>
            <p:spPr>
              <a:xfrm>
                <a:off x="438150" y="158750"/>
                <a:ext cx="190503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p31"/>
              <p:cNvSpPr/>
              <p:nvPr/>
            </p:nvSpPr>
            <p:spPr>
              <a:xfrm>
                <a:off x="184150" y="501650"/>
                <a:ext cx="190501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31"/>
              <p:cNvSpPr/>
              <p:nvPr/>
            </p:nvSpPr>
            <p:spPr>
              <a:xfrm>
                <a:off x="812800" y="438150"/>
                <a:ext cx="190503" cy="190501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31"/>
              <p:cNvSpPr/>
              <p:nvPr/>
            </p:nvSpPr>
            <p:spPr>
              <a:xfrm>
                <a:off x="0" y="0"/>
                <a:ext cx="1143002" cy="762001"/>
              </a:xfrm>
              <a:prstGeom prst="roundRect">
                <a:avLst>
                  <a:gd name="adj" fmla="val 25000"/>
                </a:avLst>
              </a:prstGeom>
              <a:noFill/>
              <a:ln w="25400" cap="flat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3" name="Google Shape;653;p31"/>
            <p:cNvGrpSpPr/>
            <p:nvPr/>
          </p:nvGrpSpPr>
          <p:grpSpPr>
            <a:xfrm>
              <a:off x="1739458" y="1524000"/>
              <a:ext cx="1143003" cy="762002"/>
              <a:chOff x="0" y="0"/>
              <a:chExt cx="1143002" cy="762001"/>
            </a:xfrm>
          </p:grpSpPr>
          <p:sp>
            <p:nvSpPr>
              <p:cNvPr id="654" name="Google Shape;654;p31"/>
              <p:cNvSpPr/>
              <p:nvPr/>
            </p:nvSpPr>
            <p:spPr>
              <a:xfrm>
                <a:off x="146050" y="1079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31"/>
              <p:cNvSpPr/>
              <p:nvPr/>
            </p:nvSpPr>
            <p:spPr>
              <a:xfrm>
                <a:off x="692149" y="120650"/>
                <a:ext cx="190503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p31"/>
              <p:cNvSpPr/>
              <p:nvPr/>
            </p:nvSpPr>
            <p:spPr>
              <a:xfrm>
                <a:off x="539749" y="501650"/>
                <a:ext cx="190503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31"/>
              <p:cNvSpPr/>
              <p:nvPr/>
            </p:nvSpPr>
            <p:spPr>
              <a:xfrm>
                <a:off x="438149" y="158750"/>
                <a:ext cx="190503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" name="Google Shape;658;p31"/>
              <p:cNvSpPr/>
              <p:nvPr/>
            </p:nvSpPr>
            <p:spPr>
              <a:xfrm>
                <a:off x="184150" y="501650"/>
                <a:ext cx="190501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" name="Google Shape;659;p31"/>
              <p:cNvSpPr/>
              <p:nvPr/>
            </p:nvSpPr>
            <p:spPr>
              <a:xfrm>
                <a:off x="812799" y="438150"/>
                <a:ext cx="190503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" name="Google Shape;660;p31"/>
              <p:cNvSpPr/>
              <p:nvPr/>
            </p:nvSpPr>
            <p:spPr>
              <a:xfrm>
                <a:off x="0" y="0"/>
                <a:ext cx="1143002" cy="762001"/>
              </a:xfrm>
              <a:prstGeom prst="roundRect">
                <a:avLst>
                  <a:gd name="adj" fmla="val 25000"/>
                </a:avLst>
              </a:prstGeom>
              <a:noFill/>
              <a:ln w="25400" cap="flat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661" name="Google Shape;661;p31"/>
            <p:cNvCxnSpPr/>
            <p:nvPr/>
          </p:nvCxnSpPr>
          <p:spPr>
            <a:xfrm rot="10800000" flipH="1">
              <a:off x="891918" y="1028700"/>
              <a:ext cx="284340" cy="482601"/>
            </a:xfrm>
            <a:prstGeom prst="straightConnector1">
              <a:avLst/>
            </a:prstGeom>
            <a:noFill/>
            <a:ln w="254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62" name="Google Shape;662;p31"/>
            <p:cNvCxnSpPr/>
            <p:nvPr/>
          </p:nvCxnSpPr>
          <p:spPr>
            <a:xfrm>
              <a:off x="1791628" y="1028700"/>
              <a:ext cx="286010" cy="482601"/>
            </a:xfrm>
            <a:prstGeom prst="straightConnector1">
              <a:avLst/>
            </a:prstGeom>
            <a:noFill/>
            <a:ln w="254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63" name="Google Shape;663;p31"/>
          <p:cNvSpPr txBox="1"/>
          <p:nvPr/>
        </p:nvSpPr>
        <p:spPr>
          <a:xfrm>
            <a:off x="3940314" y="1780659"/>
            <a:ext cx="1561910" cy="370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Calibri"/>
              <a:buNone/>
            </a:pPr>
            <a:r>
              <a:rPr lang="en-AU" sz="1800" b="1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Split by Gender</a:t>
            </a:r>
            <a:endParaRPr/>
          </a:p>
        </p:txBody>
      </p:sp>
      <p:sp>
        <p:nvSpPr>
          <p:cNvPr id="664" name="Google Shape;664;p31"/>
          <p:cNvSpPr txBox="1"/>
          <p:nvPr/>
        </p:nvSpPr>
        <p:spPr>
          <a:xfrm>
            <a:off x="8626613" y="1780659"/>
            <a:ext cx="1331860" cy="370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Calibri"/>
              <a:buNone/>
            </a:pPr>
            <a:r>
              <a:rPr lang="en-AU" sz="1800" b="1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Split by Class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2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AU" sz="4400" b="0" i="0" u="none" strike="noStrike" cap="none">
                <a:latin typeface="Calibri"/>
                <a:ea typeface="Calibri"/>
                <a:cs typeface="Calibri"/>
                <a:sym typeface="Calibri"/>
              </a:rPr>
              <a:t>Common splitting algorithms: Gini Index</a:t>
            </a:r>
            <a:endParaRPr/>
          </a:p>
        </p:txBody>
      </p:sp>
      <p:sp>
        <p:nvSpPr>
          <p:cNvPr id="670" name="Google Shape;670;p32"/>
          <p:cNvSpPr txBox="1">
            <a:spLocks noGrp="1"/>
          </p:cNvSpPr>
          <p:nvPr>
            <p:ph type="body" idx="1"/>
          </p:nvPr>
        </p:nvSpPr>
        <p:spPr>
          <a:xfrm>
            <a:off x="1267261" y="1524000"/>
            <a:ext cx="10709835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>
                <a:solidFill>
                  <a:srgbClr val="404040"/>
                </a:solidFill>
              </a:rPr>
              <a:t>Split on Gender</a:t>
            </a:r>
            <a:endParaRPr/>
          </a:p>
          <a:p>
            <a:pPr marL="685800" lvl="1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>
                <a:solidFill>
                  <a:srgbClr val="404040"/>
                </a:solidFill>
              </a:rPr>
              <a:t>Gini for sub-node Female = </a:t>
            </a:r>
            <a:r>
              <a:rPr lang="en-AU" b="1" i="1">
                <a:solidFill>
                  <a:srgbClr val="0000FF"/>
                </a:solidFill>
              </a:rPr>
              <a:t>0.2</a:t>
            </a:r>
            <a:r>
              <a:rPr lang="en-AU" b="1" i="1" baseline="30000">
                <a:solidFill>
                  <a:srgbClr val="0000FF"/>
                </a:solidFill>
              </a:rPr>
              <a:t>2 </a:t>
            </a:r>
            <a:r>
              <a:rPr lang="en-AU" b="1" i="1">
                <a:solidFill>
                  <a:srgbClr val="0000FF"/>
                </a:solidFill>
              </a:rPr>
              <a:t>+ 0.8</a:t>
            </a:r>
            <a:r>
              <a:rPr lang="en-AU" b="1" i="1" baseline="30000">
                <a:solidFill>
                  <a:srgbClr val="0000FF"/>
                </a:solidFill>
              </a:rPr>
              <a:t>2 </a:t>
            </a:r>
            <a:r>
              <a:rPr lang="en-AU" b="1" i="1">
                <a:solidFill>
                  <a:srgbClr val="0000FF"/>
                </a:solidFill>
              </a:rPr>
              <a:t>= 0.68</a:t>
            </a:r>
            <a:endParaRPr b="1" i="1">
              <a:solidFill>
                <a:srgbClr val="0000FF"/>
              </a:solidFill>
            </a:endParaRPr>
          </a:p>
          <a:p>
            <a:pPr marL="685800" lvl="1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>
                <a:solidFill>
                  <a:srgbClr val="404040"/>
                </a:solidFill>
              </a:rPr>
              <a:t>Gini for sub-node Male = </a:t>
            </a:r>
            <a:r>
              <a:rPr lang="en-AU" b="1" i="1">
                <a:solidFill>
                  <a:srgbClr val="0000FF"/>
                </a:solidFill>
              </a:rPr>
              <a:t>0.65</a:t>
            </a:r>
            <a:r>
              <a:rPr lang="en-AU" b="1" i="1" baseline="30000">
                <a:solidFill>
                  <a:srgbClr val="0000FF"/>
                </a:solidFill>
              </a:rPr>
              <a:t>2 </a:t>
            </a:r>
            <a:r>
              <a:rPr lang="en-AU" b="1" i="1">
                <a:solidFill>
                  <a:srgbClr val="0000FF"/>
                </a:solidFill>
              </a:rPr>
              <a:t>+ 0.35</a:t>
            </a:r>
            <a:r>
              <a:rPr lang="en-AU" b="1" i="1" baseline="30000">
                <a:solidFill>
                  <a:srgbClr val="0000FF"/>
                </a:solidFill>
              </a:rPr>
              <a:t>2 </a:t>
            </a:r>
            <a:r>
              <a:rPr lang="en-AU" b="1" i="1">
                <a:solidFill>
                  <a:srgbClr val="0000FF"/>
                </a:solidFill>
              </a:rPr>
              <a:t>= 0.55</a:t>
            </a:r>
            <a:br>
              <a:rPr lang="en-AU" b="1" i="1">
                <a:solidFill>
                  <a:srgbClr val="0000FF"/>
                </a:solidFill>
              </a:rPr>
            </a:br>
            <a:endParaRPr b="1" i="1">
              <a:solidFill>
                <a:srgbClr val="0000FF"/>
              </a:solidFill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>
                <a:solidFill>
                  <a:srgbClr val="404040"/>
                </a:solidFill>
              </a:rPr>
              <a:t>Split on Class</a:t>
            </a:r>
            <a:endParaRPr/>
          </a:p>
          <a:p>
            <a:pPr marL="685800" lvl="1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>
                <a:solidFill>
                  <a:srgbClr val="404040"/>
                </a:solidFill>
              </a:rPr>
              <a:t>Gini for sub-node A =</a:t>
            </a:r>
            <a:r>
              <a:rPr lang="en-AU">
                <a:solidFill>
                  <a:srgbClr val="57B7D9"/>
                </a:solidFill>
              </a:rPr>
              <a:t> </a:t>
            </a:r>
            <a:r>
              <a:rPr lang="en-AU" b="1" i="1">
                <a:solidFill>
                  <a:srgbClr val="0000FF"/>
                </a:solidFill>
              </a:rPr>
              <a:t>0.43</a:t>
            </a:r>
            <a:r>
              <a:rPr lang="en-AU" b="1" i="1" baseline="30000">
                <a:solidFill>
                  <a:srgbClr val="0000FF"/>
                </a:solidFill>
              </a:rPr>
              <a:t>2 </a:t>
            </a:r>
            <a:r>
              <a:rPr lang="en-AU" b="1" i="1">
                <a:solidFill>
                  <a:srgbClr val="0000FF"/>
                </a:solidFill>
              </a:rPr>
              <a:t>+ 0.57</a:t>
            </a:r>
            <a:r>
              <a:rPr lang="en-AU" b="1" i="1" baseline="30000">
                <a:solidFill>
                  <a:srgbClr val="0000FF"/>
                </a:solidFill>
              </a:rPr>
              <a:t>2 </a:t>
            </a:r>
            <a:r>
              <a:rPr lang="en-AU" b="1" i="1">
                <a:solidFill>
                  <a:srgbClr val="0000FF"/>
                </a:solidFill>
              </a:rPr>
              <a:t>= 0.51</a:t>
            </a:r>
            <a:endParaRPr b="1" i="1">
              <a:solidFill>
                <a:srgbClr val="0000FF"/>
              </a:solidFill>
            </a:endParaRPr>
          </a:p>
          <a:p>
            <a:pPr marL="685800" lvl="1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>
                <a:solidFill>
                  <a:srgbClr val="404040"/>
                </a:solidFill>
              </a:rPr>
              <a:t>Gini for sub-node B = </a:t>
            </a:r>
            <a:r>
              <a:rPr lang="en-AU" b="1" i="1">
                <a:solidFill>
                  <a:srgbClr val="0000FF"/>
                </a:solidFill>
              </a:rPr>
              <a:t>0.56</a:t>
            </a:r>
            <a:r>
              <a:rPr lang="en-AU" b="1" i="1" baseline="30000">
                <a:solidFill>
                  <a:srgbClr val="0000FF"/>
                </a:solidFill>
              </a:rPr>
              <a:t>2 </a:t>
            </a:r>
            <a:r>
              <a:rPr lang="en-AU" b="1" i="1">
                <a:solidFill>
                  <a:srgbClr val="0000FF"/>
                </a:solidFill>
              </a:rPr>
              <a:t>+ 0.44</a:t>
            </a:r>
            <a:r>
              <a:rPr lang="en-AU" b="1" i="1" baseline="30000">
                <a:solidFill>
                  <a:srgbClr val="0000FF"/>
                </a:solidFill>
              </a:rPr>
              <a:t>2 </a:t>
            </a:r>
            <a:r>
              <a:rPr lang="en-AU" b="1" i="1">
                <a:solidFill>
                  <a:srgbClr val="0000FF"/>
                </a:solidFill>
              </a:rPr>
              <a:t>= 0.51</a:t>
            </a: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3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AU" sz="4400" b="0" i="0" u="none" strike="noStrike" cap="none">
                <a:latin typeface="Calibri"/>
                <a:ea typeface="Calibri"/>
                <a:cs typeface="Calibri"/>
                <a:sym typeface="Calibri"/>
              </a:rPr>
              <a:t>Common splitting algorithms: Gini Index</a:t>
            </a:r>
            <a:endParaRPr/>
          </a:p>
        </p:txBody>
      </p:sp>
      <p:sp>
        <p:nvSpPr>
          <p:cNvPr id="676" name="Google Shape;676;p33"/>
          <p:cNvSpPr txBox="1">
            <a:spLocks noGrp="1"/>
          </p:cNvSpPr>
          <p:nvPr>
            <p:ph type="body" idx="1"/>
          </p:nvPr>
        </p:nvSpPr>
        <p:spPr>
          <a:xfrm>
            <a:off x="1267261" y="1524000"/>
            <a:ext cx="988996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>
                <a:solidFill>
                  <a:srgbClr val="404040"/>
                </a:solidFill>
              </a:rPr>
              <a:t>Split on Gender</a:t>
            </a:r>
            <a:endParaRPr/>
          </a:p>
          <a:p>
            <a:pPr marL="685800" lvl="1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>
                <a:solidFill>
                  <a:srgbClr val="404040"/>
                </a:solidFill>
              </a:rPr>
              <a:t>Gini Weight on Split Gender =</a:t>
            </a:r>
            <a:r>
              <a:rPr lang="en-AU">
                <a:solidFill>
                  <a:srgbClr val="0000FF"/>
                </a:solidFill>
              </a:rPr>
              <a:t> </a:t>
            </a:r>
            <a:r>
              <a:rPr lang="en-AU" b="1" i="1">
                <a:solidFill>
                  <a:srgbClr val="0000FF"/>
                </a:solidFill>
              </a:rPr>
              <a:t>(10/30*0.68)</a:t>
            </a:r>
            <a:r>
              <a:rPr lang="en-AU" b="1" i="1" baseline="30000">
                <a:solidFill>
                  <a:srgbClr val="0000FF"/>
                </a:solidFill>
              </a:rPr>
              <a:t> </a:t>
            </a:r>
            <a:r>
              <a:rPr lang="en-AU" b="1" i="1">
                <a:solidFill>
                  <a:srgbClr val="0000FF"/>
                </a:solidFill>
              </a:rPr>
              <a:t>+ (20/30*0.55)</a:t>
            </a:r>
            <a:r>
              <a:rPr lang="en-AU" b="1" i="1" baseline="30000">
                <a:solidFill>
                  <a:srgbClr val="0000FF"/>
                </a:solidFill>
              </a:rPr>
              <a:t> </a:t>
            </a:r>
            <a:r>
              <a:rPr lang="en-AU" b="1" i="1">
                <a:solidFill>
                  <a:srgbClr val="0000FF"/>
                </a:solidFill>
              </a:rPr>
              <a:t>= 0.59</a:t>
            </a:r>
            <a:br>
              <a:rPr lang="en-AU" b="1" i="1">
                <a:solidFill>
                  <a:srgbClr val="0000FF"/>
                </a:solidFill>
              </a:rPr>
            </a:br>
            <a:endParaRPr b="1" i="1">
              <a:solidFill>
                <a:srgbClr val="0000FF"/>
              </a:solidFill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>
                <a:solidFill>
                  <a:srgbClr val="404040"/>
                </a:solidFill>
              </a:rPr>
              <a:t>Split on Class</a:t>
            </a:r>
            <a:endParaRPr/>
          </a:p>
          <a:p>
            <a:pPr marL="685800" lvl="1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>
                <a:solidFill>
                  <a:srgbClr val="404040"/>
                </a:solidFill>
              </a:rPr>
              <a:t>Gini Weight on Split Class =</a:t>
            </a:r>
            <a:r>
              <a:rPr lang="en-AU">
                <a:solidFill>
                  <a:srgbClr val="57B7D9"/>
                </a:solidFill>
              </a:rPr>
              <a:t> </a:t>
            </a:r>
            <a:r>
              <a:rPr lang="en-AU" b="1" i="1">
                <a:solidFill>
                  <a:srgbClr val="0000FF"/>
                </a:solidFill>
              </a:rPr>
              <a:t>(14/30*0.51)</a:t>
            </a:r>
            <a:r>
              <a:rPr lang="en-AU" b="1" i="1" baseline="30000">
                <a:solidFill>
                  <a:srgbClr val="0000FF"/>
                </a:solidFill>
              </a:rPr>
              <a:t> </a:t>
            </a:r>
            <a:r>
              <a:rPr lang="en-AU" b="1" i="1">
                <a:solidFill>
                  <a:srgbClr val="0000FF"/>
                </a:solidFill>
              </a:rPr>
              <a:t>+ (16/30*0.51)</a:t>
            </a:r>
            <a:r>
              <a:rPr lang="en-AU" b="1" i="1" baseline="30000">
                <a:solidFill>
                  <a:srgbClr val="0000FF"/>
                </a:solidFill>
              </a:rPr>
              <a:t> </a:t>
            </a:r>
            <a:r>
              <a:rPr lang="en-AU" b="1" i="1">
                <a:solidFill>
                  <a:srgbClr val="0000FF"/>
                </a:solidFill>
              </a:rPr>
              <a:t>= 0.51</a:t>
            </a:r>
            <a:br>
              <a:rPr lang="en-AU" b="1" i="1">
                <a:solidFill>
                  <a:srgbClr val="0000FF"/>
                </a:solidFill>
              </a:rPr>
            </a:br>
            <a:endParaRPr b="1" i="1">
              <a:solidFill>
                <a:srgbClr val="0000FF"/>
              </a:solidFill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>
                <a:solidFill>
                  <a:srgbClr val="404040"/>
                </a:solidFill>
              </a:rPr>
              <a:t>The Gini score for on Gender (</a:t>
            </a:r>
            <a:r>
              <a:rPr lang="en-AU" b="1" i="1">
                <a:solidFill>
                  <a:srgbClr val="0000FF"/>
                </a:solidFill>
              </a:rPr>
              <a:t>0.59</a:t>
            </a:r>
            <a:r>
              <a:rPr lang="en-AU">
                <a:solidFill>
                  <a:srgbClr val="404040"/>
                </a:solidFill>
              </a:rPr>
              <a:t>) is higher than on Class (</a:t>
            </a:r>
            <a:r>
              <a:rPr lang="en-AU" b="1" i="1">
                <a:solidFill>
                  <a:srgbClr val="0000FF"/>
                </a:solidFill>
              </a:rPr>
              <a:t>0.51</a:t>
            </a:r>
            <a:r>
              <a:rPr lang="en-AU">
                <a:solidFill>
                  <a:srgbClr val="404040"/>
                </a:solidFill>
              </a:rPr>
              <a:t>) so it splits on Gender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4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3920"/>
              <a:buFont typeface="Calibri"/>
              <a:buNone/>
            </a:pPr>
            <a:r>
              <a:rPr lang="en-AU" sz="3920"/>
              <a:t>Common splitting algorithms: Information Gain</a:t>
            </a:r>
            <a:endParaRPr/>
          </a:p>
        </p:txBody>
      </p:sp>
      <p:grpSp>
        <p:nvGrpSpPr>
          <p:cNvPr id="682" name="Google Shape;682;p34"/>
          <p:cNvGrpSpPr/>
          <p:nvPr/>
        </p:nvGrpSpPr>
        <p:grpSpPr>
          <a:xfrm>
            <a:off x="8327585" y="3815624"/>
            <a:ext cx="1651005" cy="1651001"/>
            <a:chOff x="0" y="0"/>
            <a:chExt cx="1651003" cy="1651000"/>
          </a:xfrm>
        </p:grpSpPr>
        <p:grpSp>
          <p:nvGrpSpPr>
            <p:cNvPr id="683" name="Google Shape;683;p34"/>
            <p:cNvGrpSpPr/>
            <p:nvPr/>
          </p:nvGrpSpPr>
          <p:grpSpPr>
            <a:xfrm>
              <a:off x="307084" y="273809"/>
              <a:ext cx="1036836" cy="1103383"/>
              <a:chOff x="0" y="-1"/>
              <a:chExt cx="1036835" cy="1103381"/>
            </a:xfrm>
          </p:grpSpPr>
          <p:sp>
            <p:nvSpPr>
              <p:cNvPr id="684" name="Google Shape;684;p34"/>
              <p:cNvSpPr/>
              <p:nvPr/>
            </p:nvSpPr>
            <p:spPr>
              <a:xfrm>
                <a:off x="592331" y="150137"/>
                <a:ext cx="190503" cy="190503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34"/>
              <p:cNvSpPr/>
              <p:nvPr/>
            </p:nvSpPr>
            <p:spPr>
              <a:xfrm>
                <a:off x="846332" y="277877"/>
                <a:ext cx="190503" cy="190503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34"/>
              <p:cNvSpPr/>
              <p:nvPr/>
            </p:nvSpPr>
            <p:spPr>
              <a:xfrm>
                <a:off x="720855" y="557277"/>
                <a:ext cx="190503" cy="190503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34"/>
              <p:cNvSpPr/>
              <p:nvPr/>
            </p:nvSpPr>
            <p:spPr>
              <a:xfrm>
                <a:off x="682755" y="798577"/>
                <a:ext cx="190503" cy="190503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34"/>
              <p:cNvSpPr/>
              <p:nvPr/>
            </p:nvSpPr>
            <p:spPr>
              <a:xfrm>
                <a:off x="0" y="426536"/>
                <a:ext cx="190501" cy="190503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34"/>
              <p:cNvSpPr/>
              <p:nvPr/>
            </p:nvSpPr>
            <p:spPr>
              <a:xfrm>
                <a:off x="290576" y="-1"/>
                <a:ext cx="190503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34"/>
              <p:cNvSpPr/>
              <p:nvPr/>
            </p:nvSpPr>
            <p:spPr>
              <a:xfrm>
                <a:off x="442976" y="557277"/>
                <a:ext cx="190503" cy="190503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34"/>
              <p:cNvSpPr/>
              <p:nvPr/>
            </p:nvSpPr>
            <p:spPr>
              <a:xfrm>
                <a:off x="417576" y="912877"/>
                <a:ext cx="190503" cy="190503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34"/>
              <p:cNvSpPr/>
              <p:nvPr/>
            </p:nvSpPr>
            <p:spPr>
              <a:xfrm>
                <a:off x="334265" y="297688"/>
                <a:ext cx="190503" cy="190503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34"/>
              <p:cNvSpPr/>
              <p:nvPr/>
            </p:nvSpPr>
            <p:spPr>
              <a:xfrm>
                <a:off x="127000" y="722377"/>
                <a:ext cx="190501" cy="190503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34"/>
              <p:cNvSpPr/>
              <p:nvPr/>
            </p:nvSpPr>
            <p:spPr>
              <a:xfrm>
                <a:off x="76200" y="150137"/>
                <a:ext cx="190501" cy="190503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5" name="Google Shape;695;p34"/>
            <p:cNvGrpSpPr/>
            <p:nvPr/>
          </p:nvGrpSpPr>
          <p:grpSpPr>
            <a:xfrm>
              <a:off x="0" y="0"/>
              <a:ext cx="1651003" cy="1651000"/>
              <a:chOff x="0" y="0"/>
              <a:chExt cx="1651002" cy="1651000"/>
            </a:xfrm>
          </p:grpSpPr>
          <p:sp>
            <p:nvSpPr>
              <p:cNvPr id="696" name="Google Shape;696;p34"/>
              <p:cNvSpPr/>
              <p:nvPr/>
            </p:nvSpPr>
            <p:spPr>
              <a:xfrm>
                <a:off x="0" y="0"/>
                <a:ext cx="1651002" cy="1651000"/>
              </a:xfrm>
              <a:prstGeom prst="ellipse">
                <a:avLst/>
              </a:prstGeom>
              <a:noFill/>
              <a:ln w="25400" cap="flat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" name="Google Shape;697;p34"/>
              <p:cNvSpPr txBox="1"/>
              <p:nvPr/>
            </p:nvSpPr>
            <p:spPr>
              <a:xfrm>
                <a:off x="241782" y="241783"/>
                <a:ext cx="1167437" cy="3962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0" tIns="45700" rIns="45700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lang="en-AU" sz="20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/>
              </a:p>
            </p:txBody>
          </p:sp>
        </p:grpSp>
      </p:grpSp>
      <p:grpSp>
        <p:nvGrpSpPr>
          <p:cNvPr id="698" name="Google Shape;698;p34"/>
          <p:cNvGrpSpPr/>
          <p:nvPr/>
        </p:nvGrpSpPr>
        <p:grpSpPr>
          <a:xfrm>
            <a:off x="5529978" y="3815624"/>
            <a:ext cx="1651001" cy="1651001"/>
            <a:chOff x="0" y="0"/>
            <a:chExt cx="1651000" cy="1651000"/>
          </a:xfrm>
        </p:grpSpPr>
        <p:grpSp>
          <p:nvGrpSpPr>
            <p:cNvPr id="699" name="Google Shape;699;p34"/>
            <p:cNvGrpSpPr/>
            <p:nvPr/>
          </p:nvGrpSpPr>
          <p:grpSpPr>
            <a:xfrm>
              <a:off x="307082" y="273809"/>
              <a:ext cx="1036837" cy="1103383"/>
              <a:chOff x="0" y="-1"/>
              <a:chExt cx="1036835" cy="1103381"/>
            </a:xfrm>
          </p:grpSpPr>
          <p:sp>
            <p:nvSpPr>
              <p:cNvPr id="700" name="Google Shape;700;p34"/>
              <p:cNvSpPr/>
              <p:nvPr/>
            </p:nvSpPr>
            <p:spPr>
              <a:xfrm>
                <a:off x="592332" y="150137"/>
                <a:ext cx="190503" cy="190503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34"/>
              <p:cNvSpPr/>
              <p:nvPr/>
            </p:nvSpPr>
            <p:spPr>
              <a:xfrm>
                <a:off x="846332" y="277877"/>
                <a:ext cx="190503" cy="190503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34"/>
              <p:cNvSpPr/>
              <p:nvPr/>
            </p:nvSpPr>
            <p:spPr>
              <a:xfrm>
                <a:off x="720855" y="557277"/>
                <a:ext cx="190503" cy="190503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34"/>
              <p:cNvSpPr/>
              <p:nvPr/>
            </p:nvSpPr>
            <p:spPr>
              <a:xfrm>
                <a:off x="682755" y="798577"/>
                <a:ext cx="190503" cy="190503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34"/>
              <p:cNvSpPr/>
              <p:nvPr/>
            </p:nvSpPr>
            <p:spPr>
              <a:xfrm>
                <a:off x="0" y="426536"/>
                <a:ext cx="190501" cy="190503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34"/>
              <p:cNvSpPr/>
              <p:nvPr/>
            </p:nvSpPr>
            <p:spPr>
              <a:xfrm>
                <a:off x="290577" y="-1"/>
                <a:ext cx="190503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34"/>
              <p:cNvSpPr/>
              <p:nvPr/>
            </p:nvSpPr>
            <p:spPr>
              <a:xfrm>
                <a:off x="442977" y="557277"/>
                <a:ext cx="190503" cy="190503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34"/>
              <p:cNvSpPr/>
              <p:nvPr/>
            </p:nvSpPr>
            <p:spPr>
              <a:xfrm>
                <a:off x="417577" y="912877"/>
                <a:ext cx="190503" cy="190503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34"/>
              <p:cNvSpPr/>
              <p:nvPr/>
            </p:nvSpPr>
            <p:spPr>
              <a:xfrm>
                <a:off x="334266" y="297688"/>
                <a:ext cx="190503" cy="190503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34"/>
              <p:cNvSpPr/>
              <p:nvPr/>
            </p:nvSpPr>
            <p:spPr>
              <a:xfrm>
                <a:off x="127000" y="722377"/>
                <a:ext cx="190501" cy="190503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34"/>
              <p:cNvSpPr/>
              <p:nvPr/>
            </p:nvSpPr>
            <p:spPr>
              <a:xfrm>
                <a:off x="76200" y="150137"/>
                <a:ext cx="190501" cy="190503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1" name="Google Shape;711;p34"/>
            <p:cNvGrpSpPr/>
            <p:nvPr/>
          </p:nvGrpSpPr>
          <p:grpSpPr>
            <a:xfrm>
              <a:off x="0" y="0"/>
              <a:ext cx="1651000" cy="1651000"/>
              <a:chOff x="0" y="0"/>
              <a:chExt cx="1651000" cy="1651000"/>
            </a:xfrm>
          </p:grpSpPr>
          <p:sp>
            <p:nvSpPr>
              <p:cNvPr id="712" name="Google Shape;712;p34"/>
              <p:cNvSpPr/>
              <p:nvPr/>
            </p:nvSpPr>
            <p:spPr>
              <a:xfrm>
                <a:off x="0" y="0"/>
                <a:ext cx="1651000" cy="1651000"/>
              </a:xfrm>
              <a:prstGeom prst="ellipse">
                <a:avLst/>
              </a:prstGeom>
              <a:noFill/>
              <a:ln w="25400" cap="flat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" name="Google Shape;713;p34"/>
              <p:cNvSpPr txBox="1"/>
              <p:nvPr/>
            </p:nvSpPr>
            <p:spPr>
              <a:xfrm>
                <a:off x="241783" y="241783"/>
                <a:ext cx="1167434" cy="3962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0" tIns="45700" rIns="45700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lang="en-AU" sz="20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</p:grpSp>
      </p:grpSp>
      <p:grpSp>
        <p:nvGrpSpPr>
          <p:cNvPr id="714" name="Google Shape;714;p34"/>
          <p:cNvGrpSpPr/>
          <p:nvPr/>
        </p:nvGrpSpPr>
        <p:grpSpPr>
          <a:xfrm>
            <a:off x="2732370" y="3815624"/>
            <a:ext cx="1651005" cy="1651001"/>
            <a:chOff x="0" y="0"/>
            <a:chExt cx="1651003" cy="1651000"/>
          </a:xfrm>
        </p:grpSpPr>
        <p:grpSp>
          <p:nvGrpSpPr>
            <p:cNvPr id="715" name="Google Shape;715;p34"/>
            <p:cNvGrpSpPr/>
            <p:nvPr/>
          </p:nvGrpSpPr>
          <p:grpSpPr>
            <a:xfrm>
              <a:off x="307084" y="273809"/>
              <a:ext cx="1036836" cy="1103383"/>
              <a:chOff x="0" y="-1"/>
              <a:chExt cx="1036835" cy="1103381"/>
            </a:xfrm>
          </p:grpSpPr>
          <p:sp>
            <p:nvSpPr>
              <p:cNvPr id="716" name="Google Shape;716;p34"/>
              <p:cNvSpPr/>
              <p:nvPr/>
            </p:nvSpPr>
            <p:spPr>
              <a:xfrm>
                <a:off x="592331" y="150137"/>
                <a:ext cx="190503" cy="190503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34"/>
              <p:cNvSpPr/>
              <p:nvPr/>
            </p:nvSpPr>
            <p:spPr>
              <a:xfrm>
                <a:off x="846332" y="277877"/>
                <a:ext cx="190503" cy="190503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34"/>
              <p:cNvSpPr/>
              <p:nvPr/>
            </p:nvSpPr>
            <p:spPr>
              <a:xfrm>
                <a:off x="720855" y="557277"/>
                <a:ext cx="190503" cy="190503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34"/>
              <p:cNvSpPr/>
              <p:nvPr/>
            </p:nvSpPr>
            <p:spPr>
              <a:xfrm>
                <a:off x="682755" y="798577"/>
                <a:ext cx="190503" cy="190503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34"/>
              <p:cNvSpPr/>
              <p:nvPr/>
            </p:nvSpPr>
            <p:spPr>
              <a:xfrm>
                <a:off x="0" y="426536"/>
                <a:ext cx="190501" cy="190503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34"/>
              <p:cNvSpPr/>
              <p:nvPr/>
            </p:nvSpPr>
            <p:spPr>
              <a:xfrm>
                <a:off x="290577" y="-1"/>
                <a:ext cx="190503" cy="190501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34"/>
              <p:cNvSpPr/>
              <p:nvPr/>
            </p:nvSpPr>
            <p:spPr>
              <a:xfrm>
                <a:off x="442977" y="557277"/>
                <a:ext cx="190503" cy="190503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34"/>
              <p:cNvSpPr/>
              <p:nvPr/>
            </p:nvSpPr>
            <p:spPr>
              <a:xfrm>
                <a:off x="417577" y="912877"/>
                <a:ext cx="190503" cy="190503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34"/>
              <p:cNvSpPr/>
              <p:nvPr/>
            </p:nvSpPr>
            <p:spPr>
              <a:xfrm>
                <a:off x="334266" y="297688"/>
                <a:ext cx="190503" cy="190503"/>
              </a:xfrm>
              <a:prstGeom prst="ellipse">
                <a:avLst/>
              </a:prstGeom>
              <a:solidFill>
                <a:srgbClr val="FF26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34"/>
              <p:cNvSpPr/>
              <p:nvPr/>
            </p:nvSpPr>
            <p:spPr>
              <a:xfrm>
                <a:off x="127000" y="722377"/>
                <a:ext cx="190501" cy="190503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34"/>
              <p:cNvSpPr/>
              <p:nvPr/>
            </p:nvSpPr>
            <p:spPr>
              <a:xfrm>
                <a:off x="76200" y="150137"/>
                <a:ext cx="190501" cy="190503"/>
              </a:xfrm>
              <a:prstGeom prst="ellipse">
                <a:avLst/>
              </a:prstGeom>
              <a:solidFill>
                <a:srgbClr val="00F900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7" name="Google Shape;727;p34"/>
            <p:cNvGrpSpPr/>
            <p:nvPr/>
          </p:nvGrpSpPr>
          <p:grpSpPr>
            <a:xfrm>
              <a:off x="0" y="0"/>
              <a:ext cx="1651003" cy="1651000"/>
              <a:chOff x="0" y="0"/>
              <a:chExt cx="1651002" cy="1651000"/>
            </a:xfrm>
          </p:grpSpPr>
          <p:sp>
            <p:nvSpPr>
              <p:cNvPr id="728" name="Google Shape;728;p34"/>
              <p:cNvSpPr/>
              <p:nvPr/>
            </p:nvSpPr>
            <p:spPr>
              <a:xfrm>
                <a:off x="0" y="0"/>
                <a:ext cx="1651002" cy="1651000"/>
              </a:xfrm>
              <a:prstGeom prst="ellipse">
                <a:avLst/>
              </a:prstGeom>
              <a:noFill/>
              <a:ln w="25400" cap="flat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34"/>
              <p:cNvSpPr txBox="1"/>
              <p:nvPr/>
            </p:nvSpPr>
            <p:spPr>
              <a:xfrm>
                <a:off x="241782" y="241783"/>
                <a:ext cx="1167437" cy="3962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0" tIns="45700" rIns="45700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lang="en-AU" sz="20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</p:grpSp>
      </p:grpSp>
      <p:sp>
        <p:nvSpPr>
          <p:cNvPr id="730" name="Google Shape;730;p34"/>
          <p:cNvSpPr txBox="1"/>
          <p:nvPr/>
        </p:nvSpPr>
        <p:spPr>
          <a:xfrm>
            <a:off x="1275478" y="1529623"/>
            <a:ext cx="10795001" cy="4329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AU" sz="2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Which image is easier to describe?</a:t>
            </a:r>
            <a:endParaRPr/>
          </a:p>
          <a:p>
            <a:pPr marL="6858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AU" sz="2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 requires the maximum information (A is more impure)</a:t>
            </a:r>
            <a:endParaRPr/>
          </a:p>
          <a:p>
            <a:pPr marL="6858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AU" sz="2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B requires more information to describe it (B is less Pure than C)</a:t>
            </a:r>
            <a:endParaRPr/>
          </a:p>
          <a:p>
            <a:pPr marL="6858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AU" sz="2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 requires less information as all values are similar or the same (C is a Pure node)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35"/>
          <p:cNvSpPr txBox="1">
            <a:spLocks noGrp="1"/>
          </p:cNvSpPr>
          <p:nvPr>
            <p:ph type="title"/>
          </p:nvPr>
        </p:nvSpPr>
        <p:spPr>
          <a:xfrm>
            <a:off x="1269998" y="377099"/>
            <a:ext cx="10709838" cy="9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3920"/>
              <a:buFont typeface="Calibri"/>
              <a:buNone/>
            </a:pPr>
            <a:r>
              <a:rPr lang="en-AU" sz="3920"/>
              <a:t>Common splitting algorithms: Information Gain</a:t>
            </a:r>
            <a:endParaRPr/>
          </a:p>
        </p:txBody>
      </p:sp>
      <p:sp>
        <p:nvSpPr>
          <p:cNvPr id="736" name="Google Shape;736;p35"/>
          <p:cNvSpPr txBox="1">
            <a:spLocks noGrp="1"/>
          </p:cNvSpPr>
          <p:nvPr>
            <p:ph type="body" idx="1"/>
          </p:nvPr>
        </p:nvSpPr>
        <p:spPr>
          <a:xfrm>
            <a:off x="1270000" y="1519534"/>
            <a:ext cx="10709834" cy="4645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>
                <a:solidFill>
                  <a:srgbClr val="404040"/>
                </a:solidFill>
              </a:rPr>
              <a:t>Used with splitting the data using entropy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>
                <a:solidFill>
                  <a:srgbClr val="404040"/>
                </a:solidFill>
              </a:rPr>
              <a:t>Calculated as the entropy reduction after the dataset is branched on some attribute</a:t>
            </a:r>
            <a:endParaRPr/>
          </a:p>
        </p:txBody>
      </p:sp>
      <p:sp>
        <p:nvSpPr>
          <p:cNvPr id="737" name="Google Shape;737;p35"/>
          <p:cNvSpPr txBox="1"/>
          <p:nvPr/>
        </p:nvSpPr>
        <p:spPr>
          <a:xfrm>
            <a:off x="2230752" y="3299417"/>
            <a:ext cx="8804526" cy="241110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64" t="-1046" r="-1151" b="-523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r>
              <a:rPr lang="en-AU" sz="1400" b="0" i="0" u="none" strike="noStrike" cap="non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36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3920"/>
              <a:buFont typeface="Calibri"/>
              <a:buNone/>
            </a:pPr>
            <a:r>
              <a:rPr lang="en-AU" sz="3920"/>
              <a:t>Common splitting algorithms: Information Gain</a:t>
            </a:r>
            <a:endParaRPr/>
          </a:p>
        </p:txBody>
      </p:sp>
      <p:sp>
        <p:nvSpPr>
          <p:cNvPr id="743" name="Google Shape;743;p36"/>
          <p:cNvSpPr txBox="1">
            <a:spLocks noGrp="1"/>
          </p:cNvSpPr>
          <p:nvPr>
            <p:ph type="body" idx="1"/>
          </p:nvPr>
        </p:nvSpPr>
        <p:spPr>
          <a:xfrm>
            <a:off x="1270000" y="1523999"/>
            <a:ext cx="10709834" cy="482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/>
              <a:t>So less impure node requires less information to describe it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/>
              <a:t>A more impure node requires more information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/>
              <a:t>Information theory is a measure to define this degree of </a:t>
            </a:r>
            <a:r>
              <a:rPr lang="en-AU" b="1">
                <a:solidFill>
                  <a:srgbClr val="0000FF"/>
                </a:solidFill>
              </a:rPr>
              <a:t>disorganisation</a:t>
            </a:r>
            <a:r>
              <a:rPr lang="en-AU">
                <a:solidFill>
                  <a:srgbClr val="0000FF"/>
                </a:solidFill>
              </a:rPr>
              <a:t> </a:t>
            </a:r>
            <a:r>
              <a:rPr lang="en-AU"/>
              <a:t>in a system known as Entropy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8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3920"/>
              <a:buFont typeface="Calibri"/>
              <a:buNone/>
            </a:pPr>
            <a:r>
              <a:rPr lang="en-AU" sz="3920"/>
              <a:t>Common splitting algorithms: Information Gain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56" name="Google Shape;756;p38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70000" y="1523999"/>
                <a:ext cx="10704358" cy="48277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normAutofit/>
              </a:bodyPr>
              <a:lstStyle/>
              <a:p>
                <a:pPr marL="22860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ts val="2400"/>
                  <a:buChar char="•"/>
                </a:pPr>
                <a:r>
                  <a:rPr lang="en-US" dirty="0">
                    <a:solidFill>
                      <a:srgbClr val="404040"/>
                    </a:solidFill>
                  </a:rPr>
                  <a:t>Categorical target variables also use entropy</a:t>
                </a:r>
                <a:endParaRPr lang="en-US" dirty="0"/>
              </a:p>
              <a:p>
                <a:pPr marL="685800" lvl="1" indent="-228600">
                  <a:lnSpc>
                    <a:spcPct val="100000"/>
                  </a:lnSpc>
                  <a:spcBef>
                    <a:spcPts val="3000"/>
                  </a:spcBef>
                  <a:buClr>
                    <a:srgbClr val="0000FF"/>
                  </a:buClr>
                </a:pPr>
                <a:r>
                  <a:rPr lang="en-US" dirty="0">
                    <a:solidFill>
                      <a:srgbClr val="404040"/>
                    </a:solidFill>
                  </a:rPr>
                  <a:t>It chooses the split which has the lowest entropy compared to the parent node and other splits</a:t>
                </a:r>
                <a:endParaRPr lang="en-US" dirty="0"/>
              </a:p>
              <a:p>
                <a:pPr marL="228600" lvl="0" indent="-228600">
                  <a:lnSpc>
                    <a:spcPct val="100000"/>
                  </a:lnSpc>
                  <a:spcBef>
                    <a:spcPts val="3000"/>
                  </a:spcBef>
                  <a:buClr>
                    <a:srgbClr val="0000FF"/>
                  </a:buClr>
                </a:pPr>
                <a:r>
                  <a:rPr lang="en-US" dirty="0">
                    <a:solidFill>
                      <a:srgbClr val="404040"/>
                    </a:solidFill>
                  </a:rPr>
                  <a:t>Entropy can be calculated using the formula:</a:t>
                </a:r>
                <a:br>
                  <a:rPr lang="en-US" dirty="0">
                    <a:solidFill>
                      <a:srgbClr val="404040"/>
                    </a:solidFill>
                  </a:rPr>
                </a:b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lvl="0" indent="0">
                  <a:lnSpc>
                    <a:spcPct val="100000"/>
                  </a:lnSpc>
                  <a:spcBef>
                    <a:spcPts val="3000"/>
                  </a:spcBef>
                  <a:buClr>
                    <a:srgbClr val="0000FF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𝑝</m:t>
                      </m:r>
                      <m:func>
                        <m:func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func>
                      <m:r>
                        <a:rPr lang="en-US" sz="3200" b="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𝑞</m:t>
                      </m:r>
                      <m:func>
                        <m:func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sz="32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func>
                    </m:oMath>
                  </m:oMathPara>
                </a14:m>
                <a:endParaRPr sz="3200" dirty="0"/>
              </a:p>
            </p:txBody>
          </p:sp>
        </mc:Choice>
        <mc:Fallback>
          <p:sp>
            <p:nvSpPr>
              <p:cNvPr id="756" name="Google Shape;756;p38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70000" y="1523999"/>
                <a:ext cx="10704358" cy="4827709"/>
              </a:xfrm>
              <a:prstGeom prst="rect">
                <a:avLst/>
              </a:prstGeom>
              <a:blipFill>
                <a:blip r:embed="rId3"/>
                <a:stretch>
                  <a:fillRect l="-1196" t="-1010" r="-5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92684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8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3920"/>
              <a:buFont typeface="Calibri"/>
              <a:buNone/>
            </a:pPr>
            <a:r>
              <a:rPr lang="en-AU" sz="3920"/>
              <a:t>Common splitting algorithms: Information Gain</a:t>
            </a:r>
            <a:endParaRPr/>
          </a:p>
        </p:txBody>
      </p:sp>
      <p:sp>
        <p:nvSpPr>
          <p:cNvPr id="756" name="Google Shape;756;p38"/>
          <p:cNvSpPr txBox="1">
            <a:spLocks noGrp="1"/>
          </p:cNvSpPr>
          <p:nvPr>
            <p:ph type="body" idx="1"/>
          </p:nvPr>
        </p:nvSpPr>
        <p:spPr>
          <a:xfrm>
            <a:off x="1270000" y="1523999"/>
            <a:ext cx="10704358" cy="482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 dirty="0">
                <a:solidFill>
                  <a:srgbClr val="404040"/>
                </a:solidFill>
              </a:rPr>
              <a:t>If the sample is entirely homogeneous, then the entropy is zero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 dirty="0">
                <a:solidFill>
                  <a:srgbClr val="404040"/>
                </a:solidFill>
              </a:rPr>
              <a:t>If the sample is an equally divided (50% / 50%), it has an entropy of one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 dirty="0">
                <a:solidFill>
                  <a:srgbClr val="404040"/>
                </a:solidFill>
              </a:rPr>
              <a:t>Where </a:t>
            </a:r>
            <a:r>
              <a:rPr lang="en-AU" b="1" i="1" dirty="0">
                <a:solidFill>
                  <a:srgbClr val="0000FF"/>
                </a:solidFill>
              </a:rPr>
              <a:t>p</a:t>
            </a:r>
            <a:r>
              <a:rPr lang="en-AU" dirty="0">
                <a:solidFill>
                  <a:srgbClr val="404040"/>
                </a:solidFill>
              </a:rPr>
              <a:t> and </a:t>
            </a:r>
            <a:r>
              <a:rPr lang="en-AU" b="1" i="1" dirty="0">
                <a:solidFill>
                  <a:srgbClr val="0000FF"/>
                </a:solidFill>
              </a:rPr>
              <a:t>q</a:t>
            </a:r>
            <a:r>
              <a:rPr lang="en-AU" dirty="0">
                <a:solidFill>
                  <a:srgbClr val="404040"/>
                </a:solidFill>
              </a:rPr>
              <a:t> are the probability of success and failure respectively in that node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 dirty="0">
                <a:solidFill>
                  <a:srgbClr val="404040"/>
                </a:solidFill>
              </a:rPr>
              <a:t>The lesser the entropy, the better it is</a:t>
            </a:r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9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3920"/>
              <a:buFont typeface="Calibri"/>
              <a:buNone/>
            </a:pPr>
            <a:r>
              <a:rPr lang="en-AU" sz="3920"/>
              <a:t>Common splitting algorithms: Information Gain</a:t>
            </a:r>
            <a:endParaRPr/>
          </a:p>
        </p:txBody>
      </p:sp>
      <p:sp>
        <p:nvSpPr>
          <p:cNvPr id="762" name="Google Shape;762;p39"/>
          <p:cNvSpPr txBox="1">
            <a:spLocks noGrp="1"/>
          </p:cNvSpPr>
          <p:nvPr>
            <p:ph type="body" idx="1"/>
          </p:nvPr>
        </p:nvSpPr>
        <p:spPr>
          <a:xfrm>
            <a:off x="1270000" y="1524000"/>
            <a:ext cx="10709834" cy="446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AU">
                <a:solidFill>
                  <a:srgbClr val="404040"/>
                </a:solidFill>
              </a:rPr>
              <a:t>Steps to calculate Entropy for a split</a:t>
            </a:r>
            <a:endParaRPr/>
          </a:p>
          <a:p>
            <a:pPr marL="828842" lvl="1" indent="-320841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alibri"/>
              <a:buAutoNum type="arabicPeriod"/>
            </a:pPr>
            <a:r>
              <a:rPr lang="en-AU">
                <a:solidFill>
                  <a:srgbClr val="404040"/>
                </a:solidFill>
              </a:rPr>
              <a:t>Calculate entropy of the parent node</a:t>
            </a:r>
            <a:endParaRPr/>
          </a:p>
          <a:p>
            <a:pPr marL="828842" lvl="1" indent="-320841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alibri"/>
              <a:buAutoNum type="arabicPeriod"/>
            </a:pPr>
            <a:r>
              <a:rPr lang="en-AU">
                <a:solidFill>
                  <a:srgbClr val="404040"/>
                </a:solidFill>
              </a:rPr>
              <a:t>Calculate entropy of each node of split and calculate the weighted average of all sub-nodes available in split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40"/>
          <p:cNvSpPr txBox="1"/>
          <p:nvPr/>
        </p:nvSpPr>
        <p:spPr>
          <a:xfrm>
            <a:off x="1267261" y="1523999"/>
            <a:ext cx="10709835" cy="482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320841" marR="0" lvl="0" indent="-32084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alibri"/>
              <a:buAutoNum type="arabicPeriod"/>
            </a:pPr>
            <a:r>
              <a:rPr lang="en-AU" sz="2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Parent node’s entropy = </a:t>
            </a:r>
            <a:r>
              <a:rPr lang="en-AU" sz="2400" b="1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-(15/30) log</a:t>
            </a:r>
            <a:r>
              <a:rPr lang="en-AU" sz="2400" b="1" i="1" u="none" strike="noStrike" cap="none" baseline="-25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AU" sz="2400" b="1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(15/30) -(15/30) log</a:t>
            </a:r>
            <a:r>
              <a:rPr lang="en-AU" sz="2400" b="1" i="1" u="none" strike="noStrike" cap="none" baseline="-25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AU" sz="2400" b="1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(15/30) = 1</a:t>
            </a:r>
            <a:endParaRPr sz="1400" b="1" i="1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21631" marR="0" lvl="1" indent="-24063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Calibri"/>
              <a:buChar char="•"/>
            </a:pPr>
            <a:r>
              <a:rPr lang="en-AU" sz="21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The result of 1 shows an impure node</a:t>
            </a:r>
            <a:br>
              <a:rPr lang="en-AU" sz="21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20841" marR="0" lvl="0" indent="-320841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alibri"/>
              <a:buAutoNum type="arabicPeriod"/>
            </a:pPr>
            <a:r>
              <a:rPr lang="en-AU" sz="2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Gender’s entropy</a:t>
            </a:r>
            <a:endParaRPr/>
          </a:p>
          <a:p>
            <a:pPr marL="1371600" marR="0" lvl="2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Calibri"/>
              <a:buChar char="■"/>
            </a:pPr>
            <a:r>
              <a:rPr lang="en-AU" sz="21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Female =</a:t>
            </a:r>
            <a:r>
              <a:rPr lang="en-AU" sz="21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AU" sz="2100" b="1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-(2/10) log</a:t>
            </a:r>
            <a:r>
              <a:rPr lang="en-AU" sz="2100" b="1" i="1" u="none" strike="noStrike" cap="none" baseline="-25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AU" sz="2100" b="1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(2/10) -(8/10) log</a:t>
            </a:r>
            <a:r>
              <a:rPr lang="en-AU" sz="2100" b="1" i="1" u="none" strike="noStrike" cap="none" baseline="-25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AU" sz="2100" b="1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(8/10) = 0.72</a:t>
            </a:r>
            <a:endParaRPr>
              <a:solidFill>
                <a:srgbClr val="0000FF"/>
              </a:solidFill>
            </a:endParaRPr>
          </a:p>
          <a:p>
            <a:pPr marL="1371600" marR="0" lvl="2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Calibri"/>
              <a:buChar char="■"/>
            </a:pPr>
            <a:r>
              <a:rPr lang="en-AU" sz="21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Male = </a:t>
            </a:r>
            <a:r>
              <a:rPr lang="en-AU" sz="2100" b="1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-(13/20) log</a:t>
            </a:r>
            <a:r>
              <a:rPr lang="en-AU" sz="2100" b="1" i="1" u="none" strike="noStrike" cap="none" baseline="-25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AU" sz="2100" b="1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(13/20) -(7/20) log</a:t>
            </a:r>
            <a:r>
              <a:rPr lang="en-AU" sz="2100" b="1" i="1" u="none" strike="noStrike" cap="none" baseline="-25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AU" sz="2100" b="1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(7/30) = 0.93</a:t>
            </a:r>
            <a:br>
              <a:rPr lang="en-AU" sz="2100" b="1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1" i="1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20841" marR="0" lvl="0" indent="-320841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alibri"/>
              <a:buAutoNum type="arabicPeriod" startAt="3"/>
            </a:pPr>
            <a:r>
              <a:rPr lang="en-AU" sz="2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Entropy for split Gender(Weighted entropy) = </a:t>
            </a:r>
            <a:br>
              <a:rPr lang="en-AU" sz="2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AU" sz="2400" b="1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(10/30) * 0.72 + (20/30) * 0.93 = </a:t>
            </a:r>
            <a:r>
              <a:rPr lang="en-AU" sz="2400" b="1" i="1" u="sng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0.86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768" name="Google Shape;768;p40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3920"/>
              <a:buFont typeface="Calibri"/>
              <a:buNone/>
            </a:pPr>
            <a:r>
              <a:rPr lang="en-AU" sz="3920"/>
              <a:t>Common splitting algorithms: Information Gain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1"/>
          <p:cNvSpPr txBox="1"/>
          <p:nvPr/>
        </p:nvSpPr>
        <p:spPr>
          <a:xfrm>
            <a:off x="1267261" y="1529623"/>
            <a:ext cx="10220281" cy="482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320841" marR="0" lvl="0" indent="-32084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alibri"/>
              <a:buAutoNum type="arabicPeriod"/>
            </a:pPr>
            <a:r>
              <a:rPr lang="en-AU" sz="2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Entropy for Class</a:t>
            </a:r>
            <a:endParaRPr/>
          </a:p>
          <a:p>
            <a:pPr marL="828842" marR="0" lvl="1" indent="-32084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Calibri"/>
              <a:buAutoNum type="arabicPeriod"/>
            </a:pPr>
            <a:r>
              <a:rPr lang="en-AU" sz="21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 = </a:t>
            </a:r>
            <a:r>
              <a:rPr lang="en-AU" sz="2100" b="1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-(6/14) log</a:t>
            </a:r>
            <a:r>
              <a:rPr lang="en-AU" sz="2100" b="1" i="1" u="none" strike="noStrike" cap="none" baseline="-25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AU" sz="2100" b="1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(6/14) -(8/14) log</a:t>
            </a:r>
            <a:r>
              <a:rPr lang="en-AU" sz="2100" b="1" i="1" u="none" strike="noStrike" cap="none" baseline="-25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AU" sz="2100" b="1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(8/14) = 0.99</a:t>
            </a:r>
            <a:endParaRPr>
              <a:solidFill>
                <a:srgbClr val="0000FF"/>
              </a:solidFill>
            </a:endParaRPr>
          </a:p>
          <a:p>
            <a:pPr marL="828842" marR="0" lvl="1" indent="-32084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Calibri"/>
              <a:buAutoNum type="arabicPeriod"/>
            </a:pPr>
            <a:r>
              <a:rPr lang="en-AU" sz="21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B =</a:t>
            </a:r>
            <a:r>
              <a:rPr lang="en-AU" sz="2100" b="0" i="0" u="none" strike="noStrike" cap="none">
                <a:solidFill>
                  <a:srgbClr val="57B7D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AU" sz="2100" b="1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-(9/16) log</a:t>
            </a:r>
            <a:r>
              <a:rPr lang="en-AU" sz="2100" b="1" i="1" u="none" strike="noStrike" cap="none" baseline="-25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AU" sz="2100" b="1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(9/16) -(7/16) log</a:t>
            </a:r>
            <a:r>
              <a:rPr lang="en-AU" sz="2100" b="1" i="1" u="none" strike="noStrike" cap="none" baseline="-25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AU" sz="2100" b="1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(7/16) = 0.99</a:t>
            </a:r>
            <a:br>
              <a:rPr lang="en-AU" sz="2100" b="1" i="1" u="none" strike="noStrike" cap="none">
                <a:solidFill>
                  <a:srgbClr val="57B7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1" i="1" u="none" strike="noStrike" cap="non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20841" marR="0" lvl="0" indent="-320841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alibri"/>
              <a:buAutoNum type="arabicPeriod"/>
            </a:pPr>
            <a:r>
              <a:rPr lang="en-AU" sz="2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Entropy for split Class = </a:t>
            </a:r>
            <a:r>
              <a:rPr lang="en-AU" sz="2400" b="1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(14/30) * 0.99 + (16/30) * 0.99 = </a:t>
            </a:r>
            <a:r>
              <a:rPr lang="en-AU" sz="2400" b="1" i="1" u="sng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0.99</a:t>
            </a:r>
            <a:endParaRPr sz="1400" b="1" i="1" u="sng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0631" marR="0" lvl="0" indent="-24063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Calibri"/>
              <a:buChar char="•"/>
            </a:pPr>
            <a:r>
              <a:rPr lang="en-AU" sz="21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The tree splits on Gender as the Entropy for Split on Gender is the lowest among all</a:t>
            </a:r>
            <a:endParaRPr/>
          </a:p>
        </p:txBody>
      </p:sp>
      <p:sp>
        <p:nvSpPr>
          <p:cNvPr id="774" name="Google Shape;774;p41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3920"/>
              <a:buFont typeface="Calibri"/>
              <a:buNone/>
            </a:pPr>
            <a:r>
              <a:rPr lang="en-AU" sz="3920"/>
              <a:t>Common splitting algorithms: Information Gain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42"/>
          <p:cNvSpPr txBox="1">
            <a:spLocks noGrp="1"/>
          </p:cNvSpPr>
          <p:nvPr>
            <p:ph type="ctrTitle"/>
          </p:nvPr>
        </p:nvSpPr>
        <p:spPr>
          <a:xfrm>
            <a:off x="1524000" y="149085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AU" b="1"/>
              <a:t>End of Presentation</a:t>
            </a:r>
            <a:endParaRPr b="1"/>
          </a:p>
        </p:txBody>
      </p:sp>
      <p:sp>
        <p:nvSpPr>
          <p:cNvPr id="780" name="Google Shape;780;p4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AU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Custom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Custom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2848</Words>
  <Application>Microsoft Office PowerPoint</Application>
  <PresentationFormat>Widescreen</PresentationFormat>
  <Paragraphs>336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Calibri</vt:lpstr>
      <vt:lpstr>Cambria</vt:lpstr>
      <vt:lpstr>Cambria Math</vt:lpstr>
      <vt:lpstr>Custom Design</vt:lpstr>
      <vt:lpstr>1_Custom Design</vt:lpstr>
      <vt:lpstr>PowerPoint Presentation</vt:lpstr>
      <vt:lpstr>Data Science and AI</vt:lpstr>
      <vt:lpstr>Agenda: Module 7</vt:lpstr>
      <vt:lpstr>Decision Trees</vt:lpstr>
      <vt:lpstr>Constructing Decision Trees</vt:lpstr>
      <vt:lpstr>Iteratively separate data into homogeneous groups</vt:lpstr>
      <vt:lpstr>Mapping the Decision Tree</vt:lpstr>
      <vt:lpstr>Constructing Decision Trees - Example 2</vt:lpstr>
      <vt:lpstr>Constructing Decision Trees - Example 2</vt:lpstr>
      <vt:lpstr>Terminology</vt:lpstr>
      <vt:lpstr>Terminology</vt:lpstr>
      <vt:lpstr>Constructing Decision Trees - Greedy Decision Tree Learning</vt:lpstr>
      <vt:lpstr>Advantages of Decision Trees</vt:lpstr>
      <vt:lpstr>Disadvantages of Decision Trees</vt:lpstr>
      <vt:lpstr>Decision Tree Algorithms (most common)</vt:lpstr>
      <vt:lpstr>Splitting strategies</vt:lpstr>
      <vt:lpstr>Using decision trees in Scikit Learn</vt:lpstr>
      <vt:lpstr>Decision Trees hyperparameters</vt:lpstr>
      <vt:lpstr>Decision trees - Summary</vt:lpstr>
      <vt:lpstr>Lab 7.1: Decision Trees</vt:lpstr>
      <vt:lpstr>Random Forests</vt:lpstr>
      <vt:lpstr>Random Forest Overview</vt:lpstr>
      <vt:lpstr>Random Forest Algorithm</vt:lpstr>
      <vt:lpstr>Random Forest Pros</vt:lpstr>
      <vt:lpstr>Random Forest Cons</vt:lpstr>
      <vt:lpstr>Random Forest hyperparameters</vt:lpstr>
      <vt:lpstr>Lab 7.2: Random Forests</vt:lpstr>
      <vt:lpstr>Questions?</vt:lpstr>
      <vt:lpstr>Appendices</vt:lpstr>
      <vt:lpstr>Common splitting algorithms: Gini Index</vt:lpstr>
      <vt:lpstr>Common splitting algorithms: Gini Index</vt:lpstr>
      <vt:lpstr>Common splitting algorithms: Gini Index</vt:lpstr>
      <vt:lpstr>Common splitting algorithms: Gini Index</vt:lpstr>
      <vt:lpstr>Common splitting algorithms: Information Gain</vt:lpstr>
      <vt:lpstr>Common splitting algorithms: Information Gain</vt:lpstr>
      <vt:lpstr>Common splitting algorithms: Information Gain</vt:lpstr>
      <vt:lpstr>Common splitting algorithms: Information Gain</vt:lpstr>
      <vt:lpstr>Common splitting algorithms: Information Gain</vt:lpstr>
      <vt:lpstr>Common splitting algorithms: Information Gain</vt:lpstr>
      <vt:lpstr>Common splitting algorithms: Information Gain</vt:lpstr>
      <vt:lpstr>Common splitting algorithms: Information Gain</vt:lpstr>
      <vt:lpstr>End of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7</dc:title>
  <dc:creator>Institute of Data</dc:creator>
  <cp:lastModifiedBy>Chaitanya Rao</cp:lastModifiedBy>
  <cp:revision>2</cp:revision>
  <dcterms:modified xsi:type="dcterms:W3CDTF">2021-02-03T19:43:56Z</dcterms:modified>
</cp:coreProperties>
</file>